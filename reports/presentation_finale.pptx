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2" d="100"/>
          <a:sy n="82" d="100"/>
        </p:scale>
        <p:origin x="2240" y="1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Feuille_de_calcul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Feuille_de_calcul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Feuille_de_calcul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Feuille_de_calcul_Microsoft_Excel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Taux de fraude (%)</c:v>
                </c:pt>
              </c:strCache>
            </c:strRef>
          </c:tx>
          <c:spPr>
            <a:solidFill>
              <a:srgbClr val="DC2626"/>
            </a:solidFill>
            <a:effectLst/>
          </c:spPr>
          <c:invertIfNegative val="0"/>
          <c:dLbls>
            <c:numFmt formatCode="0.000&quot;%&quot;" sourceLinked="0"/>
            <c:spPr>
              <a:noFill/>
              <a:ln>
                <a:noFill/>
              </a:ln>
              <a:effectLst/>
            </c:spPr>
            <c:txPr>
              <a:bodyPr/>
              <a:lstStyle/>
              <a:p>
                <a:pPr>
                  <a:defRPr sz="1100" b="0" i="0" u="none" strike="noStrike">
                    <a:solidFill>
                      <a:srgbClr val="1E293B"/>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TRANSFER</c:v>
                </c:pt>
                <c:pt idx="1">
                  <c:v>CASH_OUT</c:v>
                </c:pt>
                <c:pt idx="2">
                  <c:v>CASH_IN</c:v>
                </c:pt>
                <c:pt idx="3">
                  <c:v>DEBIT</c:v>
                </c:pt>
                <c:pt idx="4">
                  <c:v>PAYMENT</c:v>
                </c:pt>
              </c:strCache>
            </c:strRef>
          </c:cat>
          <c:val>
            <c:numRef>
              <c:f>Sheet1!$B$2:$B$6</c:f>
              <c:numCache>
                <c:formatCode>General</c:formatCode>
                <c:ptCount val="5"/>
                <c:pt idx="0">
                  <c:v>0.65</c:v>
                </c:pt>
                <c:pt idx="1">
                  <c:v>0.155</c:v>
                </c:pt>
                <c:pt idx="2">
                  <c:v>0</c:v>
                </c:pt>
                <c:pt idx="3">
                  <c:v>0</c:v>
                </c:pt>
                <c:pt idx="4">
                  <c:v>0</c:v>
                </c:pt>
              </c:numCache>
            </c:numRef>
          </c:val>
          <c:extLst>
            <c:ext xmlns:c16="http://schemas.microsoft.com/office/drawing/2014/chart" uri="{C3380CC4-5D6E-409C-BE32-E72D297353CC}">
              <c16:uniqueId val="{00000000-8B8F-4A4C-8708-0D22400D105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PR-AUC</c:v>
                </c:pt>
              </c:strCache>
            </c:strRef>
          </c:tx>
          <c:spPr>
            <a:solidFill>
              <a:srgbClr val="2563EB">
                <a:alpha val="100000"/>
              </a:srgbClr>
            </a:solidFill>
            <a:effectLst/>
          </c:spPr>
          <c:invertIfNegative val="0"/>
          <c:dLbls>
            <c:numFmt formatCode="0.000" sourceLinked="0"/>
            <c:spPr>
              <a:noFill/>
              <a:ln>
                <a:noFill/>
              </a:ln>
              <a:effectLst/>
            </c:spPr>
            <c:txPr>
              <a:bodyPr/>
              <a:lstStyle/>
              <a:p>
                <a:pPr>
                  <a:defRPr sz="1100" b="0" i="0" u="none" strike="noStrike">
                    <a:solidFill>
                      <a:srgbClr val="1E293B"/>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LightGBM</c:v>
                </c:pt>
                <c:pt idx="1">
                  <c:v>Régression log.</c:v>
                </c:pt>
                <c:pt idx="2">
                  <c:v>MLP (200k)</c:v>
                </c:pt>
                <c:pt idx="3">
                  <c:v>Random Forest</c:v>
                </c:pt>
                <c:pt idx="4">
                  <c:v>XGBoost</c:v>
                </c:pt>
              </c:strCache>
            </c:strRef>
          </c:cat>
          <c:val>
            <c:numRef>
              <c:f>Sheet1!$B$2:$B$6</c:f>
              <c:numCache>
                <c:formatCode>General</c:formatCode>
                <c:ptCount val="5"/>
                <c:pt idx="0">
                  <c:v>0.17899999999999999</c:v>
                </c:pt>
                <c:pt idx="1">
                  <c:v>0.76700000000000002</c:v>
                </c:pt>
                <c:pt idx="2">
                  <c:v>0.86899999999999999</c:v>
                </c:pt>
                <c:pt idx="3">
                  <c:v>0.98699999999999999</c:v>
                </c:pt>
                <c:pt idx="4">
                  <c:v>0.99099999999999999</c:v>
                </c:pt>
              </c:numCache>
            </c:numRef>
          </c:val>
          <c:extLst>
            <c:ext xmlns:c16="http://schemas.microsoft.com/office/drawing/2014/chart" uri="{C3380CC4-5D6E-409C-BE32-E72D297353CC}">
              <c16:uniqueId val="{00000000-7F2B-DA41-B0BE-694F77F2143A}"/>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|SHAP| moyen</c:v>
                </c:pt>
              </c:strCache>
            </c:strRef>
          </c:tx>
          <c:spPr>
            <a:solidFill>
              <a:srgbClr val="DC2626"/>
            </a:solidFill>
            <a:effectLst/>
          </c:spPr>
          <c:invertIfNegative val="0"/>
          <c:cat>
            <c:strRef>
              <c:f>Sheet1!$A$2:$A$11</c:f>
              <c:strCache>
                <c:ptCount val="10"/>
                <c:pt idx="0">
                  <c:v>amount_to_oldbalance_ratio</c:v>
                </c:pt>
                <c:pt idx="1">
                  <c:v>origin_balance_diff</c:v>
                </c:pt>
                <c:pt idx="2">
                  <c:v>newbalanceDest</c:v>
                </c:pt>
                <c:pt idx="3">
                  <c:v>oldbalanceDest</c:v>
                </c:pt>
                <c:pt idx="4">
                  <c:v>step (temps)</c:v>
                </c:pt>
                <c:pt idx="5">
                  <c:v>amount</c:v>
                </c:pt>
                <c:pt idx="6">
                  <c:v>dest_balance_diff</c:v>
                </c:pt>
                <c:pt idx="7">
                  <c:v>is_transfer_or_cashout</c:v>
                </c:pt>
                <c:pt idx="8">
                  <c:v>is_zero_newbalance_origin</c:v>
                </c:pt>
                <c:pt idx="9">
                  <c:v>origin_error</c:v>
                </c:pt>
              </c:strCache>
            </c:strRef>
          </c:cat>
          <c:val>
            <c:numRef>
              <c:f>Sheet1!$B$2:$B$11</c:f>
              <c:numCache>
                <c:formatCode>General</c:formatCode>
                <c:ptCount val="10"/>
                <c:pt idx="0">
                  <c:v>0.75</c:v>
                </c:pt>
                <c:pt idx="1">
                  <c:v>0.95</c:v>
                </c:pt>
                <c:pt idx="2">
                  <c:v>1.05</c:v>
                </c:pt>
                <c:pt idx="3">
                  <c:v>1.4</c:v>
                </c:pt>
                <c:pt idx="4">
                  <c:v>1.7</c:v>
                </c:pt>
                <c:pt idx="5">
                  <c:v>1.75</c:v>
                </c:pt>
                <c:pt idx="6">
                  <c:v>1.8</c:v>
                </c:pt>
                <c:pt idx="7">
                  <c:v>2.15</c:v>
                </c:pt>
                <c:pt idx="8">
                  <c:v>2.8</c:v>
                </c:pt>
                <c:pt idx="9">
                  <c:v>4.5</c:v>
                </c:pt>
              </c:numCache>
            </c:numRef>
          </c:val>
          <c:extLst>
            <c:ext xmlns:c16="http://schemas.microsoft.com/office/drawing/2014/chart" uri="{C3380CC4-5D6E-409C-BE32-E72D297353CC}">
              <c16:uniqueId val="{00000000-5F7F-7A47-BDCB-E02D2F049B6A}"/>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Split aléatoire</c:v>
                </c:pt>
              </c:strCache>
            </c:strRef>
          </c:tx>
          <c:spPr>
            <a:solidFill>
              <a:srgbClr val="0D9488"/>
            </a:solidFill>
            <a:effectLst/>
          </c:spPr>
          <c:invertIfNegative val="0"/>
          <c:cat>
            <c:strRef>
              <c:f>Sheet1!$A$2:$A$5</c:f>
              <c:strCache>
                <c:ptCount val="4"/>
                <c:pt idx="0">
                  <c:v>PR-AUC</c:v>
                </c:pt>
                <c:pt idx="1">
                  <c:v>Recall</c:v>
                </c:pt>
                <c:pt idx="2">
                  <c:v>Precision</c:v>
                </c:pt>
                <c:pt idx="3">
                  <c:v>F1</c:v>
                </c:pt>
              </c:strCache>
            </c:strRef>
          </c:cat>
          <c:val>
            <c:numRef>
              <c:f>Sheet1!$B$2:$B$5</c:f>
              <c:numCache>
                <c:formatCode>General</c:formatCode>
                <c:ptCount val="4"/>
                <c:pt idx="0">
                  <c:v>0.99099999999999999</c:v>
                </c:pt>
                <c:pt idx="1">
                  <c:v>0.98299999999999998</c:v>
                </c:pt>
                <c:pt idx="2">
                  <c:v>1</c:v>
                </c:pt>
                <c:pt idx="3">
                  <c:v>0.99099999999999999</c:v>
                </c:pt>
              </c:numCache>
            </c:numRef>
          </c:val>
          <c:extLst>
            <c:ext xmlns:c16="http://schemas.microsoft.com/office/drawing/2014/chart" uri="{C3380CC4-5D6E-409C-BE32-E72D297353CC}">
              <c16:uniqueId val="{00000000-4AA3-7949-B711-AE051D73E786}"/>
            </c:ext>
          </c:extLst>
        </c:ser>
        <c:ser>
          <c:idx val="1"/>
          <c:order val="1"/>
          <c:tx>
            <c:strRef>
              <c:f>Sheet1!$C$1</c:f>
              <c:strCache>
                <c:ptCount val="1"/>
                <c:pt idx="0">
                  <c:v>Split temporel (step)</c:v>
                </c:pt>
              </c:strCache>
            </c:strRef>
          </c:tx>
          <c:spPr>
            <a:solidFill>
              <a:srgbClr val="7C3AED"/>
            </a:solidFill>
            <a:effectLst/>
          </c:spPr>
          <c:invertIfNegative val="0"/>
          <c:cat>
            <c:strRef>
              <c:f>Sheet1!$A$2:$A$5</c:f>
              <c:strCache>
                <c:ptCount val="4"/>
                <c:pt idx="0">
                  <c:v>PR-AUC</c:v>
                </c:pt>
                <c:pt idx="1">
                  <c:v>Recall</c:v>
                </c:pt>
                <c:pt idx="2">
                  <c:v>Precision</c:v>
                </c:pt>
                <c:pt idx="3">
                  <c:v>F1</c:v>
                </c:pt>
              </c:strCache>
            </c:strRef>
          </c:cat>
          <c:val>
            <c:numRef>
              <c:f>Sheet1!$C$2:$C$5</c:f>
              <c:numCache>
                <c:formatCode>General</c:formatCode>
                <c:ptCount val="4"/>
                <c:pt idx="0">
                  <c:v>0.995</c:v>
                </c:pt>
                <c:pt idx="1">
                  <c:v>0.99</c:v>
                </c:pt>
                <c:pt idx="2">
                  <c:v>1</c:v>
                </c:pt>
                <c:pt idx="3">
                  <c:v>0.995</c:v>
                </c:pt>
              </c:numCache>
            </c:numRef>
          </c:val>
          <c:extLst>
            <c:ext xmlns:c16="http://schemas.microsoft.com/office/drawing/2014/chart" uri="{C3380CC4-5D6E-409C-BE32-E72D297353CC}">
              <c16:uniqueId val="{00000001-4AA3-7949-B711-AE051D73E786}"/>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293B"/>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doughnutChart>
        <c:varyColors val="1"/>
        <c:ser>
          <c:idx val="0"/>
          <c:order val="0"/>
          <c:tx>
            <c:strRef>
              <c:f>Sheet1!$B$1</c:f>
              <c:strCache>
                <c:ptCount val="1"/>
                <c:pt idx="0">
                  <c:v>Clusters</c:v>
                </c:pt>
              </c:strCache>
            </c:strRef>
          </c:tx>
          <c:spPr>
            <a:solidFill>
              <a:schemeClr val="accent1"/>
            </a:solidFill>
            <a:ln w="9525" cap="flat">
              <a:solidFill>
                <a:srgbClr val="F9F9F9"/>
              </a:solidFill>
              <a:prstDash val="solid"/>
              <a:round/>
            </a:ln>
            <a:effectLst/>
          </c:spPr>
          <c:dPt>
            <c:idx val="0"/>
            <c:bubble3D val="0"/>
            <c:spPr>
              <a:solidFill>
                <a:srgbClr val="64748B"/>
              </a:solidFill>
              <a:ln w="25400" cap="flat">
                <a:solidFill>
                  <a:srgbClr val="FFFFFF"/>
                </a:solidFill>
                <a:prstDash val="solid"/>
                <a:round/>
              </a:ln>
              <a:effectLst/>
            </c:spPr>
            <c:extLst>
              <c:ext xmlns:c16="http://schemas.microsoft.com/office/drawing/2014/chart" uri="{C3380CC4-5D6E-409C-BE32-E72D297353CC}">
                <c16:uniqueId val="{00000001-9882-9945-84FF-C0D97F1B278C}"/>
              </c:ext>
            </c:extLst>
          </c:dPt>
          <c:dPt>
            <c:idx val="1"/>
            <c:bubble3D val="0"/>
            <c:spPr>
              <a:solidFill>
                <a:srgbClr val="059669"/>
              </a:solidFill>
              <a:ln w="25400" cap="flat">
                <a:solidFill>
                  <a:srgbClr val="FFFFFF"/>
                </a:solidFill>
                <a:prstDash val="solid"/>
                <a:round/>
              </a:ln>
              <a:effectLst/>
            </c:spPr>
            <c:extLst>
              <c:ext xmlns:c16="http://schemas.microsoft.com/office/drawing/2014/chart" uri="{C3380CC4-5D6E-409C-BE32-E72D297353CC}">
                <c16:uniqueId val="{00000003-9882-9945-84FF-C0D97F1B278C}"/>
              </c:ext>
            </c:extLst>
          </c:dPt>
          <c:dPt>
            <c:idx val="2"/>
            <c:bubble3D val="0"/>
            <c:spPr>
              <a:solidFill>
                <a:srgbClr val="7C3AED"/>
              </a:solidFill>
              <a:ln w="25400" cap="flat">
                <a:solidFill>
                  <a:srgbClr val="FFFFFF"/>
                </a:solidFill>
                <a:prstDash val="solid"/>
                <a:round/>
              </a:ln>
              <a:effectLst/>
            </c:spPr>
            <c:extLst>
              <c:ext xmlns:c16="http://schemas.microsoft.com/office/drawing/2014/chart" uri="{C3380CC4-5D6E-409C-BE32-E72D297353CC}">
                <c16:uniqueId val="{00000005-9882-9945-84FF-C0D97F1B278C}"/>
              </c:ext>
            </c:extLst>
          </c:dPt>
          <c:dPt>
            <c:idx val="3"/>
            <c:bubble3D val="0"/>
            <c:spPr>
              <a:solidFill>
                <a:srgbClr val="F59E0B"/>
              </a:solidFill>
              <a:ln w="25400" cap="flat">
                <a:solidFill>
                  <a:srgbClr val="FFFFFF"/>
                </a:solidFill>
                <a:prstDash val="solid"/>
                <a:round/>
              </a:ln>
              <a:effectLst/>
            </c:spPr>
            <c:extLst>
              <c:ext xmlns:c16="http://schemas.microsoft.com/office/drawing/2014/chart" uri="{C3380CC4-5D6E-409C-BE32-E72D297353CC}">
                <c16:uniqueId val="{00000007-9882-9945-84FF-C0D97F1B278C}"/>
              </c:ext>
            </c:extLst>
          </c:dPt>
          <c:cat>
            <c:strRef>
              <c:f>Sheet1!$A$2:$A$5</c:f>
              <c:strCache>
                <c:ptCount val="4"/>
                <c:pt idx="0">
                  <c:v>Dormants 50,5 %</c:v>
                </c:pt>
                <c:pt idx="1">
                  <c:v>Fidèles 39,8 %</c:v>
                </c:pt>
                <c:pt idx="2">
                  <c:v>Premium 7,8 %</c:v>
                </c:pt>
                <c:pt idx="3">
                  <c:v>Promos 1,9 %</c:v>
                </c:pt>
              </c:strCache>
            </c:strRef>
          </c:cat>
          <c:val>
            <c:numRef>
              <c:f>Sheet1!$B$2:$B$5</c:f>
              <c:numCache>
                <c:formatCode>General</c:formatCode>
                <c:ptCount val="4"/>
                <c:pt idx="0">
                  <c:v>1132</c:v>
                </c:pt>
                <c:pt idx="1">
                  <c:v>891</c:v>
                </c:pt>
                <c:pt idx="2">
                  <c:v>175</c:v>
                </c:pt>
                <c:pt idx="3">
                  <c:v>42</c:v>
                </c:pt>
              </c:numCache>
            </c:numRef>
          </c:val>
          <c:extLst>
            <c:ext xmlns:c16="http://schemas.microsoft.com/office/drawing/2014/chart" uri="{C3380CC4-5D6E-409C-BE32-E72D297353CC}">
              <c16:uniqueId val="{00000008-9882-9945-84FF-C0D97F1B278C}"/>
            </c:ext>
          </c:extLst>
        </c:ser>
        <c:dLbls>
          <c:showLegendKey val="0"/>
          <c:showVal val="0"/>
          <c:showCatName val="0"/>
          <c:showSerName val="0"/>
          <c:showPercent val="0"/>
          <c:showBubbleSize val="0"/>
          <c:showLeaderLines val="0"/>
        </c:dLbls>
        <c:firstSliceAng val="0"/>
        <c:holeSize val="56"/>
      </c:doughnutChart>
      <c:spPr>
        <a:noFill/>
        <a:ln>
          <a:noFill/>
        </a:ln>
        <a:effectLst/>
      </c:spPr>
    </c:plotArea>
    <c:legend>
      <c:legendPos val="b"/>
      <c:overlay val="0"/>
      <c:txPr>
        <a:bodyPr/>
        <a:lstStyle/>
        <a:p>
          <a:pPr>
            <a:defRPr sz="1050">
              <a:solidFill>
                <a:srgbClr val="1E293B"/>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9690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 ML de bout en bout : détection de fraude et segmentation client, industrialisés via API + dashboard. Fil rouge : livrer un produit Data, pas seulement un modèle. Trois chiffres d'accroche : 98,3 % des fraudes détectées, zéro faux positif, 4 segments activables.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slide qui doit tenir si je n'ai que 60 secondes. Problème : fraude rare mais coûteuse, clients non ciblés. Solution : XGBoost calibré + segmentation GMM, exposés en API et dashboard. Résultats : 98,3 % de rappel, 0 faux positif, 4 segments. Impact : pertes évitées sans friction + marketing ciblé.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en une image : la donnée alimente les modèles, exposés par une API, consommés via un dashboard. En dessous, le socle d'industrialisation — Git, Docker, CI/CD, monitoring — qui transforme un notebook en produit. C'est ce socle qui distingue un POC d'un produit.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suivi CRISP-DM, le standard industriel des projets data. Important pour un jury : on part du besoin métier, pas de la technique. Les six phases sont itératives — l'évaluation peut renvoyer au feature engineering. Cette traçabilité est ce qui rend un modèle auditables et déployable.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jeux de données très différents. Côté fraude : un million de transactions mais 0,11 % de fraudes — la classe rare interdit de juger à l'accuracy. Côté clients : 2 240 individus hétérogènes, peu de données manquantes. Ces différences imposent deux stratégies d'évaluation que je détaille ensuite.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raisonnement métier. À gauche : pourquoi l'accuracy ment sur une classe rare, et l'arbitrage rappel/précision. À droite : les deux types d'erreur n'ont pas le même coût — un faux négatif est une perte sèche, un faux positif crée de la friction. C'est ce qui justifie de piloter à la PR-AUC plutôt qu'à l'accuracy ou à la ROC-AUC.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L'EDA révèle que le risque est concentré : TRANSFER affiche 0,65 % de fraude (564 cas), CASH_OUT 0,155 % (578 cas), et les trois autres types — PAYMENT, CASH_IN, DEBIT — sont à zéro fraude. Conclusion opérationnelle directe : on peut concentrer les contrôles sur deux types de transactions et alléger ailleurs. C'est une recommandation actionnable, pas seulement une observation.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pipeline fraude en 4 étapes. Le feature engineering exploite les incohérences de soldes (origin_error, dest_error) qui trahissent souvent une fraude. La validation temporelle évite la fuite de données. Je compare 5 modèles. Enfin, le seuil n'est pas laissé à 0,5 par défaut : il est calibré sous contrainte de rappel ≥ 98 %.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comparatif des 5 modèles, avec les vraies valeurs du rapport. La régression logistique plafonne à 0,767. Point important : LightGBM, testé conformément à l'énoncé, échoue à calibrer ses probabilités sur la classe rare — PR-AUC de 0,179 malgré une ROC-AUC de 0,969. Le MLP atteint 0,869, recall 78,4 %, insuffisant. Random Forest et XGBoost sont au coude-à-coude ; XGBoost l'emporte sur la PR-AUC (0,991 vs 0,987), avec recall 98,3 % et précision 100 % au seuil 0,67.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matrice de confusion sur la validation. Le chiffre qui doit frapper : 0 faux positif. Aucun client honnête bloqué. En contrepartie, 3 fraudes manquées — un résidu de risque que j'assume, chiffre et surveille. Le seuil de 0,67 est un choix explicite d'arbitrage, pas le 0,5 par défaut.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L'explicabilité est cruciale pour la confiance métier et la conformité. SHAP est calculé sur un échantillon de 4 000 transactions. origin_error domine largement, suivi de is_zero_newbalance_origin et is_transfer_or_cashout — des variables que j'ai créées en feature engineering. Argument fort pour le jury : aucune variable dominante n'est un identifiant technique impossible à connaître en production, donc pas de fuite de données. Le modèle a appris une logique de fraude humainement compréhensible, ce n'est pas une boîte noire.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chiffrage économique réel, tiré du rapport. Hypothèses : un FP coûte 25 € de revue, un FN coûte le montant fraudé. Sur le jeu de test, aux trois seuils testés (0,50 / 0,67 / 0,84), on a toujours 0 FP et 3 FN, soit ~2 M d'unités de perte. Les 3 fraudes manquées sont de gros montants — 1,4 M, 455 k, 182 k — avec une probabilité quasi nulle : des schémas atypiques. Baisser le seuil n'aide donc pas. En production, le coût opérationnel des FP deviendra le vrai levier de recalibrage.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point de rigueur qui distingue un bon projet : la validation temporelle. En plus du split aléatoire, j'ai entraîné le modèle sur les périodes anciennes (step) et testé sur des périodes postérieures jamais vues. Les performances ne s'effondrent pas, ce qui est rassurant sur la généralisation. C'est la réponse directe au risque que les variables de soldes reflètent mécaniquement le label. La recommandation reste : pas de blocage automatique sans suivi continu en production.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segmentation, j'ai testé 4 familles d'algorithmes. DBSCAN produisait 91 % de bruit — inexploitable. La silhouette est modérée (0,21), mais mon critère décisif est la lisibilité métier : GMM à 4 composantes donne 4 profils que le marketing peut activer. Le meilleur modèle est celui qui sert l'action, pas la métrique.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4 personas avec leurs vrais chiffres. Les Dormants (50,5 %) : désengagés plus que pauvres — leur faible dépense ne s'explique pas que par le revenu. Les Chasseurs de promos (1,9 %) : petit segment hyper-réactif, âge moyen 62 ans, donc ne pas confondre digital et jeune. Les Premium ultra-engagés (7,8 %) : cœur de valeur, dépense ×12 vs Dormants. Les Fidèles à forte valeur (39,8 %) : massif et rentable mais peu réactif aux promos. Chaque segment appelle une stratégie distincte.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validation de la segmentation. La silhouette de 0,21 est modérée — c'est normal sur des données clients réelles, jamais parfaitement séparables. Davies-Bouldin de 2,42 confirme une séparation acceptable. Mais mon vrai critère reste l'exploitabilité : la projection PCA montre des groupes distincts et les profils sont contrastés.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L'insight marketing central du rapport, sous forme de carte à deux axes. L'axe horizontal est la réactivité aux campagnes, l'axe vertical la valeur. Message clé : ces deux dimensions ne se confondent pas. Un client riche n'est pas forcément réactif — les Fidèles à forte valeur dépensent par habitude, pas en réponse aux promos. Conséquence opérationnelle : concentrer les promotions sur les segments réellement sensibles et privilégier la fidélisation pour les autres.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Ici je démontre que ce n'est pas qu'un modèle, mais un produit. Une transaction arrive, l'API FastAPI la reçoit, le modèle XGBoost calcule un score, le seuil tranche valider/bloquer, et le dashboard remonte le tout. Deux endpoints exposés : /predict/fraud et /predict/segment. C'est consommable par un système tiers dès aujourd'hui.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complète. À gauche, le flux d'inférence : du client jusqu'au monitoring. À droite, le socle MLOps qui fait toute la différence avec un POC : code versionné et modulaire, conteneurs Docker, CI/CD avec tests automatisés, et monitoring avec recalibrage du seuil. C'est ce qui rend la solution maintenable et déployable.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L'impact business, articulé en deux leviers. Levier 1, la fraude : 98,3 % interceptées et 0 faux positif, donc pas de perte de revenu côté clients honnêtes. Levier 2, le marketing : 4 campagnes ciblées au lieu d'une approche uniforme, budget concentré sur les segments rentables. Le gain = fraude évitée + rendement marketing − friction. Je reste honnête : les montants dépendent du contexte de l'établissement.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Honnêteté scientifique : je reconnais les limites. Le dataset est peut-être très séparable, donc prudence sur la transposition en production. La validation temporelle est faite mais à prolonger. Côté roadmap MLOps : ré-entraînement automatisé, monitoring de dérive, recalibrage du seuil avec le métier, et passage au cloud. La trajectoire vers la production est tracée.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final, celui que le jury doit retenir : un modèle ne vaut que mis entre les mains du métier. Trois acquis : fraude maîtrisée et explicable, clients compris et segmentés, solution industrialisée prête pour la production. Ce projet démontre une chaîne complète, du besoin métier au produit déployable. Merci, je prends vos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2.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4.png"/><Relationship Id="rId7"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4.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26.png"/><Relationship Id="rId5" Type="http://schemas.openxmlformats.org/officeDocument/2006/relationships/image" Target="../media/image2.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8412480" y="-2194560"/>
            <a:ext cx="6217920" cy="6217920"/>
          </a:xfrm>
          <a:prstGeom prst="ellipse">
            <a:avLst/>
          </a:prstGeom>
          <a:solidFill>
            <a:srgbClr val="1E293B"/>
          </a:solidFill>
          <a:ln/>
        </p:spPr>
        <p:txBody>
          <a:bodyPr/>
          <a:lstStyle/>
          <a:p>
            <a:endParaRPr lang="fr-FR"/>
          </a:p>
        </p:txBody>
      </p:sp>
      <p:sp>
        <p:nvSpPr>
          <p:cNvPr id="3" name="Shape 1"/>
          <p:cNvSpPr/>
          <p:nvPr/>
        </p:nvSpPr>
        <p:spPr>
          <a:xfrm>
            <a:off x="9875520" y="3200400"/>
            <a:ext cx="4023360" cy="4023360"/>
          </a:xfrm>
          <a:prstGeom prst="ellipse">
            <a:avLst/>
          </a:prstGeom>
          <a:solidFill>
            <a:srgbClr val="16233B"/>
          </a:solidFill>
          <a:ln/>
        </p:spPr>
        <p:txBody>
          <a:bodyPr/>
          <a:lstStyle/>
          <a:p>
            <a:endParaRPr lang="fr-FR"/>
          </a:p>
        </p:txBody>
      </p:sp>
      <p:sp>
        <p:nvSpPr>
          <p:cNvPr id="4" name="Text 2"/>
          <p:cNvSpPr/>
          <p:nvPr/>
        </p:nvSpPr>
        <p:spPr>
          <a:xfrm>
            <a:off x="822960" y="1371600"/>
            <a:ext cx="8229600" cy="365760"/>
          </a:xfrm>
          <a:prstGeom prst="rect">
            <a:avLst/>
          </a:prstGeom>
          <a:noFill/>
          <a:ln/>
        </p:spPr>
        <p:txBody>
          <a:bodyPr wrap="square" lIns="0" tIns="0" rIns="0" bIns="0" rtlCol="0" anchor="ctr"/>
          <a:lstStyle/>
          <a:p>
            <a:pPr marL="0" indent="0">
              <a:buNone/>
            </a:pPr>
            <a:r>
              <a:rPr lang="en-US" sz="1300" b="1" kern="0" spc="400" dirty="0">
                <a:solidFill>
                  <a:srgbClr val="60A5FA"/>
                </a:solidFill>
                <a:latin typeface="Calibri" pitchFamily="34" charset="0"/>
                <a:ea typeface="Calibri" pitchFamily="34" charset="-122"/>
                <a:cs typeface="Calibri" pitchFamily="34" charset="-120"/>
              </a:rPr>
              <a:t>PROJET MACHINE LEARNING  ·  M2 CDSD</a:t>
            </a:r>
            <a:endParaRPr lang="en-US" sz="1300" dirty="0"/>
          </a:p>
        </p:txBody>
      </p:sp>
      <p:sp>
        <p:nvSpPr>
          <p:cNvPr id="5" name="Text 3"/>
          <p:cNvSpPr/>
          <p:nvPr/>
        </p:nvSpPr>
        <p:spPr>
          <a:xfrm>
            <a:off x="804672" y="1828800"/>
            <a:ext cx="8869680" cy="1737360"/>
          </a:xfrm>
          <a:prstGeom prst="rect">
            <a:avLst/>
          </a:prstGeom>
          <a:noFill/>
          <a:ln/>
        </p:spPr>
        <p:txBody>
          <a:bodyPr wrap="square" lIns="0" tIns="0" rIns="0" bIns="0" rtlCol="0" anchor="ctr"/>
          <a:lstStyle/>
          <a:p>
            <a:pPr marL="0" indent="0">
              <a:lnSpc>
                <a:spcPct val="100000"/>
              </a:lnSpc>
              <a:buNone/>
            </a:pPr>
            <a:r>
              <a:rPr lang="en-US" sz="4300" b="1" dirty="0">
                <a:solidFill>
                  <a:srgbClr val="FFFFFF"/>
                </a:solidFill>
                <a:latin typeface="Calibri" pitchFamily="34" charset="0"/>
                <a:ea typeface="Calibri" pitchFamily="34" charset="-122"/>
                <a:cs typeface="Calibri" pitchFamily="34" charset="-120"/>
              </a:rPr>
              <a:t>De la donnée brute à un produit Data </a:t>
            </a:r>
            <a:r>
              <a:rPr lang="en-US" sz="4300" b="1" dirty="0">
                <a:solidFill>
                  <a:srgbClr val="60A5FA"/>
                </a:solidFill>
                <a:latin typeface="Calibri" pitchFamily="34" charset="0"/>
                <a:ea typeface="Calibri" pitchFamily="34" charset="-122"/>
                <a:cs typeface="Calibri" pitchFamily="34" charset="-120"/>
              </a:rPr>
              <a:t>industrialisé</a:t>
            </a:r>
            <a:endParaRPr lang="en-US" sz="4300" dirty="0"/>
          </a:p>
        </p:txBody>
      </p:sp>
      <p:sp>
        <p:nvSpPr>
          <p:cNvPr id="6" name="Text 4"/>
          <p:cNvSpPr/>
          <p:nvPr/>
        </p:nvSpPr>
        <p:spPr>
          <a:xfrm>
            <a:off x="822960" y="3584448"/>
            <a:ext cx="8686800" cy="457200"/>
          </a:xfrm>
          <a:prstGeom prst="rect">
            <a:avLst/>
          </a:prstGeom>
          <a:noFill/>
          <a:ln/>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Détection de fraude bancaire  ·  Segmentation client  ·  API &amp; Dashboard</a:t>
            </a:r>
            <a:endParaRPr lang="en-US" sz="1600" dirty="0"/>
          </a:p>
        </p:txBody>
      </p:sp>
      <p:sp>
        <p:nvSpPr>
          <p:cNvPr id="7" name="Shape 5"/>
          <p:cNvSpPr/>
          <p:nvPr/>
        </p:nvSpPr>
        <p:spPr>
          <a:xfrm>
            <a:off x="822960" y="4389120"/>
            <a:ext cx="2834640" cy="1060704"/>
          </a:xfrm>
          <a:prstGeom prst="roundRect">
            <a:avLst>
              <a:gd name="adj" fmla="val 6897"/>
            </a:avLst>
          </a:prstGeom>
          <a:solidFill>
            <a:srgbClr val="1E293B"/>
          </a:solidFill>
          <a:ln w="12700">
            <a:solidFill>
              <a:srgbClr val="32436A"/>
            </a:solidFill>
            <a:prstDash val="solid"/>
          </a:ln>
        </p:spPr>
        <p:txBody>
          <a:bodyPr/>
          <a:lstStyle/>
          <a:p>
            <a:endParaRPr lang="fr-FR"/>
          </a:p>
        </p:txBody>
      </p:sp>
      <p:sp>
        <p:nvSpPr>
          <p:cNvPr id="8" name="Text 6"/>
          <p:cNvSpPr/>
          <p:nvPr/>
        </p:nvSpPr>
        <p:spPr>
          <a:xfrm>
            <a:off x="987552" y="4498848"/>
            <a:ext cx="2514600" cy="512064"/>
          </a:xfrm>
          <a:prstGeom prst="rect">
            <a:avLst/>
          </a:prstGeom>
          <a:noFill/>
          <a:ln/>
        </p:spPr>
        <p:txBody>
          <a:bodyPr wrap="square" lIns="0" tIns="0" rIns="0" bIns="0" rtlCol="0" anchor="ctr"/>
          <a:lstStyle/>
          <a:p>
            <a:pPr marL="0" indent="0">
              <a:buNone/>
            </a:pPr>
            <a:r>
              <a:rPr lang="en-US" sz="2700" b="1" dirty="0">
                <a:solidFill>
                  <a:srgbClr val="60A5FA"/>
                </a:solidFill>
                <a:latin typeface="Calibri" pitchFamily="34" charset="0"/>
                <a:ea typeface="Calibri" pitchFamily="34" charset="-122"/>
                <a:cs typeface="Calibri" pitchFamily="34" charset="-120"/>
              </a:rPr>
              <a:t>98,3 %</a:t>
            </a:r>
            <a:endParaRPr lang="en-US" sz="2700" dirty="0"/>
          </a:p>
        </p:txBody>
      </p:sp>
      <p:sp>
        <p:nvSpPr>
          <p:cNvPr id="9" name="Text 7"/>
          <p:cNvSpPr/>
          <p:nvPr/>
        </p:nvSpPr>
        <p:spPr>
          <a:xfrm>
            <a:off x="987552" y="5010912"/>
            <a:ext cx="2514600" cy="36576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des fraudes détectées</a:t>
            </a:r>
            <a:endParaRPr lang="en-US" sz="1100" dirty="0"/>
          </a:p>
        </p:txBody>
      </p:sp>
      <p:sp>
        <p:nvSpPr>
          <p:cNvPr id="10" name="Shape 8"/>
          <p:cNvSpPr/>
          <p:nvPr/>
        </p:nvSpPr>
        <p:spPr>
          <a:xfrm>
            <a:off x="3886200" y="4389120"/>
            <a:ext cx="2834640" cy="1060704"/>
          </a:xfrm>
          <a:prstGeom prst="roundRect">
            <a:avLst>
              <a:gd name="adj" fmla="val 6897"/>
            </a:avLst>
          </a:prstGeom>
          <a:solidFill>
            <a:srgbClr val="1E293B"/>
          </a:solidFill>
          <a:ln w="12700">
            <a:solidFill>
              <a:srgbClr val="32436A"/>
            </a:solidFill>
            <a:prstDash val="solid"/>
          </a:ln>
        </p:spPr>
        <p:txBody>
          <a:bodyPr/>
          <a:lstStyle/>
          <a:p>
            <a:endParaRPr lang="fr-FR"/>
          </a:p>
        </p:txBody>
      </p:sp>
      <p:sp>
        <p:nvSpPr>
          <p:cNvPr id="11" name="Text 9"/>
          <p:cNvSpPr/>
          <p:nvPr/>
        </p:nvSpPr>
        <p:spPr>
          <a:xfrm>
            <a:off x="4050792" y="4498848"/>
            <a:ext cx="2514600" cy="512064"/>
          </a:xfrm>
          <a:prstGeom prst="rect">
            <a:avLst/>
          </a:prstGeom>
          <a:noFill/>
          <a:ln/>
        </p:spPr>
        <p:txBody>
          <a:bodyPr wrap="square" lIns="0" tIns="0" rIns="0" bIns="0" rtlCol="0" anchor="ctr"/>
          <a:lstStyle/>
          <a:p>
            <a:pPr marL="0" indent="0">
              <a:buNone/>
            </a:pPr>
            <a:r>
              <a:rPr lang="en-US" sz="2700" b="1" dirty="0">
                <a:solidFill>
                  <a:srgbClr val="60A5FA"/>
                </a:solidFill>
                <a:latin typeface="Calibri" pitchFamily="34" charset="0"/>
                <a:ea typeface="Calibri" pitchFamily="34" charset="-122"/>
                <a:cs typeface="Calibri" pitchFamily="34" charset="-120"/>
              </a:rPr>
              <a:t>0</a:t>
            </a:r>
            <a:endParaRPr lang="en-US" sz="2700" dirty="0"/>
          </a:p>
        </p:txBody>
      </p:sp>
      <p:sp>
        <p:nvSpPr>
          <p:cNvPr id="12" name="Text 10"/>
          <p:cNvSpPr/>
          <p:nvPr/>
        </p:nvSpPr>
        <p:spPr>
          <a:xfrm>
            <a:off x="4050792" y="5010912"/>
            <a:ext cx="2514600" cy="36576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faux positif</a:t>
            </a:r>
            <a:endParaRPr lang="en-US" sz="1100" dirty="0"/>
          </a:p>
        </p:txBody>
      </p:sp>
      <p:sp>
        <p:nvSpPr>
          <p:cNvPr id="13" name="Shape 11"/>
          <p:cNvSpPr/>
          <p:nvPr/>
        </p:nvSpPr>
        <p:spPr>
          <a:xfrm>
            <a:off x="6949440" y="4389120"/>
            <a:ext cx="2834640" cy="1060704"/>
          </a:xfrm>
          <a:prstGeom prst="roundRect">
            <a:avLst>
              <a:gd name="adj" fmla="val 6897"/>
            </a:avLst>
          </a:prstGeom>
          <a:solidFill>
            <a:srgbClr val="1E293B"/>
          </a:solidFill>
          <a:ln w="12700">
            <a:solidFill>
              <a:srgbClr val="32436A"/>
            </a:solidFill>
            <a:prstDash val="solid"/>
          </a:ln>
        </p:spPr>
        <p:txBody>
          <a:bodyPr/>
          <a:lstStyle/>
          <a:p>
            <a:endParaRPr lang="fr-FR"/>
          </a:p>
        </p:txBody>
      </p:sp>
      <p:sp>
        <p:nvSpPr>
          <p:cNvPr id="14" name="Text 12"/>
          <p:cNvSpPr/>
          <p:nvPr/>
        </p:nvSpPr>
        <p:spPr>
          <a:xfrm>
            <a:off x="7114032" y="4498848"/>
            <a:ext cx="2514600" cy="512064"/>
          </a:xfrm>
          <a:prstGeom prst="rect">
            <a:avLst/>
          </a:prstGeom>
          <a:noFill/>
          <a:ln/>
        </p:spPr>
        <p:txBody>
          <a:bodyPr wrap="square" lIns="0" tIns="0" rIns="0" bIns="0" rtlCol="0" anchor="ctr"/>
          <a:lstStyle/>
          <a:p>
            <a:pPr marL="0" indent="0">
              <a:buNone/>
            </a:pPr>
            <a:r>
              <a:rPr lang="en-US" sz="2700" b="1" dirty="0">
                <a:solidFill>
                  <a:srgbClr val="60A5FA"/>
                </a:solidFill>
                <a:latin typeface="Calibri" pitchFamily="34" charset="0"/>
                <a:ea typeface="Calibri" pitchFamily="34" charset="-122"/>
                <a:cs typeface="Calibri" pitchFamily="34" charset="-120"/>
              </a:rPr>
              <a:t>4</a:t>
            </a:r>
            <a:endParaRPr lang="en-US" sz="2700" dirty="0"/>
          </a:p>
        </p:txBody>
      </p:sp>
      <p:sp>
        <p:nvSpPr>
          <p:cNvPr id="15" name="Text 13"/>
          <p:cNvSpPr/>
          <p:nvPr/>
        </p:nvSpPr>
        <p:spPr>
          <a:xfrm>
            <a:off x="7114032" y="5010912"/>
            <a:ext cx="2514600" cy="36576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segments activables</a:t>
            </a:r>
            <a:endParaRPr lang="en-US" sz="1100" dirty="0"/>
          </a:p>
        </p:txBody>
      </p:sp>
      <p:sp>
        <p:nvSpPr>
          <p:cNvPr id="16" name="Text 14"/>
          <p:cNvSpPr/>
          <p:nvPr/>
        </p:nvSpPr>
        <p:spPr>
          <a:xfrm>
            <a:off x="822960" y="5897880"/>
            <a:ext cx="822960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Kokou Godwin TCHAKPANA</a:t>
            </a:r>
            <a:endParaRPr lang="en-US" sz="1400" dirty="0"/>
          </a:p>
          <a:p>
            <a:pPr marL="0" indent="0">
              <a:buNone/>
            </a:pPr>
            <a:r>
              <a:rPr lang="en-US" sz="1200" dirty="0">
                <a:solidFill>
                  <a:srgbClr val="64748B"/>
                </a:solidFill>
                <a:latin typeface="Calibri" pitchFamily="34" charset="0"/>
                <a:ea typeface="Calibri" pitchFamily="34" charset="-122"/>
                <a:cs typeface="Calibri" pitchFamily="34" charset="-120"/>
              </a:rPr>
              <a:t>Master 2 — Conception et Développement de Solutions </a:t>
            </a:r>
            <a:r>
              <a:rPr lang="en-US" sz="1200" dirty="0" err="1">
                <a:solidFill>
                  <a:srgbClr val="64748B"/>
                </a:solidFill>
                <a:latin typeface="Calibri" pitchFamily="34" charset="0"/>
                <a:ea typeface="Calibri" pitchFamily="34" charset="-122"/>
                <a:cs typeface="Calibri" pitchFamily="34" charset="-120"/>
              </a:rPr>
              <a:t>Digitales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EXECUTIVE SUMMARY</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Un seul projet, deux leviers de valeur : réduire la fraude et mieux cibler les clients</a:t>
            </a:r>
            <a:endParaRPr lang="en-US" sz="2500" dirty="0"/>
          </a:p>
        </p:txBody>
      </p:sp>
      <p:sp>
        <p:nvSpPr>
          <p:cNvPr id="4" name="Shape 2"/>
          <p:cNvSpPr/>
          <p:nvPr/>
        </p:nvSpPr>
        <p:spPr>
          <a:xfrm>
            <a:off x="502920" y="1600200"/>
            <a:ext cx="2697480" cy="2788920"/>
          </a:xfrm>
          <a:prstGeom prst="roundRect">
            <a:avLst>
              <a:gd name="adj" fmla="val 2373"/>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5" name="Shape 3"/>
          <p:cNvSpPr/>
          <p:nvPr/>
        </p:nvSpPr>
        <p:spPr>
          <a:xfrm>
            <a:off x="758952" y="1874520"/>
            <a:ext cx="640080" cy="640080"/>
          </a:xfrm>
          <a:prstGeom prst="ellipse">
            <a:avLst/>
          </a:prstGeom>
          <a:solidFill>
            <a:srgbClr val="DC2626"/>
          </a:solidFill>
          <a:ln/>
          <a:effectLst>
            <a:outerShdw blurRad="76200" dist="25400" dir="5400000" algn="bl" rotWithShape="0">
              <a:srgbClr val="0F172A">
                <a:alpha val="15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932688" y="2048256"/>
            <a:ext cx="292608" cy="292608"/>
          </a:xfrm>
          <a:prstGeom prst="rect">
            <a:avLst/>
          </a:prstGeom>
        </p:spPr>
      </p:pic>
      <p:sp>
        <p:nvSpPr>
          <p:cNvPr id="7" name="Text 4"/>
          <p:cNvSpPr/>
          <p:nvPr/>
        </p:nvSpPr>
        <p:spPr>
          <a:xfrm>
            <a:off x="758952" y="2670048"/>
            <a:ext cx="224028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Problème</a:t>
            </a:r>
            <a:endParaRPr lang="en-US" sz="1700" dirty="0"/>
          </a:p>
        </p:txBody>
      </p:sp>
      <p:sp>
        <p:nvSpPr>
          <p:cNvPr id="8" name="Text 5"/>
          <p:cNvSpPr/>
          <p:nvPr/>
        </p:nvSpPr>
        <p:spPr>
          <a:xfrm>
            <a:off x="758952" y="3054096"/>
            <a:ext cx="2240280" cy="128016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Les fraudes sont rares (~0,11 %) mais coûteuses ; les clients sont traités de façon indifférenciée, sans ciblage.</a:t>
            </a:r>
            <a:endParaRPr lang="en-US" sz="1200" dirty="0"/>
          </a:p>
        </p:txBody>
      </p:sp>
      <p:sp>
        <p:nvSpPr>
          <p:cNvPr id="9" name="Shape 6"/>
          <p:cNvSpPr/>
          <p:nvPr/>
        </p:nvSpPr>
        <p:spPr>
          <a:xfrm>
            <a:off x="3319272" y="1600200"/>
            <a:ext cx="2697480" cy="2788920"/>
          </a:xfrm>
          <a:prstGeom prst="roundRect">
            <a:avLst>
              <a:gd name="adj" fmla="val 2373"/>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10" name="Shape 7"/>
          <p:cNvSpPr/>
          <p:nvPr/>
        </p:nvSpPr>
        <p:spPr>
          <a:xfrm>
            <a:off x="3575304" y="1874520"/>
            <a:ext cx="640080" cy="640080"/>
          </a:xfrm>
          <a:prstGeom prst="ellipse">
            <a:avLst/>
          </a:prstGeom>
          <a:solidFill>
            <a:srgbClr val="2563EB"/>
          </a:solidFill>
          <a:ln/>
          <a:effectLst>
            <a:outerShdw blurRad="76200" dist="25400" dir="5400000" algn="bl" rotWithShape="0">
              <a:srgbClr val="0F172A">
                <a:alpha val="15000"/>
              </a:srgbClr>
            </a:outerShdw>
          </a:effectLst>
        </p:spPr>
        <p:txBody>
          <a:bodyPr/>
          <a:lstStyle/>
          <a:p>
            <a:endParaRPr lang="fr-FR"/>
          </a:p>
        </p:txBody>
      </p:sp>
      <p:pic>
        <p:nvPicPr>
          <p:cNvPr id="11" name="Image 1" descr="preencoded.png"/>
          <p:cNvPicPr>
            <a:picLocks noChangeAspect="1"/>
          </p:cNvPicPr>
          <p:nvPr/>
        </p:nvPicPr>
        <p:blipFill>
          <a:blip r:embed="rId4"/>
          <a:stretch>
            <a:fillRect/>
          </a:stretch>
        </p:blipFill>
        <p:spPr>
          <a:xfrm>
            <a:off x="3749040" y="2048256"/>
            <a:ext cx="292608" cy="292608"/>
          </a:xfrm>
          <a:prstGeom prst="rect">
            <a:avLst/>
          </a:prstGeom>
        </p:spPr>
      </p:pic>
      <p:sp>
        <p:nvSpPr>
          <p:cNvPr id="12" name="Text 8"/>
          <p:cNvSpPr/>
          <p:nvPr/>
        </p:nvSpPr>
        <p:spPr>
          <a:xfrm>
            <a:off x="3575304" y="2670048"/>
            <a:ext cx="224028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Solution</a:t>
            </a:r>
            <a:endParaRPr lang="en-US" sz="1700" dirty="0"/>
          </a:p>
        </p:txBody>
      </p:sp>
      <p:sp>
        <p:nvSpPr>
          <p:cNvPr id="13" name="Text 9"/>
          <p:cNvSpPr/>
          <p:nvPr/>
        </p:nvSpPr>
        <p:spPr>
          <a:xfrm>
            <a:off x="3575304" y="3054096"/>
            <a:ext cx="2240280" cy="128016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Un modèle XGBoost calibré pour la fraude + une segmentation GMM à 4 profils, exposés via une API et un dashboard.</a:t>
            </a:r>
            <a:endParaRPr lang="en-US" sz="1200" dirty="0"/>
          </a:p>
        </p:txBody>
      </p:sp>
      <p:sp>
        <p:nvSpPr>
          <p:cNvPr id="14" name="Shape 10"/>
          <p:cNvSpPr/>
          <p:nvPr/>
        </p:nvSpPr>
        <p:spPr>
          <a:xfrm>
            <a:off x="6135624" y="1600200"/>
            <a:ext cx="2697480" cy="2788920"/>
          </a:xfrm>
          <a:prstGeom prst="roundRect">
            <a:avLst>
              <a:gd name="adj" fmla="val 2373"/>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15" name="Shape 11"/>
          <p:cNvSpPr/>
          <p:nvPr/>
        </p:nvSpPr>
        <p:spPr>
          <a:xfrm>
            <a:off x="6391656" y="1874520"/>
            <a:ext cx="640080" cy="640080"/>
          </a:xfrm>
          <a:prstGeom prst="ellipse">
            <a:avLst/>
          </a:prstGeom>
          <a:solidFill>
            <a:srgbClr val="059669"/>
          </a:solidFill>
          <a:ln/>
          <a:effectLst>
            <a:outerShdw blurRad="76200" dist="25400" dir="5400000" algn="bl" rotWithShape="0">
              <a:srgbClr val="0F172A">
                <a:alpha val="15000"/>
              </a:srgbClr>
            </a:outerShdw>
          </a:effectLst>
        </p:spPr>
        <p:txBody>
          <a:bodyPr/>
          <a:lstStyle/>
          <a:p>
            <a:endParaRPr lang="fr-FR"/>
          </a:p>
        </p:txBody>
      </p:sp>
      <p:pic>
        <p:nvPicPr>
          <p:cNvPr id="16" name="Image 2" descr="preencoded.png"/>
          <p:cNvPicPr>
            <a:picLocks noChangeAspect="1"/>
          </p:cNvPicPr>
          <p:nvPr/>
        </p:nvPicPr>
        <p:blipFill>
          <a:blip r:embed="rId5"/>
          <a:stretch>
            <a:fillRect/>
          </a:stretch>
        </p:blipFill>
        <p:spPr>
          <a:xfrm>
            <a:off x="6565392" y="2048256"/>
            <a:ext cx="292608" cy="292608"/>
          </a:xfrm>
          <a:prstGeom prst="rect">
            <a:avLst/>
          </a:prstGeom>
        </p:spPr>
      </p:pic>
      <p:sp>
        <p:nvSpPr>
          <p:cNvPr id="17" name="Text 12"/>
          <p:cNvSpPr/>
          <p:nvPr/>
        </p:nvSpPr>
        <p:spPr>
          <a:xfrm>
            <a:off x="6391656" y="2670048"/>
            <a:ext cx="224028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Résultats</a:t>
            </a:r>
            <a:endParaRPr lang="en-US" sz="1700" dirty="0"/>
          </a:p>
        </p:txBody>
      </p:sp>
      <p:sp>
        <p:nvSpPr>
          <p:cNvPr id="18" name="Text 13"/>
          <p:cNvSpPr/>
          <p:nvPr/>
        </p:nvSpPr>
        <p:spPr>
          <a:xfrm>
            <a:off x="6391656" y="3054096"/>
            <a:ext cx="2240280" cy="128016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98,3 % de rappel et 100 % de précision sur la fraude (PR-AUC 0,990) ; 4 segments clients clairs et activables.</a:t>
            </a:r>
            <a:endParaRPr lang="en-US" sz="1200" dirty="0"/>
          </a:p>
        </p:txBody>
      </p:sp>
      <p:sp>
        <p:nvSpPr>
          <p:cNvPr id="19" name="Shape 14"/>
          <p:cNvSpPr/>
          <p:nvPr/>
        </p:nvSpPr>
        <p:spPr>
          <a:xfrm>
            <a:off x="8951976" y="1600200"/>
            <a:ext cx="2697480" cy="2788920"/>
          </a:xfrm>
          <a:prstGeom prst="roundRect">
            <a:avLst>
              <a:gd name="adj" fmla="val 2373"/>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20" name="Shape 15"/>
          <p:cNvSpPr/>
          <p:nvPr/>
        </p:nvSpPr>
        <p:spPr>
          <a:xfrm>
            <a:off x="9208008" y="1874520"/>
            <a:ext cx="640080" cy="640080"/>
          </a:xfrm>
          <a:prstGeom prst="ellipse">
            <a:avLst/>
          </a:prstGeom>
          <a:solidFill>
            <a:srgbClr val="7C3AED"/>
          </a:solidFill>
          <a:ln/>
          <a:effectLst>
            <a:outerShdw blurRad="76200" dist="25400" dir="5400000" algn="bl" rotWithShape="0">
              <a:srgbClr val="0F172A">
                <a:alpha val="15000"/>
              </a:srgbClr>
            </a:outerShdw>
          </a:effectLst>
        </p:spPr>
        <p:txBody>
          <a:bodyPr/>
          <a:lstStyle/>
          <a:p>
            <a:endParaRPr lang="fr-FR"/>
          </a:p>
        </p:txBody>
      </p:sp>
      <p:pic>
        <p:nvPicPr>
          <p:cNvPr id="21" name="Image 3" descr="preencoded.png"/>
          <p:cNvPicPr>
            <a:picLocks noChangeAspect="1"/>
          </p:cNvPicPr>
          <p:nvPr/>
        </p:nvPicPr>
        <p:blipFill>
          <a:blip r:embed="rId6"/>
          <a:stretch>
            <a:fillRect/>
          </a:stretch>
        </p:blipFill>
        <p:spPr>
          <a:xfrm>
            <a:off x="9381744" y="2048256"/>
            <a:ext cx="292608" cy="292608"/>
          </a:xfrm>
          <a:prstGeom prst="rect">
            <a:avLst/>
          </a:prstGeom>
        </p:spPr>
      </p:pic>
      <p:sp>
        <p:nvSpPr>
          <p:cNvPr id="22" name="Text 16"/>
          <p:cNvSpPr/>
          <p:nvPr/>
        </p:nvSpPr>
        <p:spPr>
          <a:xfrm>
            <a:off x="9208008" y="2670048"/>
            <a:ext cx="2240280" cy="36576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Impact métier</a:t>
            </a:r>
            <a:endParaRPr lang="en-US" sz="1700" dirty="0"/>
          </a:p>
        </p:txBody>
      </p:sp>
      <p:sp>
        <p:nvSpPr>
          <p:cNvPr id="23" name="Text 17"/>
          <p:cNvSpPr/>
          <p:nvPr/>
        </p:nvSpPr>
        <p:spPr>
          <a:xfrm>
            <a:off x="9208008" y="3054096"/>
            <a:ext cx="2240280" cy="128016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Pertes de fraude quasi éliminées sans friction client, et campagnes marketing ciblées par segment.</a:t>
            </a:r>
            <a:endParaRPr lang="en-US" sz="1200" dirty="0"/>
          </a:p>
        </p:txBody>
      </p:sp>
      <p:sp>
        <p:nvSpPr>
          <p:cNvPr id="24" name="Text 18"/>
          <p:cNvSpPr/>
          <p:nvPr/>
        </p:nvSpPr>
        <p:spPr>
          <a:xfrm>
            <a:off x="502920" y="4572000"/>
            <a:ext cx="5486400" cy="274320"/>
          </a:xfrm>
          <a:prstGeom prst="rect">
            <a:avLst/>
          </a:prstGeom>
          <a:noFill/>
          <a:ln/>
        </p:spPr>
        <p:txBody>
          <a:bodyPr wrap="square" lIns="0" tIns="0" rIns="0" bIns="0" rtlCol="0" anchor="ctr"/>
          <a:lstStyle/>
          <a:p>
            <a:pPr marL="0" indent="0">
              <a:buNone/>
            </a:pPr>
            <a:r>
              <a:rPr lang="en-US" sz="1050" b="1" kern="0" spc="200" dirty="0">
                <a:solidFill>
                  <a:srgbClr val="64748B"/>
                </a:solidFill>
                <a:latin typeface="Calibri" pitchFamily="34" charset="0"/>
                <a:ea typeface="Calibri" pitchFamily="34" charset="-122"/>
                <a:cs typeface="Calibri" pitchFamily="34" charset="-120"/>
              </a:rPr>
              <a:t>INDICATEURS CLÉS</a:t>
            </a:r>
            <a:endParaRPr lang="en-US" sz="1050" dirty="0"/>
          </a:p>
        </p:txBody>
      </p:sp>
      <p:sp>
        <p:nvSpPr>
          <p:cNvPr id="25" name="Text 19"/>
          <p:cNvSpPr/>
          <p:nvPr/>
        </p:nvSpPr>
        <p:spPr>
          <a:xfrm>
            <a:off x="502920" y="4846320"/>
            <a:ext cx="2185416" cy="548640"/>
          </a:xfrm>
          <a:prstGeom prst="rect">
            <a:avLst/>
          </a:prstGeom>
          <a:noFill/>
          <a:ln/>
        </p:spPr>
        <p:txBody>
          <a:bodyPr wrap="square" lIns="0" tIns="0" rIns="0" bIns="0" rtlCol="0" anchor="ctr"/>
          <a:lstStyle/>
          <a:p>
            <a:pPr marL="0" indent="0">
              <a:buNone/>
            </a:pPr>
            <a:r>
              <a:rPr lang="en-US" sz="3000" b="1" dirty="0">
                <a:solidFill>
                  <a:srgbClr val="059669"/>
                </a:solidFill>
                <a:latin typeface="Calibri" pitchFamily="34" charset="0"/>
                <a:ea typeface="Calibri" pitchFamily="34" charset="-122"/>
                <a:cs typeface="Calibri" pitchFamily="34" charset="-120"/>
              </a:rPr>
              <a:t>98,3 %</a:t>
            </a:r>
            <a:endParaRPr lang="en-US" sz="3000" dirty="0"/>
          </a:p>
        </p:txBody>
      </p:sp>
      <p:sp>
        <p:nvSpPr>
          <p:cNvPr id="26" name="Text 20"/>
          <p:cNvSpPr/>
          <p:nvPr/>
        </p:nvSpPr>
        <p:spPr>
          <a:xfrm>
            <a:off x="502920" y="5413248"/>
            <a:ext cx="218541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Rappel fraude</a:t>
            </a:r>
            <a:endParaRPr lang="en-US" sz="1150" dirty="0"/>
          </a:p>
        </p:txBody>
      </p:sp>
      <p:sp>
        <p:nvSpPr>
          <p:cNvPr id="27" name="Text 21"/>
          <p:cNvSpPr/>
          <p:nvPr/>
        </p:nvSpPr>
        <p:spPr>
          <a:xfrm>
            <a:off x="2779776" y="4846320"/>
            <a:ext cx="2185416" cy="548640"/>
          </a:xfrm>
          <a:prstGeom prst="rect">
            <a:avLst/>
          </a:prstGeom>
          <a:noFill/>
          <a:ln/>
        </p:spPr>
        <p:txBody>
          <a:bodyPr wrap="square" lIns="0" tIns="0" rIns="0" bIns="0" rtlCol="0" anchor="ctr"/>
          <a:lstStyle/>
          <a:p>
            <a:pPr marL="0" indent="0">
              <a:buNone/>
            </a:pPr>
            <a:r>
              <a:rPr lang="en-US" sz="3000" b="1" dirty="0">
                <a:solidFill>
                  <a:srgbClr val="059669"/>
                </a:solidFill>
                <a:latin typeface="Calibri" pitchFamily="34" charset="0"/>
                <a:ea typeface="Calibri" pitchFamily="34" charset="-122"/>
                <a:cs typeface="Calibri" pitchFamily="34" charset="-120"/>
              </a:rPr>
              <a:t>100 %</a:t>
            </a:r>
            <a:endParaRPr lang="en-US" sz="3000" dirty="0"/>
          </a:p>
        </p:txBody>
      </p:sp>
      <p:sp>
        <p:nvSpPr>
          <p:cNvPr id="28" name="Text 22"/>
          <p:cNvSpPr/>
          <p:nvPr/>
        </p:nvSpPr>
        <p:spPr>
          <a:xfrm>
            <a:off x="2779776" y="5413248"/>
            <a:ext cx="218541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Précision (0 FP)</a:t>
            </a:r>
            <a:endParaRPr lang="en-US" sz="1150" dirty="0"/>
          </a:p>
        </p:txBody>
      </p:sp>
      <p:sp>
        <p:nvSpPr>
          <p:cNvPr id="29" name="Text 23"/>
          <p:cNvSpPr/>
          <p:nvPr/>
        </p:nvSpPr>
        <p:spPr>
          <a:xfrm>
            <a:off x="5056632" y="4846320"/>
            <a:ext cx="2185416" cy="548640"/>
          </a:xfrm>
          <a:prstGeom prst="rect">
            <a:avLst/>
          </a:prstGeom>
          <a:noFill/>
          <a:ln/>
        </p:spPr>
        <p:txBody>
          <a:bodyPr wrap="square" lIns="0" tIns="0" rIns="0" bIns="0" rtlCol="0" anchor="ctr"/>
          <a:lstStyle/>
          <a:p>
            <a:pPr marL="0" indent="0">
              <a:buNone/>
            </a:pPr>
            <a:r>
              <a:rPr lang="en-US" sz="3000" b="1" dirty="0">
                <a:solidFill>
                  <a:srgbClr val="2563EB"/>
                </a:solidFill>
                <a:latin typeface="Calibri" pitchFamily="34" charset="0"/>
                <a:ea typeface="Calibri" pitchFamily="34" charset="-122"/>
                <a:cs typeface="Calibri" pitchFamily="34" charset="-120"/>
              </a:rPr>
              <a:t>0,990</a:t>
            </a:r>
            <a:endParaRPr lang="en-US" sz="3000" dirty="0"/>
          </a:p>
        </p:txBody>
      </p:sp>
      <p:sp>
        <p:nvSpPr>
          <p:cNvPr id="30" name="Text 24"/>
          <p:cNvSpPr/>
          <p:nvPr/>
        </p:nvSpPr>
        <p:spPr>
          <a:xfrm>
            <a:off x="5056632" y="5413248"/>
            <a:ext cx="218541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PR-AUC XGBoost</a:t>
            </a:r>
            <a:endParaRPr lang="en-US" sz="1150" dirty="0"/>
          </a:p>
        </p:txBody>
      </p:sp>
      <p:sp>
        <p:nvSpPr>
          <p:cNvPr id="31" name="Text 25"/>
          <p:cNvSpPr/>
          <p:nvPr/>
        </p:nvSpPr>
        <p:spPr>
          <a:xfrm>
            <a:off x="7333488" y="4846320"/>
            <a:ext cx="2185416" cy="548640"/>
          </a:xfrm>
          <a:prstGeom prst="rect">
            <a:avLst/>
          </a:prstGeom>
          <a:noFill/>
          <a:ln/>
        </p:spPr>
        <p:txBody>
          <a:bodyPr wrap="square" lIns="0" tIns="0" rIns="0" bIns="0" rtlCol="0" anchor="ctr"/>
          <a:lstStyle/>
          <a:p>
            <a:pPr marL="0" indent="0">
              <a:buNone/>
            </a:pPr>
            <a:r>
              <a:rPr lang="en-US" sz="3000" b="1" dirty="0">
                <a:solidFill>
                  <a:srgbClr val="7C3AED"/>
                </a:solidFill>
                <a:latin typeface="Calibri" pitchFamily="34" charset="0"/>
                <a:ea typeface="Calibri" pitchFamily="34" charset="-122"/>
                <a:cs typeface="Calibri" pitchFamily="34" charset="-120"/>
              </a:rPr>
              <a:t>4</a:t>
            </a:r>
            <a:endParaRPr lang="en-US" sz="3000" dirty="0"/>
          </a:p>
        </p:txBody>
      </p:sp>
      <p:sp>
        <p:nvSpPr>
          <p:cNvPr id="32" name="Text 26"/>
          <p:cNvSpPr/>
          <p:nvPr/>
        </p:nvSpPr>
        <p:spPr>
          <a:xfrm>
            <a:off x="7333488" y="5413248"/>
            <a:ext cx="218541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Segments clients</a:t>
            </a:r>
            <a:endParaRPr lang="en-US" sz="1150" dirty="0"/>
          </a:p>
        </p:txBody>
      </p:sp>
      <p:sp>
        <p:nvSpPr>
          <p:cNvPr id="33" name="Text 27"/>
          <p:cNvSpPr/>
          <p:nvPr/>
        </p:nvSpPr>
        <p:spPr>
          <a:xfrm>
            <a:off x="9610344" y="4846320"/>
            <a:ext cx="2185416" cy="548640"/>
          </a:xfrm>
          <a:prstGeom prst="rect">
            <a:avLst/>
          </a:prstGeom>
          <a:noFill/>
          <a:ln/>
        </p:spPr>
        <p:txBody>
          <a:bodyPr wrap="square" lIns="0" tIns="0" rIns="0" bIns="0" rtlCol="0" anchor="ctr"/>
          <a:lstStyle/>
          <a:p>
            <a:pPr marL="0" indent="0">
              <a:buNone/>
            </a:pPr>
            <a:r>
              <a:rPr lang="en-US" sz="3000" b="1" dirty="0">
                <a:solidFill>
                  <a:srgbClr val="F59E0B"/>
                </a:solidFill>
                <a:latin typeface="Calibri" pitchFamily="34" charset="0"/>
                <a:ea typeface="Calibri" pitchFamily="34" charset="-122"/>
                <a:cs typeface="Calibri" pitchFamily="34" charset="-120"/>
              </a:rPr>
              <a:t>3</a:t>
            </a:r>
            <a:endParaRPr lang="en-US" sz="3000" dirty="0"/>
          </a:p>
        </p:txBody>
      </p:sp>
      <p:sp>
        <p:nvSpPr>
          <p:cNvPr id="34" name="Text 28"/>
          <p:cNvSpPr/>
          <p:nvPr/>
        </p:nvSpPr>
        <p:spPr>
          <a:xfrm>
            <a:off x="9610344" y="5413248"/>
            <a:ext cx="218541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Fraudes manquées / val.</a:t>
            </a:r>
            <a:endParaRPr lang="en-US" sz="1150" dirty="0"/>
          </a:p>
        </p:txBody>
      </p:sp>
      <p:sp>
        <p:nvSpPr>
          <p:cNvPr id="35" name="Text 29"/>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36" name="Text 30"/>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60A5FA"/>
                </a:solidFill>
                <a:latin typeface="Calibri" pitchFamily="34" charset="0"/>
                <a:ea typeface="Calibri" pitchFamily="34" charset="-122"/>
                <a:cs typeface="Calibri" pitchFamily="34" charset="-120"/>
              </a:rPr>
              <a:t>VUE D'ENSEMBLE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FFFFFF"/>
                </a:solidFill>
                <a:latin typeface="Calibri" pitchFamily="34" charset="0"/>
                <a:ea typeface="Calibri" pitchFamily="34" charset="-122"/>
                <a:cs typeface="Calibri" pitchFamily="34" charset="-120"/>
              </a:rPr>
              <a:t>Une chaîne de valeur continue, de la donnée à la décision métier</a:t>
            </a:r>
            <a:endParaRPr lang="en-US" sz="2500" dirty="0"/>
          </a:p>
        </p:txBody>
      </p:sp>
      <p:sp>
        <p:nvSpPr>
          <p:cNvPr id="4" name="Shape 2"/>
          <p:cNvSpPr/>
          <p:nvPr/>
        </p:nvSpPr>
        <p:spPr>
          <a:xfrm>
            <a:off x="640080" y="2148840"/>
            <a:ext cx="2468880" cy="1828800"/>
          </a:xfrm>
          <a:prstGeom prst="roundRect">
            <a:avLst>
              <a:gd name="adj" fmla="val 4000"/>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5" name="Shape 3"/>
          <p:cNvSpPr/>
          <p:nvPr/>
        </p:nvSpPr>
        <p:spPr>
          <a:xfrm>
            <a:off x="1490472" y="2377440"/>
            <a:ext cx="768096" cy="768096"/>
          </a:xfrm>
          <a:prstGeom prst="ellipse">
            <a:avLst/>
          </a:prstGeom>
          <a:solidFill>
            <a:srgbClr val="2563EB"/>
          </a:solidFill>
          <a:ln/>
          <a:effectLst>
            <a:outerShdw blurRad="76200" dist="25400" dir="5400000" algn="bl" rotWithShape="0">
              <a:srgbClr val="0F172A">
                <a:alpha val="20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673352" y="2560320"/>
            <a:ext cx="402336" cy="402336"/>
          </a:xfrm>
          <a:prstGeom prst="rect">
            <a:avLst/>
          </a:prstGeom>
        </p:spPr>
      </p:pic>
      <p:sp>
        <p:nvSpPr>
          <p:cNvPr id="7" name="Text 4"/>
          <p:cNvSpPr/>
          <p:nvPr/>
        </p:nvSpPr>
        <p:spPr>
          <a:xfrm>
            <a:off x="640080" y="3227832"/>
            <a:ext cx="2468880" cy="3200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Data</a:t>
            </a:r>
            <a:endParaRPr lang="en-US" sz="1700" dirty="0"/>
          </a:p>
        </p:txBody>
      </p:sp>
      <p:sp>
        <p:nvSpPr>
          <p:cNvPr id="8" name="Text 5"/>
          <p:cNvSpPr/>
          <p:nvPr/>
        </p:nvSpPr>
        <p:spPr>
          <a:xfrm>
            <a:off x="640080" y="3520440"/>
            <a:ext cx="2468880" cy="457200"/>
          </a:xfrm>
          <a:prstGeom prst="rect">
            <a:avLst/>
          </a:prstGeom>
          <a:noFill/>
          <a:ln/>
        </p:spPr>
        <p:txBody>
          <a:bodyPr wrap="square" lIns="0" tIns="0" rIns="0" bIns="0" rtlCol="0" anchor="ctr"/>
          <a:lstStyle/>
          <a:p>
            <a:pPr marL="0" indent="0" algn="ctr">
              <a:buNone/>
            </a:pPr>
            <a:r>
              <a:rPr lang="en-US" sz="1150" dirty="0">
                <a:solidFill>
                  <a:srgbClr val="E2E8F0"/>
                </a:solidFill>
                <a:latin typeface="Calibri" pitchFamily="34" charset="0"/>
                <a:ea typeface="Calibri" pitchFamily="34" charset="-122"/>
                <a:cs typeface="Calibri" pitchFamily="34" charset="-120"/>
              </a:rPr>
              <a:t>1,05 M transactions</a:t>
            </a:r>
            <a:endParaRPr lang="en-US" sz="1150" dirty="0"/>
          </a:p>
          <a:p>
            <a:pPr marL="0" indent="0" algn="ctr">
              <a:buNone/>
            </a:pPr>
            <a:r>
              <a:rPr lang="en-US" sz="1150" dirty="0">
                <a:solidFill>
                  <a:srgbClr val="E2E8F0"/>
                </a:solidFill>
                <a:latin typeface="Calibri" pitchFamily="34" charset="0"/>
                <a:ea typeface="Calibri" pitchFamily="34" charset="-122"/>
                <a:cs typeface="Calibri" pitchFamily="34" charset="-120"/>
              </a:rPr>
              <a:t>+ 2 240 clients</a:t>
            </a:r>
            <a:endParaRPr lang="en-US" sz="1150" dirty="0"/>
          </a:p>
        </p:txBody>
      </p:sp>
      <p:pic>
        <p:nvPicPr>
          <p:cNvPr id="9" name="Image 1" descr="preencoded.png"/>
          <p:cNvPicPr>
            <a:picLocks noChangeAspect="1"/>
          </p:cNvPicPr>
          <p:nvPr/>
        </p:nvPicPr>
        <p:blipFill>
          <a:blip r:embed="rId4"/>
          <a:stretch>
            <a:fillRect/>
          </a:stretch>
        </p:blipFill>
        <p:spPr>
          <a:xfrm>
            <a:off x="3227832" y="2898648"/>
            <a:ext cx="329184" cy="329184"/>
          </a:xfrm>
          <a:prstGeom prst="rect">
            <a:avLst/>
          </a:prstGeom>
        </p:spPr>
      </p:pic>
      <p:sp>
        <p:nvSpPr>
          <p:cNvPr id="10" name="Shape 6"/>
          <p:cNvSpPr/>
          <p:nvPr/>
        </p:nvSpPr>
        <p:spPr>
          <a:xfrm>
            <a:off x="3675888" y="2148840"/>
            <a:ext cx="2468880" cy="1828800"/>
          </a:xfrm>
          <a:prstGeom prst="roundRect">
            <a:avLst>
              <a:gd name="adj" fmla="val 4000"/>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11" name="Shape 7"/>
          <p:cNvSpPr/>
          <p:nvPr/>
        </p:nvSpPr>
        <p:spPr>
          <a:xfrm>
            <a:off x="4526280" y="2377440"/>
            <a:ext cx="768096" cy="768096"/>
          </a:xfrm>
          <a:prstGeom prst="ellipse">
            <a:avLst/>
          </a:prstGeom>
          <a:solidFill>
            <a:srgbClr val="0D9488"/>
          </a:solidFill>
          <a:ln/>
          <a:effectLst>
            <a:outerShdw blurRad="76200" dist="25400" dir="5400000" algn="bl" rotWithShape="0">
              <a:srgbClr val="0F172A">
                <a:alpha val="20000"/>
              </a:srgbClr>
            </a:outerShdw>
          </a:effectLst>
        </p:spPr>
        <p:txBody>
          <a:bodyPr/>
          <a:lstStyle/>
          <a:p>
            <a:endParaRPr lang="fr-FR"/>
          </a:p>
        </p:txBody>
      </p:sp>
      <p:pic>
        <p:nvPicPr>
          <p:cNvPr id="12" name="Image 2" descr="preencoded.png"/>
          <p:cNvPicPr>
            <a:picLocks noChangeAspect="1"/>
          </p:cNvPicPr>
          <p:nvPr/>
        </p:nvPicPr>
        <p:blipFill>
          <a:blip r:embed="rId5"/>
          <a:stretch>
            <a:fillRect/>
          </a:stretch>
        </p:blipFill>
        <p:spPr>
          <a:xfrm>
            <a:off x="4709160" y="2560320"/>
            <a:ext cx="402336" cy="402336"/>
          </a:xfrm>
          <a:prstGeom prst="rect">
            <a:avLst/>
          </a:prstGeom>
        </p:spPr>
      </p:pic>
      <p:sp>
        <p:nvSpPr>
          <p:cNvPr id="13" name="Text 8"/>
          <p:cNvSpPr/>
          <p:nvPr/>
        </p:nvSpPr>
        <p:spPr>
          <a:xfrm>
            <a:off x="3675888" y="3227832"/>
            <a:ext cx="2468880" cy="3200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Machine Learning</a:t>
            </a:r>
            <a:endParaRPr lang="en-US" sz="1700" dirty="0"/>
          </a:p>
        </p:txBody>
      </p:sp>
      <p:sp>
        <p:nvSpPr>
          <p:cNvPr id="14" name="Text 9"/>
          <p:cNvSpPr/>
          <p:nvPr/>
        </p:nvSpPr>
        <p:spPr>
          <a:xfrm>
            <a:off x="3675888" y="3520440"/>
            <a:ext cx="2468880" cy="457200"/>
          </a:xfrm>
          <a:prstGeom prst="rect">
            <a:avLst/>
          </a:prstGeom>
          <a:noFill/>
          <a:ln/>
        </p:spPr>
        <p:txBody>
          <a:bodyPr wrap="square" lIns="0" tIns="0" rIns="0" bIns="0" rtlCol="0" anchor="ctr"/>
          <a:lstStyle/>
          <a:p>
            <a:pPr marL="0" indent="0" algn="ctr">
              <a:buNone/>
            </a:pPr>
            <a:r>
              <a:rPr lang="en-US" sz="1150" dirty="0">
                <a:solidFill>
                  <a:srgbClr val="E2E8F0"/>
                </a:solidFill>
                <a:latin typeface="Calibri" pitchFamily="34" charset="0"/>
                <a:ea typeface="Calibri" pitchFamily="34" charset="-122"/>
                <a:cs typeface="Calibri" pitchFamily="34" charset="-120"/>
              </a:rPr>
              <a:t>XGBoost (fraude)</a:t>
            </a:r>
            <a:endParaRPr lang="en-US" sz="1150" dirty="0"/>
          </a:p>
          <a:p>
            <a:pPr marL="0" indent="0" algn="ctr">
              <a:buNone/>
            </a:pPr>
            <a:r>
              <a:rPr lang="en-US" sz="1150" dirty="0">
                <a:solidFill>
                  <a:srgbClr val="E2E8F0"/>
                </a:solidFill>
                <a:latin typeface="Calibri" pitchFamily="34" charset="0"/>
                <a:ea typeface="Calibri" pitchFamily="34" charset="-122"/>
                <a:cs typeface="Calibri" pitchFamily="34" charset="-120"/>
              </a:rPr>
              <a:t>GMM (segments)</a:t>
            </a:r>
            <a:endParaRPr lang="en-US" sz="1150" dirty="0"/>
          </a:p>
        </p:txBody>
      </p:sp>
      <p:pic>
        <p:nvPicPr>
          <p:cNvPr id="15" name="Image 3" descr="preencoded.png"/>
          <p:cNvPicPr>
            <a:picLocks noChangeAspect="1"/>
          </p:cNvPicPr>
          <p:nvPr/>
        </p:nvPicPr>
        <p:blipFill>
          <a:blip r:embed="rId4"/>
          <a:stretch>
            <a:fillRect/>
          </a:stretch>
        </p:blipFill>
        <p:spPr>
          <a:xfrm>
            <a:off x="6263640" y="2898648"/>
            <a:ext cx="329184" cy="329184"/>
          </a:xfrm>
          <a:prstGeom prst="rect">
            <a:avLst/>
          </a:prstGeom>
        </p:spPr>
      </p:pic>
      <p:sp>
        <p:nvSpPr>
          <p:cNvPr id="16" name="Shape 10"/>
          <p:cNvSpPr/>
          <p:nvPr/>
        </p:nvSpPr>
        <p:spPr>
          <a:xfrm>
            <a:off x="6711696" y="2148840"/>
            <a:ext cx="2468880" cy="1828800"/>
          </a:xfrm>
          <a:prstGeom prst="roundRect">
            <a:avLst>
              <a:gd name="adj" fmla="val 4000"/>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17" name="Shape 11"/>
          <p:cNvSpPr/>
          <p:nvPr/>
        </p:nvSpPr>
        <p:spPr>
          <a:xfrm>
            <a:off x="7562088" y="2377440"/>
            <a:ext cx="768096" cy="768096"/>
          </a:xfrm>
          <a:prstGeom prst="ellipse">
            <a:avLst/>
          </a:prstGeom>
          <a:solidFill>
            <a:srgbClr val="7C3AED"/>
          </a:solidFill>
          <a:ln/>
          <a:effectLst>
            <a:outerShdw blurRad="76200" dist="25400" dir="5400000" algn="bl" rotWithShape="0">
              <a:srgbClr val="0F172A">
                <a:alpha val="20000"/>
              </a:srgbClr>
            </a:outerShdw>
          </a:effectLst>
        </p:spPr>
        <p:txBody>
          <a:bodyPr/>
          <a:lstStyle/>
          <a:p>
            <a:endParaRPr lang="fr-FR"/>
          </a:p>
        </p:txBody>
      </p:sp>
      <p:pic>
        <p:nvPicPr>
          <p:cNvPr id="18" name="Image 4" descr="preencoded.png"/>
          <p:cNvPicPr>
            <a:picLocks noChangeAspect="1"/>
          </p:cNvPicPr>
          <p:nvPr/>
        </p:nvPicPr>
        <p:blipFill>
          <a:blip r:embed="rId6"/>
          <a:stretch>
            <a:fillRect/>
          </a:stretch>
        </p:blipFill>
        <p:spPr>
          <a:xfrm>
            <a:off x="7744968" y="2560320"/>
            <a:ext cx="402336" cy="402336"/>
          </a:xfrm>
          <a:prstGeom prst="rect">
            <a:avLst/>
          </a:prstGeom>
        </p:spPr>
      </p:pic>
      <p:sp>
        <p:nvSpPr>
          <p:cNvPr id="19" name="Text 12"/>
          <p:cNvSpPr/>
          <p:nvPr/>
        </p:nvSpPr>
        <p:spPr>
          <a:xfrm>
            <a:off x="6711696" y="3227832"/>
            <a:ext cx="2468880" cy="3200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API FastAPI</a:t>
            </a:r>
            <a:endParaRPr lang="en-US" sz="1700" dirty="0"/>
          </a:p>
        </p:txBody>
      </p:sp>
      <p:sp>
        <p:nvSpPr>
          <p:cNvPr id="20" name="Text 13"/>
          <p:cNvSpPr/>
          <p:nvPr/>
        </p:nvSpPr>
        <p:spPr>
          <a:xfrm>
            <a:off x="6711696" y="3520440"/>
            <a:ext cx="2468880" cy="457200"/>
          </a:xfrm>
          <a:prstGeom prst="rect">
            <a:avLst/>
          </a:prstGeom>
          <a:noFill/>
          <a:ln/>
        </p:spPr>
        <p:txBody>
          <a:bodyPr wrap="square" lIns="0" tIns="0" rIns="0" bIns="0" rtlCol="0" anchor="ctr"/>
          <a:lstStyle/>
          <a:p>
            <a:pPr marL="0" indent="0" algn="ctr">
              <a:buNone/>
            </a:pPr>
            <a:r>
              <a:rPr lang="en-US" sz="1150" dirty="0">
                <a:solidFill>
                  <a:srgbClr val="E2E8F0"/>
                </a:solidFill>
                <a:latin typeface="Calibri" pitchFamily="34" charset="0"/>
                <a:ea typeface="Calibri" pitchFamily="34" charset="-122"/>
                <a:cs typeface="Calibri" pitchFamily="34" charset="-120"/>
              </a:rPr>
              <a:t>/predict/fraud</a:t>
            </a:r>
            <a:endParaRPr lang="en-US" sz="1150" dirty="0"/>
          </a:p>
          <a:p>
            <a:pPr marL="0" indent="0" algn="ctr">
              <a:buNone/>
            </a:pPr>
            <a:r>
              <a:rPr lang="en-US" sz="1150" dirty="0">
                <a:solidFill>
                  <a:srgbClr val="E2E8F0"/>
                </a:solidFill>
                <a:latin typeface="Calibri" pitchFamily="34" charset="0"/>
                <a:ea typeface="Calibri" pitchFamily="34" charset="-122"/>
                <a:cs typeface="Calibri" pitchFamily="34" charset="-120"/>
              </a:rPr>
              <a:t>/predict/segment</a:t>
            </a:r>
            <a:endParaRPr lang="en-US" sz="1150" dirty="0"/>
          </a:p>
        </p:txBody>
      </p:sp>
      <p:pic>
        <p:nvPicPr>
          <p:cNvPr id="21" name="Image 5" descr="preencoded.png"/>
          <p:cNvPicPr>
            <a:picLocks noChangeAspect="1"/>
          </p:cNvPicPr>
          <p:nvPr/>
        </p:nvPicPr>
        <p:blipFill>
          <a:blip r:embed="rId4"/>
          <a:stretch>
            <a:fillRect/>
          </a:stretch>
        </p:blipFill>
        <p:spPr>
          <a:xfrm>
            <a:off x="9299448" y="2898648"/>
            <a:ext cx="329184" cy="329184"/>
          </a:xfrm>
          <a:prstGeom prst="rect">
            <a:avLst/>
          </a:prstGeom>
        </p:spPr>
      </p:pic>
      <p:sp>
        <p:nvSpPr>
          <p:cNvPr id="22" name="Shape 14"/>
          <p:cNvSpPr/>
          <p:nvPr/>
        </p:nvSpPr>
        <p:spPr>
          <a:xfrm>
            <a:off x="9747504" y="2148840"/>
            <a:ext cx="2468880" cy="1828800"/>
          </a:xfrm>
          <a:prstGeom prst="roundRect">
            <a:avLst>
              <a:gd name="adj" fmla="val 4000"/>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23" name="Shape 15"/>
          <p:cNvSpPr/>
          <p:nvPr/>
        </p:nvSpPr>
        <p:spPr>
          <a:xfrm>
            <a:off x="10597896" y="2377440"/>
            <a:ext cx="768096" cy="768096"/>
          </a:xfrm>
          <a:prstGeom prst="ellipse">
            <a:avLst/>
          </a:prstGeom>
          <a:solidFill>
            <a:srgbClr val="059669"/>
          </a:solidFill>
          <a:ln/>
          <a:effectLst>
            <a:outerShdw blurRad="76200" dist="25400" dir="5400000" algn="bl" rotWithShape="0">
              <a:srgbClr val="0F172A">
                <a:alpha val="20000"/>
              </a:srgbClr>
            </a:outerShdw>
          </a:effectLst>
        </p:spPr>
        <p:txBody>
          <a:bodyPr/>
          <a:lstStyle/>
          <a:p>
            <a:endParaRPr lang="fr-FR"/>
          </a:p>
        </p:txBody>
      </p:sp>
      <p:pic>
        <p:nvPicPr>
          <p:cNvPr id="24" name="Image 6" descr="preencoded.png"/>
          <p:cNvPicPr>
            <a:picLocks noChangeAspect="1"/>
          </p:cNvPicPr>
          <p:nvPr/>
        </p:nvPicPr>
        <p:blipFill>
          <a:blip r:embed="rId7"/>
          <a:stretch>
            <a:fillRect/>
          </a:stretch>
        </p:blipFill>
        <p:spPr>
          <a:xfrm>
            <a:off x="10780776" y="2560320"/>
            <a:ext cx="402336" cy="402336"/>
          </a:xfrm>
          <a:prstGeom prst="rect">
            <a:avLst/>
          </a:prstGeom>
        </p:spPr>
      </p:pic>
      <p:sp>
        <p:nvSpPr>
          <p:cNvPr id="25" name="Text 16"/>
          <p:cNvSpPr/>
          <p:nvPr/>
        </p:nvSpPr>
        <p:spPr>
          <a:xfrm>
            <a:off x="9747504" y="3227832"/>
            <a:ext cx="2468880" cy="3200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Dashboard</a:t>
            </a:r>
            <a:endParaRPr lang="en-US" sz="1700" dirty="0"/>
          </a:p>
        </p:txBody>
      </p:sp>
      <p:sp>
        <p:nvSpPr>
          <p:cNvPr id="26" name="Text 17"/>
          <p:cNvSpPr/>
          <p:nvPr/>
        </p:nvSpPr>
        <p:spPr>
          <a:xfrm>
            <a:off x="9747504" y="3520440"/>
            <a:ext cx="2468880" cy="457200"/>
          </a:xfrm>
          <a:prstGeom prst="rect">
            <a:avLst/>
          </a:prstGeom>
          <a:noFill/>
          <a:ln/>
        </p:spPr>
        <p:txBody>
          <a:bodyPr wrap="square" lIns="0" tIns="0" rIns="0" bIns="0" rtlCol="0" anchor="ctr"/>
          <a:lstStyle/>
          <a:p>
            <a:pPr marL="0" indent="0" algn="ctr">
              <a:buNone/>
            </a:pPr>
            <a:r>
              <a:rPr lang="en-US" sz="1150" dirty="0">
                <a:solidFill>
                  <a:srgbClr val="E2E8F0"/>
                </a:solidFill>
                <a:latin typeface="Calibri" pitchFamily="34" charset="0"/>
                <a:ea typeface="Calibri" pitchFamily="34" charset="-122"/>
                <a:cs typeface="Calibri" pitchFamily="34" charset="-120"/>
              </a:rPr>
              <a:t>Streamlit</a:t>
            </a:r>
            <a:endParaRPr lang="en-US" sz="1150" dirty="0"/>
          </a:p>
          <a:p>
            <a:pPr marL="0" indent="0" algn="ctr">
              <a:buNone/>
            </a:pPr>
            <a:r>
              <a:rPr lang="en-US" sz="1150" dirty="0">
                <a:solidFill>
                  <a:srgbClr val="E2E8F0"/>
                </a:solidFill>
                <a:latin typeface="Calibri" pitchFamily="34" charset="0"/>
                <a:ea typeface="Calibri" pitchFamily="34" charset="-122"/>
                <a:cs typeface="Calibri" pitchFamily="34" charset="-120"/>
              </a:rPr>
              <a:t>multi-pages</a:t>
            </a:r>
            <a:endParaRPr lang="en-US" sz="1150" dirty="0"/>
          </a:p>
        </p:txBody>
      </p:sp>
      <p:sp>
        <p:nvSpPr>
          <p:cNvPr id="27" name="Shape 18"/>
          <p:cNvSpPr/>
          <p:nvPr/>
        </p:nvSpPr>
        <p:spPr>
          <a:xfrm>
            <a:off x="640080" y="4434840"/>
            <a:ext cx="10908792" cy="1417320"/>
          </a:xfrm>
          <a:prstGeom prst="roundRect">
            <a:avLst>
              <a:gd name="adj" fmla="val 4516"/>
            </a:avLst>
          </a:prstGeom>
          <a:solidFill>
            <a:srgbClr val="16233B"/>
          </a:solidFill>
          <a:ln/>
        </p:spPr>
        <p:txBody>
          <a:bodyPr/>
          <a:lstStyle/>
          <a:p>
            <a:endParaRPr lang="fr-FR"/>
          </a:p>
        </p:txBody>
      </p:sp>
      <p:sp>
        <p:nvSpPr>
          <p:cNvPr id="28" name="Text 19"/>
          <p:cNvSpPr/>
          <p:nvPr/>
        </p:nvSpPr>
        <p:spPr>
          <a:xfrm>
            <a:off x="868680" y="4590288"/>
            <a:ext cx="10058400" cy="274320"/>
          </a:xfrm>
          <a:prstGeom prst="rect">
            <a:avLst/>
          </a:prstGeom>
          <a:noFill/>
          <a:ln/>
        </p:spPr>
        <p:txBody>
          <a:bodyPr wrap="square" lIns="0" tIns="0" rIns="0" bIns="0" rtlCol="0" anchor="ctr"/>
          <a:lstStyle/>
          <a:p>
            <a:pPr marL="0" indent="0">
              <a:buNone/>
            </a:pPr>
            <a:r>
              <a:rPr lang="en-US" sz="1100" b="1" kern="0" spc="200" dirty="0">
                <a:solidFill>
                  <a:srgbClr val="60A5FA"/>
                </a:solidFill>
                <a:latin typeface="Calibri" pitchFamily="34" charset="0"/>
                <a:ea typeface="Calibri" pitchFamily="34" charset="-122"/>
                <a:cs typeface="Calibri" pitchFamily="34" charset="-120"/>
              </a:rPr>
              <a:t>SOCLE D'INDUSTRIALISATION</a:t>
            </a:r>
            <a:endParaRPr lang="en-US" sz="1100" dirty="0"/>
          </a:p>
        </p:txBody>
      </p:sp>
      <p:pic>
        <p:nvPicPr>
          <p:cNvPr id="29" name="Image 7" descr="preencoded.png"/>
          <p:cNvPicPr>
            <a:picLocks noChangeAspect="1"/>
          </p:cNvPicPr>
          <p:nvPr/>
        </p:nvPicPr>
        <p:blipFill>
          <a:blip r:embed="rId8"/>
          <a:stretch>
            <a:fillRect/>
          </a:stretch>
        </p:blipFill>
        <p:spPr>
          <a:xfrm>
            <a:off x="868680" y="5029200"/>
            <a:ext cx="384048" cy="384048"/>
          </a:xfrm>
          <a:prstGeom prst="rect">
            <a:avLst/>
          </a:prstGeom>
        </p:spPr>
      </p:pic>
      <p:sp>
        <p:nvSpPr>
          <p:cNvPr id="30" name="Text 20"/>
          <p:cNvSpPr/>
          <p:nvPr/>
        </p:nvSpPr>
        <p:spPr>
          <a:xfrm>
            <a:off x="1371600" y="5029200"/>
            <a:ext cx="2167128"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Code versionné (Git)</a:t>
            </a:r>
            <a:endParaRPr lang="en-US" sz="1250" dirty="0"/>
          </a:p>
        </p:txBody>
      </p:sp>
      <p:pic>
        <p:nvPicPr>
          <p:cNvPr id="31" name="Image 8" descr="preencoded.png"/>
          <p:cNvPicPr>
            <a:picLocks noChangeAspect="1"/>
          </p:cNvPicPr>
          <p:nvPr/>
        </p:nvPicPr>
        <p:blipFill>
          <a:blip r:embed="rId9"/>
          <a:stretch>
            <a:fillRect/>
          </a:stretch>
        </p:blipFill>
        <p:spPr>
          <a:xfrm>
            <a:off x="3538728" y="5029200"/>
            <a:ext cx="384048" cy="384048"/>
          </a:xfrm>
          <a:prstGeom prst="rect">
            <a:avLst/>
          </a:prstGeom>
        </p:spPr>
      </p:pic>
      <p:sp>
        <p:nvSpPr>
          <p:cNvPr id="32" name="Text 21"/>
          <p:cNvSpPr/>
          <p:nvPr/>
        </p:nvSpPr>
        <p:spPr>
          <a:xfrm>
            <a:off x="4041648" y="5029200"/>
            <a:ext cx="2167128"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Conteneurs Docker</a:t>
            </a:r>
            <a:endParaRPr lang="en-US" sz="1250" dirty="0"/>
          </a:p>
        </p:txBody>
      </p:sp>
      <p:pic>
        <p:nvPicPr>
          <p:cNvPr id="33" name="Image 9" descr="preencoded.png"/>
          <p:cNvPicPr>
            <a:picLocks noChangeAspect="1"/>
          </p:cNvPicPr>
          <p:nvPr/>
        </p:nvPicPr>
        <p:blipFill>
          <a:blip r:embed="rId10"/>
          <a:stretch>
            <a:fillRect/>
          </a:stretch>
        </p:blipFill>
        <p:spPr>
          <a:xfrm>
            <a:off x="6208776" y="5029200"/>
            <a:ext cx="384048" cy="384048"/>
          </a:xfrm>
          <a:prstGeom prst="rect">
            <a:avLst/>
          </a:prstGeom>
        </p:spPr>
      </p:pic>
      <p:sp>
        <p:nvSpPr>
          <p:cNvPr id="34" name="Text 22"/>
          <p:cNvSpPr/>
          <p:nvPr/>
        </p:nvSpPr>
        <p:spPr>
          <a:xfrm>
            <a:off x="6711696" y="5029200"/>
            <a:ext cx="2167128"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CI/CD GitHub Actions</a:t>
            </a:r>
            <a:endParaRPr lang="en-US" sz="1250" dirty="0"/>
          </a:p>
        </p:txBody>
      </p:sp>
      <p:pic>
        <p:nvPicPr>
          <p:cNvPr id="35" name="Image 10" descr="preencoded.png"/>
          <p:cNvPicPr>
            <a:picLocks noChangeAspect="1"/>
          </p:cNvPicPr>
          <p:nvPr/>
        </p:nvPicPr>
        <p:blipFill>
          <a:blip r:embed="rId11"/>
          <a:stretch>
            <a:fillRect/>
          </a:stretch>
        </p:blipFill>
        <p:spPr>
          <a:xfrm>
            <a:off x="8878824" y="5029200"/>
            <a:ext cx="384048" cy="384048"/>
          </a:xfrm>
          <a:prstGeom prst="rect">
            <a:avLst/>
          </a:prstGeom>
        </p:spPr>
      </p:pic>
      <p:sp>
        <p:nvSpPr>
          <p:cNvPr id="36" name="Text 23"/>
          <p:cNvSpPr/>
          <p:nvPr/>
        </p:nvSpPr>
        <p:spPr>
          <a:xfrm>
            <a:off x="9381744" y="5029200"/>
            <a:ext cx="2167128"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Monitoring &amp; ré-entraînement</a:t>
            </a:r>
            <a:endParaRPr lang="en-US" sz="1250" dirty="0"/>
          </a:p>
        </p:txBody>
      </p:sp>
      <p:sp>
        <p:nvSpPr>
          <p:cNvPr id="37" name="Text 24"/>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38" name="Text 25"/>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DÉMARCHE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Une méthodologie CRISP-DM rigoureuse, du besoin métier au déploiement</a:t>
            </a:r>
            <a:endParaRPr lang="en-US" sz="2500" dirty="0"/>
          </a:p>
        </p:txBody>
      </p:sp>
      <p:sp>
        <p:nvSpPr>
          <p:cNvPr id="4" name="Shape 2"/>
          <p:cNvSpPr/>
          <p:nvPr/>
        </p:nvSpPr>
        <p:spPr>
          <a:xfrm>
            <a:off x="696316" y="2011680"/>
            <a:ext cx="1700784" cy="2331720"/>
          </a:xfrm>
          <a:prstGeom prst="roundRect">
            <a:avLst>
              <a:gd name="adj" fmla="val 376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5" name="Shape 3"/>
          <p:cNvSpPr/>
          <p:nvPr/>
        </p:nvSpPr>
        <p:spPr>
          <a:xfrm>
            <a:off x="1217524" y="2212848"/>
            <a:ext cx="658368" cy="658368"/>
          </a:xfrm>
          <a:prstGeom prst="ellipse">
            <a:avLst/>
          </a:prstGeom>
          <a:solidFill>
            <a:srgbClr val="2563EB"/>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1372972" y="2368296"/>
            <a:ext cx="347472" cy="347472"/>
          </a:xfrm>
          <a:prstGeom prst="rect">
            <a:avLst/>
          </a:prstGeom>
        </p:spPr>
      </p:pic>
      <p:sp>
        <p:nvSpPr>
          <p:cNvPr id="7" name="Text 4"/>
          <p:cNvSpPr/>
          <p:nvPr/>
        </p:nvSpPr>
        <p:spPr>
          <a:xfrm>
            <a:off x="806044" y="2121408"/>
            <a:ext cx="365760" cy="365760"/>
          </a:xfrm>
          <a:prstGeom prst="rect">
            <a:avLst/>
          </a:prstGeom>
          <a:noFill/>
          <a:ln/>
        </p:spPr>
        <p:txBody>
          <a:bodyPr wrap="square" lIns="0" tIns="0" rIns="0" bIns="0" rtlCol="0" anchor="ctr"/>
          <a:lstStyle/>
          <a:p>
            <a:pPr marL="0" indent="0">
              <a:buNone/>
            </a:pPr>
            <a:r>
              <a:rPr lang="en-US" sz="1500" b="1" dirty="0">
                <a:solidFill>
                  <a:srgbClr val="2563EB"/>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742036" y="2971800"/>
            <a:ext cx="1609344" cy="640080"/>
          </a:xfrm>
          <a:prstGeom prst="rect">
            <a:avLst/>
          </a:prstGeom>
          <a:noFill/>
          <a:ln/>
        </p:spPr>
        <p:txBody>
          <a:bodyPr wrap="square" lIns="0" tIns="0" rIns="0" bIns="0" rtlCol="0" anchor="ctr"/>
          <a:lstStyle/>
          <a:p>
            <a:pPr marL="0" indent="0" algn="ctr">
              <a:lnSpc>
                <a:spcPct val="95000"/>
              </a:lnSpc>
              <a:buNone/>
            </a:pPr>
            <a:r>
              <a:rPr lang="en-US" sz="1300" b="1" dirty="0">
                <a:solidFill>
                  <a:srgbClr val="0F172A"/>
                </a:solidFill>
                <a:latin typeface="Calibri" pitchFamily="34" charset="0"/>
                <a:ea typeface="Calibri" pitchFamily="34" charset="-122"/>
                <a:cs typeface="Calibri" pitchFamily="34" charset="-120"/>
              </a:rPr>
              <a:t>Business</a:t>
            </a:r>
            <a:endParaRPr lang="en-US" sz="1300" dirty="0"/>
          </a:p>
          <a:p>
            <a:pPr marL="0" indent="0" algn="ctr">
              <a:lnSpc>
                <a:spcPct val="95000"/>
              </a:lnSpc>
              <a:buNone/>
            </a:pPr>
            <a:r>
              <a:rPr lang="en-US" sz="1300" b="1" dirty="0">
                <a:solidFill>
                  <a:srgbClr val="0F172A"/>
                </a:solidFill>
                <a:latin typeface="Calibri" pitchFamily="34" charset="0"/>
                <a:ea typeface="Calibri" pitchFamily="34" charset="-122"/>
                <a:cs typeface="Calibri" pitchFamily="34" charset="-120"/>
              </a:rPr>
              <a:t>Understanding</a:t>
            </a:r>
            <a:endParaRPr lang="en-US" sz="1300" dirty="0"/>
          </a:p>
        </p:txBody>
      </p:sp>
      <p:sp>
        <p:nvSpPr>
          <p:cNvPr id="9" name="Text 6"/>
          <p:cNvSpPr/>
          <p:nvPr/>
        </p:nvSpPr>
        <p:spPr>
          <a:xfrm>
            <a:off x="787756" y="3584448"/>
            <a:ext cx="1517904" cy="685800"/>
          </a:xfrm>
          <a:prstGeom prst="rect">
            <a:avLst/>
          </a:prstGeom>
          <a:noFill/>
          <a:ln/>
        </p:spPr>
        <p:txBody>
          <a:bodyPr wrap="square" lIns="0" tIns="0" rIns="0" bIns="0"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Réduire la fraude, cibler les clients</a:t>
            </a:r>
            <a:endParaRPr lang="en-US" sz="1050" dirty="0"/>
          </a:p>
        </p:txBody>
      </p:sp>
      <p:sp>
        <p:nvSpPr>
          <p:cNvPr id="10" name="Text 7"/>
          <p:cNvSpPr/>
          <p:nvPr/>
        </p:nvSpPr>
        <p:spPr>
          <a:xfrm>
            <a:off x="2378812" y="2857500"/>
            <a:ext cx="182880" cy="548640"/>
          </a:xfrm>
          <a:prstGeom prst="rect">
            <a:avLst/>
          </a:prstGeom>
          <a:noFill/>
          <a:ln/>
        </p:spPr>
        <p:txBody>
          <a:bodyPr wrap="square" lIns="0" tIns="0" rIns="0" bIns="0" rtlCol="0" anchor="ctr"/>
          <a:lstStyle/>
          <a:p>
            <a:pPr marL="0" indent="0" algn="ctr">
              <a:buNone/>
            </a:pPr>
            <a:r>
              <a:rPr lang="en-US" sz="2600" b="1" dirty="0">
                <a:solidFill>
                  <a:srgbClr val="60A5FA"/>
                </a:solidFill>
                <a:latin typeface="Calibri" pitchFamily="34" charset="0"/>
                <a:ea typeface="Calibri" pitchFamily="34" charset="-122"/>
                <a:cs typeface="Calibri" pitchFamily="34" charset="-120"/>
              </a:rPr>
              <a:t>›</a:t>
            </a:r>
            <a:endParaRPr lang="en-US" sz="2600" dirty="0"/>
          </a:p>
        </p:txBody>
      </p:sp>
      <p:sp>
        <p:nvSpPr>
          <p:cNvPr id="11" name="Shape 8"/>
          <p:cNvSpPr/>
          <p:nvPr/>
        </p:nvSpPr>
        <p:spPr>
          <a:xfrm>
            <a:off x="2515972" y="2011680"/>
            <a:ext cx="1700784" cy="2331720"/>
          </a:xfrm>
          <a:prstGeom prst="roundRect">
            <a:avLst>
              <a:gd name="adj" fmla="val 376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12" name="Shape 9"/>
          <p:cNvSpPr/>
          <p:nvPr/>
        </p:nvSpPr>
        <p:spPr>
          <a:xfrm>
            <a:off x="3037180" y="2212848"/>
            <a:ext cx="658368" cy="658368"/>
          </a:xfrm>
          <a:prstGeom prst="ellipse">
            <a:avLst/>
          </a:prstGeom>
          <a:solidFill>
            <a:srgbClr val="0D9488"/>
          </a:solidFill>
          <a:ln/>
        </p:spPr>
        <p:txBody>
          <a:bodyPr/>
          <a:lstStyle/>
          <a:p>
            <a:endParaRPr lang="fr-FR"/>
          </a:p>
        </p:txBody>
      </p:sp>
      <p:pic>
        <p:nvPicPr>
          <p:cNvPr id="13" name="Image 1" descr="preencoded.png"/>
          <p:cNvPicPr>
            <a:picLocks noChangeAspect="1"/>
          </p:cNvPicPr>
          <p:nvPr/>
        </p:nvPicPr>
        <p:blipFill>
          <a:blip r:embed="rId4"/>
          <a:stretch>
            <a:fillRect/>
          </a:stretch>
        </p:blipFill>
        <p:spPr>
          <a:xfrm>
            <a:off x="3192628" y="2368296"/>
            <a:ext cx="347472" cy="347472"/>
          </a:xfrm>
          <a:prstGeom prst="rect">
            <a:avLst/>
          </a:prstGeom>
        </p:spPr>
      </p:pic>
      <p:sp>
        <p:nvSpPr>
          <p:cNvPr id="14" name="Text 10"/>
          <p:cNvSpPr/>
          <p:nvPr/>
        </p:nvSpPr>
        <p:spPr>
          <a:xfrm>
            <a:off x="2625700" y="2121408"/>
            <a:ext cx="365760" cy="365760"/>
          </a:xfrm>
          <a:prstGeom prst="rect">
            <a:avLst/>
          </a:prstGeom>
          <a:noFill/>
          <a:ln/>
        </p:spPr>
        <p:txBody>
          <a:bodyPr wrap="square" lIns="0" tIns="0" rIns="0" bIns="0" rtlCol="0" anchor="ctr"/>
          <a:lstStyle/>
          <a:p>
            <a:pPr marL="0" indent="0">
              <a:buNone/>
            </a:pPr>
            <a:r>
              <a:rPr lang="en-US" sz="1500" b="1" dirty="0">
                <a:solidFill>
                  <a:srgbClr val="0D9488"/>
                </a:solidFill>
                <a:latin typeface="Calibri" pitchFamily="34" charset="0"/>
                <a:ea typeface="Calibri" pitchFamily="34" charset="-122"/>
                <a:cs typeface="Calibri" pitchFamily="34" charset="-120"/>
              </a:rPr>
              <a:t>2</a:t>
            </a:r>
            <a:endParaRPr lang="en-US" sz="1500" dirty="0"/>
          </a:p>
        </p:txBody>
      </p:sp>
      <p:sp>
        <p:nvSpPr>
          <p:cNvPr id="15" name="Text 11"/>
          <p:cNvSpPr/>
          <p:nvPr/>
        </p:nvSpPr>
        <p:spPr>
          <a:xfrm>
            <a:off x="2561692" y="2971800"/>
            <a:ext cx="1609344" cy="640080"/>
          </a:xfrm>
          <a:prstGeom prst="rect">
            <a:avLst/>
          </a:prstGeom>
          <a:noFill/>
          <a:ln/>
        </p:spPr>
        <p:txBody>
          <a:bodyPr wrap="square" lIns="0" tIns="0" rIns="0" bIns="0" rtlCol="0" anchor="ctr"/>
          <a:lstStyle/>
          <a:p>
            <a:pPr marL="0" indent="0" algn="ctr">
              <a:lnSpc>
                <a:spcPct val="95000"/>
              </a:lnSpc>
              <a:buNone/>
            </a:pPr>
            <a:r>
              <a:rPr lang="en-US" sz="1300" b="1" dirty="0">
                <a:solidFill>
                  <a:srgbClr val="0F172A"/>
                </a:solidFill>
                <a:latin typeface="Calibri" pitchFamily="34" charset="0"/>
                <a:ea typeface="Calibri" pitchFamily="34" charset="-122"/>
                <a:cs typeface="Calibri" pitchFamily="34" charset="-120"/>
              </a:rPr>
              <a:t>Data</a:t>
            </a:r>
            <a:endParaRPr lang="en-US" sz="1300" dirty="0"/>
          </a:p>
          <a:p>
            <a:pPr marL="0" indent="0" algn="ctr">
              <a:lnSpc>
                <a:spcPct val="95000"/>
              </a:lnSpc>
              <a:buNone/>
            </a:pPr>
            <a:r>
              <a:rPr lang="en-US" sz="1300" b="1" dirty="0">
                <a:solidFill>
                  <a:srgbClr val="0F172A"/>
                </a:solidFill>
                <a:latin typeface="Calibri" pitchFamily="34" charset="0"/>
                <a:ea typeface="Calibri" pitchFamily="34" charset="-122"/>
                <a:cs typeface="Calibri" pitchFamily="34" charset="-120"/>
              </a:rPr>
              <a:t>Understanding</a:t>
            </a:r>
            <a:endParaRPr lang="en-US" sz="1300" dirty="0"/>
          </a:p>
        </p:txBody>
      </p:sp>
      <p:sp>
        <p:nvSpPr>
          <p:cNvPr id="16" name="Text 12"/>
          <p:cNvSpPr/>
          <p:nvPr/>
        </p:nvSpPr>
        <p:spPr>
          <a:xfrm>
            <a:off x="2607412" y="3584448"/>
            <a:ext cx="1517904" cy="685800"/>
          </a:xfrm>
          <a:prstGeom prst="rect">
            <a:avLst/>
          </a:prstGeom>
          <a:noFill/>
          <a:ln/>
        </p:spPr>
        <p:txBody>
          <a:bodyPr wrap="square" lIns="0" tIns="0" rIns="0" bIns="0"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EDA fraude &amp; clients</a:t>
            </a:r>
            <a:endParaRPr lang="en-US" sz="1050" dirty="0"/>
          </a:p>
        </p:txBody>
      </p:sp>
      <p:sp>
        <p:nvSpPr>
          <p:cNvPr id="17" name="Text 13"/>
          <p:cNvSpPr/>
          <p:nvPr/>
        </p:nvSpPr>
        <p:spPr>
          <a:xfrm>
            <a:off x="4198468" y="2857500"/>
            <a:ext cx="182880" cy="548640"/>
          </a:xfrm>
          <a:prstGeom prst="rect">
            <a:avLst/>
          </a:prstGeom>
          <a:noFill/>
          <a:ln/>
        </p:spPr>
        <p:txBody>
          <a:bodyPr wrap="square" lIns="0" tIns="0" rIns="0" bIns="0" rtlCol="0" anchor="ctr"/>
          <a:lstStyle/>
          <a:p>
            <a:pPr marL="0" indent="0" algn="ctr">
              <a:buNone/>
            </a:pPr>
            <a:r>
              <a:rPr lang="en-US" sz="2600" b="1" dirty="0">
                <a:solidFill>
                  <a:srgbClr val="60A5FA"/>
                </a:solidFill>
                <a:latin typeface="Calibri" pitchFamily="34" charset="0"/>
                <a:ea typeface="Calibri" pitchFamily="34" charset="-122"/>
                <a:cs typeface="Calibri" pitchFamily="34" charset="-120"/>
              </a:rPr>
              <a:t>›</a:t>
            </a:r>
            <a:endParaRPr lang="en-US" sz="2600" dirty="0"/>
          </a:p>
        </p:txBody>
      </p:sp>
      <p:sp>
        <p:nvSpPr>
          <p:cNvPr id="18" name="Shape 14"/>
          <p:cNvSpPr/>
          <p:nvPr/>
        </p:nvSpPr>
        <p:spPr>
          <a:xfrm>
            <a:off x="4335628" y="2011680"/>
            <a:ext cx="1700784" cy="2331720"/>
          </a:xfrm>
          <a:prstGeom prst="roundRect">
            <a:avLst>
              <a:gd name="adj" fmla="val 376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19" name="Shape 15"/>
          <p:cNvSpPr/>
          <p:nvPr/>
        </p:nvSpPr>
        <p:spPr>
          <a:xfrm>
            <a:off x="4856836" y="2212848"/>
            <a:ext cx="658368" cy="658368"/>
          </a:xfrm>
          <a:prstGeom prst="ellipse">
            <a:avLst/>
          </a:prstGeom>
          <a:solidFill>
            <a:srgbClr val="7C3AED"/>
          </a:solidFill>
          <a:ln/>
        </p:spPr>
        <p:txBody>
          <a:bodyPr/>
          <a:lstStyle/>
          <a:p>
            <a:endParaRPr lang="fr-FR"/>
          </a:p>
        </p:txBody>
      </p:sp>
      <p:pic>
        <p:nvPicPr>
          <p:cNvPr id="20" name="Image 2" descr="preencoded.png"/>
          <p:cNvPicPr>
            <a:picLocks noChangeAspect="1"/>
          </p:cNvPicPr>
          <p:nvPr/>
        </p:nvPicPr>
        <p:blipFill>
          <a:blip r:embed="rId5"/>
          <a:stretch>
            <a:fillRect/>
          </a:stretch>
        </p:blipFill>
        <p:spPr>
          <a:xfrm>
            <a:off x="5012284" y="2368296"/>
            <a:ext cx="347472" cy="347472"/>
          </a:xfrm>
          <a:prstGeom prst="rect">
            <a:avLst/>
          </a:prstGeom>
        </p:spPr>
      </p:pic>
      <p:sp>
        <p:nvSpPr>
          <p:cNvPr id="21" name="Text 16"/>
          <p:cNvSpPr/>
          <p:nvPr/>
        </p:nvSpPr>
        <p:spPr>
          <a:xfrm>
            <a:off x="4445356" y="2121408"/>
            <a:ext cx="365760" cy="365760"/>
          </a:xfrm>
          <a:prstGeom prst="rect">
            <a:avLst/>
          </a:prstGeom>
          <a:noFill/>
          <a:ln/>
        </p:spPr>
        <p:txBody>
          <a:bodyPr wrap="square" lIns="0" tIns="0" rIns="0" bIns="0"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3</a:t>
            </a:r>
            <a:endParaRPr lang="en-US" sz="1500" dirty="0"/>
          </a:p>
        </p:txBody>
      </p:sp>
      <p:sp>
        <p:nvSpPr>
          <p:cNvPr id="22" name="Text 17"/>
          <p:cNvSpPr/>
          <p:nvPr/>
        </p:nvSpPr>
        <p:spPr>
          <a:xfrm>
            <a:off x="4381348" y="2971800"/>
            <a:ext cx="1609344" cy="640080"/>
          </a:xfrm>
          <a:prstGeom prst="rect">
            <a:avLst/>
          </a:prstGeom>
          <a:noFill/>
          <a:ln/>
        </p:spPr>
        <p:txBody>
          <a:bodyPr wrap="square" lIns="0" tIns="0" rIns="0" bIns="0" rtlCol="0" anchor="ctr"/>
          <a:lstStyle/>
          <a:p>
            <a:pPr marL="0" indent="0" algn="ctr">
              <a:lnSpc>
                <a:spcPct val="95000"/>
              </a:lnSpc>
              <a:buNone/>
            </a:pPr>
            <a:r>
              <a:rPr lang="en-US" sz="1300" b="1" dirty="0">
                <a:solidFill>
                  <a:srgbClr val="0F172A"/>
                </a:solidFill>
                <a:latin typeface="Calibri" pitchFamily="34" charset="0"/>
                <a:ea typeface="Calibri" pitchFamily="34" charset="-122"/>
                <a:cs typeface="Calibri" pitchFamily="34" charset="-120"/>
              </a:rPr>
              <a:t>Data</a:t>
            </a:r>
            <a:endParaRPr lang="en-US" sz="1300" dirty="0"/>
          </a:p>
          <a:p>
            <a:pPr marL="0" indent="0" algn="ctr">
              <a:lnSpc>
                <a:spcPct val="95000"/>
              </a:lnSpc>
              <a:buNone/>
            </a:pPr>
            <a:r>
              <a:rPr lang="en-US" sz="1300" b="1" dirty="0">
                <a:solidFill>
                  <a:srgbClr val="0F172A"/>
                </a:solidFill>
                <a:latin typeface="Calibri" pitchFamily="34" charset="0"/>
                <a:ea typeface="Calibri" pitchFamily="34" charset="-122"/>
                <a:cs typeface="Calibri" pitchFamily="34" charset="-120"/>
              </a:rPr>
              <a:t>Preparation</a:t>
            </a:r>
            <a:endParaRPr lang="en-US" sz="1300" dirty="0"/>
          </a:p>
        </p:txBody>
      </p:sp>
      <p:sp>
        <p:nvSpPr>
          <p:cNvPr id="23" name="Text 18"/>
          <p:cNvSpPr/>
          <p:nvPr/>
        </p:nvSpPr>
        <p:spPr>
          <a:xfrm>
            <a:off x="4427068" y="3584448"/>
            <a:ext cx="1517904" cy="685800"/>
          </a:xfrm>
          <a:prstGeom prst="rect">
            <a:avLst/>
          </a:prstGeom>
          <a:noFill/>
          <a:ln/>
        </p:spPr>
        <p:txBody>
          <a:bodyPr wrap="square" lIns="0" tIns="0" rIns="0" bIns="0"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Features, imputation, encodage</a:t>
            </a:r>
            <a:endParaRPr lang="en-US" sz="1050" dirty="0"/>
          </a:p>
        </p:txBody>
      </p:sp>
      <p:sp>
        <p:nvSpPr>
          <p:cNvPr id="24" name="Text 19"/>
          <p:cNvSpPr/>
          <p:nvPr/>
        </p:nvSpPr>
        <p:spPr>
          <a:xfrm>
            <a:off x="6018124" y="2857500"/>
            <a:ext cx="182880" cy="548640"/>
          </a:xfrm>
          <a:prstGeom prst="rect">
            <a:avLst/>
          </a:prstGeom>
          <a:noFill/>
          <a:ln/>
        </p:spPr>
        <p:txBody>
          <a:bodyPr wrap="square" lIns="0" tIns="0" rIns="0" bIns="0" rtlCol="0" anchor="ctr"/>
          <a:lstStyle/>
          <a:p>
            <a:pPr marL="0" indent="0" algn="ctr">
              <a:buNone/>
            </a:pPr>
            <a:r>
              <a:rPr lang="en-US" sz="2600" b="1" dirty="0">
                <a:solidFill>
                  <a:srgbClr val="60A5FA"/>
                </a:solidFill>
                <a:latin typeface="Calibri" pitchFamily="34" charset="0"/>
                <a:ea typeface="Calibri" pitchFamily="34" charset="-122"/>
                <a:cs typeface="Calibri" pitchFamily="34" charset="-120"/>
              </a:rPr>
              <a:t>›</a:t>
            </a:r>
            <a:endParaRPr lang="en-US" sz="2600" dirty="0"/>
          </a:p>
        </p:txBody>
      </p:sp>
      <p:sp>
        <p:nvSpPr>
          <p:cNvPr id="25" name="Shape 20"/>
          <p:cNvSpPr/>
          <p:nvPr/>
        </p:nvSpPr>
        <p:spPr>
          <a:xfrm>
            <a:off x="6155284" y="2011680"/>
            <a:ext cx="1700784" cy="2331720"/>
          </a:xfrm>
          <a:prstGeom prst="roundRect">
            <a:avLst>
              <a:gd name="adj" fmla="val 376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26" name="Shape 21"/>
          <p:cNvSpPr/>
          <p:nvPr/>
        </p:nvSpPr>
        <p:spPr>
          <a:xfrm>
            <a:off x="6676492" y="2212848"/>
            <a:ext cx="658368" cy="658368"/>
          </a:xfrm>
          <a:prstGeom prst="ellipse">
            <a:avLst/>
          </a:prstGeom>
          <a:solidFill>
            <a:srgbClr val="F59E0B"/>
          </a:solidFill>
          <a:ln/>
        </p:spPr>
        <p:txBody>
          <a:bodyPr/>
          <a:lstStyle/>
          <a:p>
            <a:endParaRPr lang="fr-FR"/>
          </a:p>
        </p:txBody>
      </p:sp>
      <p:pic>
        <p:nvPicPr>
          <p:cNvPr id="27" name="Image 3" descr="preencoded.png"/>
          <p:cNvPicPr>
            <a:picLocks noChangeAspect="1"/>
          </p:cNvPicPr>
          <p:nvPr/>
        </p:nvPicPr>
        <p:blipFill>
          <a:blip r:embed="rId6"/>
          <a:stretch>
            <a:fillRect/>
          </a:stretch>
        </p:blipFill>
        <p:spPr>
          <a:xfrm>
            <a:off x="6831940" y="2368296"/>
            <a:ext cx="347472" cy="347472"/>
          </a:xfrm>
          <a:prstGeom prst="rect">
            <a:avLst/>
          </a:prstGeom>
        </p:spPr>
      </p:pic>
      <p:sp>
        <p:nvSpPr>
          <p:cNvPr id="28" name="Text 22"/>
          <p:cNvSpPr/>
          <p:nvPr/>
        </p:nvSpPr>
        <p:spPr>
          <a:xfrm>
            <a:off x="6265012" y="2121408"/>
            <a:ext cx="365760" cy="365760"/>
          </a:xfrm>
          <a:prstGeom prst="rect">
            <a:avLst/>
          </a:prstGeom>
          <a:noFill/>
          <a:ln/>
        </p:spPr>
        <p:txBody>
          <a:bodyPr wrap="square" lIns="0" tIns="0" rIns="0" bIns="0" rtlCol="0" anchor="ctr"/>
          <a:lstStyle/>
          <a:p>
            <a:pPr marL="0" indent="0">
              <a:buNone/>
            </a:pPr>
            <a:r>
              <a:rPr lang="en-US" sz="1500" b="1" dirty="0">
                <a:solidFill>
                  <a:srgbClr val="F59E0B"/>
                </a:solidFill>
                <a:latin typeface="Calibri" pitchFamily="34" charset="0"/>
                <a:ea typeface="Calibri" pitchFamily="34" charset="-122"/>
                <a:cs typeface="Calibri" pitchFamily="34" charset="-120"/>
              </a:rPr>
              <a:t>4</a:t>
            </a:r>
            <a:endParaRPr lang="en-US" sz="1500" dirty="0"/>
          </a:p>
        </p:txBody>
      </p:sp>
      <p:sp>
        <p:nvSpPr>
          <p:cNvPr id="29" name="Text 23"/>
          <p:cNvSpPr/>
          <p:nvPr/>
        </p:nvSpPr>
        <p:spPr>
          <a:xfrm>
            <a:off x="6201004" y="2971800"/>
            <a:ext cx="1609344" cy="640080"/>
          </a:xfrm>
          <a:prstGeom prst="rect">
            <a:avLst/>
          </a:prstGeom>
          <a:noFill/>
          <a:ln/>
        </p:spPr>
        <p:txBody>
          <a:bodyPr wrap="square" lIns="0" tIns="0" rIns="0" bIns="0" rtlCol="0" anchor="ctr"/>
          <a:lstStyle/>
          <a:p>
            <a:pPr marL="0" indent="0" algn="ctr">
              <a:lnSpc>
                <a:spcPct val="95000"/>
              </a:lnSpc>
              <a:buNone/>
            </a:pPr>
            <a:r>
              <a:rPr lang="en-US" sz="1300" b="1" dirty="0">
                <a:solidFill>
                  <a:srgbClr val="0F172A"/>
                </a:solidFill>
                <a:latin typeface="Calibri" pitchFamily="34" charset="0"/>
                <a:ea typeface="Calibri" pitchFamily="34" charset="-122"/>
                <a:cs typeface="Calibri" pitchFamily="34" charset="-120"/>
              </a:rPr>
              <a:t>Modeling</a:t>
            </a:r>
            <a:endParaRPr lang="en-US" sz="1300" dirty="0"/>
          </a:p>
        </p:txBody>
      </p:sp>
      <p:sp>
        <p:nvSpPr>
          <p:cNvPr id="30" name="Text 24"/>
          <p:cNvSpPr/>
          <p:nvPr/>
        </p:nvSpPr>
        <p:spPr>
          <a:xfrm>
            <a:off x="6246724" y="3584448"/>
            <a:ext cx="1517904" cy="685800"/>
          </a:xfrm>
          <a:prstGeom prst="rect">
            <a:avLst/>
          </a:prstGeom>
          <a:noFill/>
          <a:ln/>
        </p:spPr>
        <p:txBody>
          <a:bodyPr wrap="square" lIns="0" tIns="0" rIns="0" bIns="0"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5 modèles fraude · 4 clustering</a:t>
            </a:r>
            <a:endParaRPr lang="en-US" sz="1050" dirty="0"/>
          </a:p>
        </p:txBody>
      </p:sp>
      <p:sp>
        <p:nvSpPr>
          <p:cNvPr id="31" name="Text 25"/>
          <p:cNvSpPr/>
          <p:nvPr/>
        </p:nvSpPr>
        <p:spPr>
          <a:xfrm>
            <a:off x="7837780" y="2857500"/>
            <a:ext cx="182880" cy="548640"/>
          </a:xfrm>
          <a:prstGeom prst="rect">
            <a:avLst/>
          </a:prstGeom>
          <a:noFill/>
          <a:ln/>
        </p:spPr>
        <p:txBody>
          <a:bodyPr wrap="square" lIns="0" tIns="0" rIns="0" bIns="0" rtlCol="0" anchor="ctr"/>
          <a:lstStyle/>
          <a:p>
            <a:pPr marL="0" indent="0" algn="ctr">
              <a:buNone/>
            </a:pPr>
            <a:r>
              <a:rPr lang="en-US" sz="2600" b="1" dirty="0">
                <a:solidFill>
                  <a:srgbClr val="60A5FA"/>
                </a:solidFill>
                <a:latin typeface="Calibri" pitchFamily="34" charset="0"/>
                <a:ea typeface="Calibri" pitchFamily="34" charset="-122"/>
                <a:cs typeface="Calibri" pitchFamily="34" charset="-120"/>
              </a:rPr>
              <a:t>›</a:t>
            </a:r>
            <a:endParaRPr lang="en-US" sz="2600" dirty="0"/>
          </a:p>
        </p:txBody>
      </p:sp>
      <p:sp>
        <p:nvSpPr>
          <p:cNvPr id="32" name="Shape 26"/>
          <p:cNvSpPr/>
          <p:nvPr/>
        </p:nvSpPr>
        <p:spPr>
          <a:xfrm>
            <a:off x="7974940" y="2011680"/>
            <a:ext cx="1700784" cy="2331720"/>
          </a:xfrm>
          <a:prstGeom prst="roundRect">
            <a:avLst>
              <a:gd name="adj" fmla="val 376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33" name="Shape 27"/>
          <p:cNvSpPr/>
          <p:nvPr/>
        </p:nvSpPr>
        <p:spPr>
          <a:xfrm>
            <a:off x="8496148" y="2212848"/>
            <a:ext cx="658368" cy="658368"/>
          </a:xfrm>
          <a:prstGeom prst="ellipse">
            <a:avLst/>
          </a:prstGeom>
          <a:solidFill>
            <a:srgbClr val="DC2626"/>
          </a:solidFill>
          <a:ln/>
        </p:spPr>
        <p:txBody>
          <a:bodyPr/>
          <a:lstStyle/>
          <a:p>
            <a:endParaRPr lang="fr-FR"/>
          </a:p>
        </p:txBody>
      </p:sp>
      <p:pic>
        <p:nvPicPr>
          <p:cNvPr id="34" name="Image 4" descr="preencoded.png"/>
          <p:cNvPicPr>
            <a:picLocks noChangeAspect="1"/>
          </p:cNvPicPr>
          <p:nvPr/>
        </p:nvPicPr>
        <p:blipFill>
          <a:blip r:embed="rId7"/>
          <a:stretch>
            <a:fillRect/>
          </a:stretch>
        </p:blipFill>
        <p:spPr>
          <a:xfrm>
            <a:off x="8651596" y="2368296"/>
            <a:ext cx="347472" cy="347472"/>
          </a:xfrm>
          <a:prstGeom prst="rect">
            <a:avLst/>
          </a:prstGeom>
        </p:spPr>
      </p:pic>
      <p:sp>
        <p:nvSpPr>
          <p:cNvPr id="35" name="Text 28"/>
          <p:cNvSpPr/>
          <p:nvPr/>
        </p:nvSpPr>
        <p:spPr>
          <a:xfrm>
            <a:off x="8084668" y="2121408"/>
            <a:ext cx="365760" cy="365760"/>
          </a:xfrm>
          <a:prstGeom prst="rect">
            <a:avLst/>
          </a:prstGeom>
          <a:noFill/>
          <a:ln/>
        </p:spPr>
        <p:txBody>
          <a:bodyPr wrap="square" lIns="0" tIns="0" rIns="0" bIns="0" rtlCol="0" anchor="ctr"/>
          <a:lstStyle/>
          <a:p>
            <a:pPr marL="0" indent="0">
              <a:buNone/>
            </a:pPr>
            <a:r>
              <a:rPr lang="en-US" sz="1500" b="1" dirty="0">
                <a:solidFill>
                  <a:srgbClr val="DC2626"/>
                </a:solidFill>
                <a:latin typeface="Calibri" pitchFamily="34" charset="0"/>
                <a:ea typeface="Calibri" pitchFamily="34" charset="-122"/>
                <a:cs typeface="Calibri" pitchFamily="34" charset="-120"/>
              </a:rPr>
              <a:t>5</a:t>
            </a:r>
            <a:endParaRPr lang="en-US" sz="1500" dirty="0"/>
          </a:p>
        </p:txBody>
      </p:sp>
      <p:sp>
        <p:nvSpPr>
          <p:cNvPr id="36" name="Text 29"/>
          <p:cNvSpPr/>
          <p:nvPr/>
        </p:nvSpPr>
        <p:spPr>
          <a:xfrm>
            <a:off x="8020660" y="2971800"/>
            <a:ext cx="1609344" cy="640080"/>
          </a:xfrm>
          <a:prstGeom prst="rect">
            <a:avLst/>
          </a:prstGeom>
          <a:noFill/>
          <a:ln/>
        </p:spPr>
        <p:txBody>
          <a:bodyPr wrap="square" lIns="0" tIns="0" rIns="0" bIns="0" rtlCol="0" anchor="ctr"/>
          <a:lstStyle/>
          <a:p>
            <a:pPr marL="0" indent="0" algn="ctr">
              <a:lnSpc>
                <a:spcPct val="95000"/>
              </a:lnSpc>
              <a:buNone/>
            </a:pPr>
            <a:r>
              <a:rPr lang="en-US" sz="1300" b="1" dirty="0">
                <a:solidFill>
                  <a:srgbClr val="0F172A"/>
                </a:solidFill>
                <a:latin typeface="Calibri" pitchFamily="34" charset="0"/>
                <a:ea typeface="Calibri" pitchFamily="34" charset="-122"/>
                <a:cs typeface="Calibri" pitchFamily="34" charset="-120"/>
              </a:rPr>
              <a:t>Evaluation</a:t>
            </a:r>
            <a:endParaRPr lang="en-US" sz="1300" dirty="0"/>
          </a:p>
        </p:txBody>
      </p:sp>
      <p:sp>
        <p:nvSpPr>
          <p:cNvPr id="37" name="Text 30"/>
          <p:cNvSpPr/>
          <p:nvPr/>
        </p:nvSpPr>
        <p:spPr>
          <a:xfrm>
            <a:off x="8066380" y="3584448"/>
            <a:ext cx="1517904" cy="685800"/>
          </a:xfrm>
          <a:prstGeom prst="rect">
            <a:avLst/>
          </a:prstGeom>
          <a:noFill/>
          <a:ln/>
        </p:spPr>
        <p:txBody>
          <a:bodyPr wrap="square" lIns="0" tIns="0" rIns="0" bIns="0"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PR-AUC, seuil, silhouette</a:t>
            </a:r>
            <a:endParaRPr lang="en-US" sz="1050" dirty="0"/>
          </a:p>
        </p:txBody>
      </p:sp>
      <p:sp>
        <p:nvSpPr>
          <p:cNvPr id="38" name="Text 31"/>
          <p:cNvSpPr/>
          <p:nvPr/>
        </p:nvSpPr>
        <p:spPr>
          <a:xfrm>
            <a:off x="9657436" y="2857500"/>
            <a:ext cx="182880" cy="548640"/>
          </a:xfrm>
          <a:prstGeom prst="rect">
            <a:avLst/>
          </a:prstGeom>
          <a:noFill/>
          <a:ln/>
        </p:spPr>
        <p:txBody>
          <a:bodyPr wrap="square" lIns="0" tIns="0" rIns="0" bIns="0" rtlCol="0" anchor="ctr"/>
          <a:lstStyle/>
          <a:p>
            <a:pPr marL="0" indent="0" algn="ctr">
              <a:buNone/>
            </a:pPr>
            <a:r>
              <a:rPr lang="en-US" sz="2600" b="1" dirty="0">
                <a:solidFill>
                  <a:srgbClr val="60A5FA"/>
                </a:solidFill>
                <a:latin typeface="Calibri" pitchFamily="34" charset="0"/>
                <a:ea typeface="Calibri" pitchFamily="34" charset="-122"/>
                <a:cs typeface="Calibri" pitchFamily="34" charset="-120"/>
              </a:rPr>
              <a:t>›</a:t>
            </a:r>
            <a:endParaRPr lang="en-US" sz="2600" dirty="0"/>
          </a:p>
        </p:txBody>
      </p:sp>
      <p:sp>
        <p:nvSpPr>
          <p:cNvPr id="39" name="Shape 32"/>
          <p:cNvSpPr/>
          <p:nvPr/>
        </p:nvSpPr>
        <p:spPr>
          <a:xfrm>
            <a:off x="9794596" y="2011680"/>
            <a:ext cx="1700784" cy="2331720"/>
          </a:xfrm>
          <a:prstGeom prst="roundRect">
            <a:avLst>
              <a:gd name="adj" fmla="val 376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40" name="Shape 33"/>
          <p:cNvSpPr/>
          <p:nvPr/>
        </p:nvSpPr>
        <p:spPr>
          <a:xfrm>
            <a:off x="10315804" y="2212848"/>
            <a:ext cx="658368" cy="658368"/>
          </a:xfrm>
          <a:prstGeom prst="ellipse">
            <a:avLst/>
          </a:prstGeom>
          <a:solidFill>
            <a:srgbClr val="059669"/>
          </a:solidFill>
          <a:ln/>
        </p:spPr>
        <p:txBody>
          <a:bodyPr/>
          <a:lstStyle/>
          <a:p>
            <a:endParaRPr lang="fr-FR"/>
          </a:p>
        </p:txBody>
      </p:sp>
      <p:pic>
        <p:nvPicPr>
          <p:cNvPr id="41" name="Image 5" descr="preencoded.png"/>
          <p:cNvPicPr>
            <a:picLocks noChangeAspect="1"/>
          </p:cNvPicPr>
          <p:nvPr/>
        </p:nvPicPr>
        <p:blipFill>
          <a:blip r:embed="rId8"/>
          <a:stretch>
            <a:fillRect/>
          </a:stretch>
        </p:blipFill>
        <p:spPr>
          <a:xfrm>
            <a:off x="10471252" y="2368296"/>
            <a:ext cx="347472" cy="347472"/>
          </a:xfrm>
          <a:prstGeom prst="rect">
            <a:avLst/>
          </a:prstGeom>
        </p:spPr>
      </p:pic>
      <p:sp>
        <p:nvSpPr>
          <p:cNvPr id="42" name="Text 34"/>
          <p:cNvSpPr/>
          <p:nvPr/>
        </p:nvSpPr>
        <p:spPr>
          <a:xfrm>
            <a:off x="9904324" y="2121408"/>
            <a:ext cx="365760" cy="365760"/>
          </a:xfrm>
          <a:prstGeom prst="rect">
            <a:avLst/>
          </a:prstGeom>
          <a:noFill/>
          <a:ln/>
        </p:spPr>
        <p:txBody>
          <a:bodyPr wrap="square" lIns="0" tIns="0" rIns="0" bIns="0" rtlCol="0" anchor="ctr"/>
          <a:lstStyle/>
          <a:p>
            <a:pPr marL="0" indent="0">
              <a:buNone/>
            </a:pPr>
            <a:r>
              <a:rPr lang="en-US" sz="1500" b="1" dirty="0">
                <a:solidFill>
                  <a:srgbClr val="059669"/>
                </a:solidFill>
                <a:latin typeface="Calibri" pitchFamily="34" charset="0"/>
                <a:ea typeface="Calibri" pitchFamily="34" charset="-122"/>
                <a:cs typeface="Calibri" pitchFamily="34" charset="-120"/>
              </a:rPr>
              <a:t>6</a:t>
            </a:r>
            <a:endParaRPr lang="en-US" sz="1500" dirty="0"/>
          </a:p>
        </p:txBody>
      </p:sp>
      <p:sp>
        <p:nvSpPr>
          <p:cNvPr id="43" name="Text 35"/>
          <p:cNvSpPr/>
          <p:nvPr/>
        </p:nvSpPr>
        <p:spPr>
          <a:xfrm>
            <a:off x="9840316" y="2971800"/>
            <a:ext cx="1609344" cy="640080"/>
          </a:xfrm>
          <a:prstGeom prst="rect">
            <a:avLst/>
          </a:prstGeom>
          <a:noFill/>
          <a:ln/>
        </p:spPr>
        <p:txBody>
          <a:bodyPr wrap="square" lIns="0" tIns="0" rIns="0" bIns="0" rtlCol="0" anchor="ctr"/>
          <a:lstStyle/>
          <a:p>
            <a:pPr marL="0" indent="0" algn="ctr">
              <a:lnSpc>
                <a:spcPct val="95000"/>
              </a:lnSpc>
              <a:buNone/>
            </a:pPr>
            <a:r>
              <a:rPr lang="en-US" sz="1300" b="1" dirty="0">
                <a:solidFill>
                  <a:srgbClr val="0F172A"/>
                </a:solidFill>
                <a:latin typeface="Calibri" pitchFamily="34" charset="0"/>
                <a:ea typeface="Calibri" pitchFamily="34" charset="-122"/>
                <a:cs typeface="Calibri" pitchFamily="34" charset="-120"/>
              </a:rPr>
              <a:t>Deployment</a:t>
            </a:r>
            <a:endParaRPr lang="en-US" sz="1300" dirty="0"/>
          </a:p>
        </p:txBody>
      </p:sp>
      <p:sp>
        <p:nvSpPr>
          <p:cNvPr id="44" name="Text 36"/>
          <p:cNvSpPr/>
          <p:nvPr/>
        </p:nvSpPr>
        <p:spPr>
          <a:xfrm>
            <a:off x="9886036" y="3584448"/>
            <a:ext cx="1517904" cy="685800"/>
          </a:xfrm>
          <a:prstGeom prst="rect">
            <a:avLst/>
          </a:prstGeom>
          <a:noFill/>
          <a:ln/>
        </p:spPr>
        <p:txBody>
          <a:bodyPr wrap="square" lIns="0" tIns="0" rIns="0" bIns="0" rtlCol="0" anchor="ctr"/>
          <a:lstStyle/>
          <a:p>
            <a:pPr marL="0" indent="0" algn="ctr">
              <a:lnSpc>
                <a:spcPct val="100000"/>
              </a:lnSpc>
              <a:buNone/>
            </a:pPr>
            <a:r>
              <a:rPr lang="en-US" sz="1050" dirty="0">
                <a:solidFill>
                  <a:srgbClr val="64748B"/>
                </a:solidFill>
                <a:latin typeface="Calibri" pitchFamily="34" charset="0"/>
                <a:ea typeface="Calibri" pitchFamily="34" charset="-122"/>
                <a:cs typeface="Calibri" pitchFamily="34" charset="-120"/>
              </a:rPr>
              <a:t>API + Dashboard</a:t>
            </a:r>
            <a:endParaRPr lang="en-US" sz="1050" dirty="0"/>
          </a:p>
        </p:txBody>
      </p:sp>
      <p:sp>
        <p:nvSpPr>
          <p:cNvPr id="45" name="Shape 37"/>
          <p:cNvSpPr/>
          <p:nvPr/>
        </p:nvSpPr>
        <p:spPr>
          <a:xfrm>
            <a:off x="502920" y="4800600"/>
            <a:ext cx="11183112" cy="566928"/>
          </a:xfrm>
          <a:prstGeom prst="roundRect">
            <a:avLst>
              <a:gd name="adj" fmla="val 9677"/>
            </a:avLst>
          </a:prstGeom>
          <a:solidFill>
            <a:srgbClr val="DBEAFE"/>
          </a:solidFill>
          <a:ln/>
        </p:spPr>
        <p:txBody>
          <a:bodyPr/>
          <a:lstStyle/>
          <a:p>
            <a:endParaRPr lang="fr-FR"/>
          </a:p>
        </p:txBody>
      </p:sp>
      <p:sp>
        <p:nvSpPr>
          <p:cNvPr id="46" name="Text 38"/>
          <p:cNvSpPr/>
          <p:nvPr/>
        </p:nvSpPr>
        <p:spPr>
          <a:xfrm>
            <a:off x="713232" y="4800600"/>
            <a:ext cx="10771632" cy="566928"/>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À retenir   </a:t>
            </a:r>
            <a:r>
              <a:rPr lang="en-US" sz="1300" dirty="0">
                <a:solidFill>
                  <a:srgbClr val="1E293B"/>
                </a:solidFill>
                <a:latin typeface="Calibri" pitchFamily="34" charset="0"/>
                <a:ea typeface="Calibri" pitchFamily="34" charset="-122"/>
                <a:cs typeface="Calibri" pitchFamily="34" charset="-120"/>
              </a:rPr>
              <a:t>Chaque phase est tracée et reproductible — la rigueur méthodologique conditionne la confiance métier dans le modèle.</a:t>
            </a:r>
            <a:endParaRPr lang="en-US" sz="1300" dirty="0"/>
          </a:p>
        </p:txBody>
      </p:sp>
      <p:sp>
        <p:nvSpPr>
          <p:cNvPr id="47" name="Text 39"/>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48" name="Text 40"/>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LES DONNÉES</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Deux jeux de données, deux logiques : une classe rare vs. une interprétation métier</a:t>
            </a:r>
            <a:endParaRPr lang="en-US" sz="2500" dirty="0"/>
          </a:p>
        </p:txBody>
      </p:sp>
      <p:sp>
        <p:nvSpPr>
          <p:cNvPr id="4" name="Shape 2"/>
          <p:cNvSpPr/>
          <p:nvPr/>
        </p:nvSpPr>
        <p:spPr>
          <a:xfrm>
            <a:off x="502920" y="1645920"/>
            <a:ext cx="5486400" cy="3566160"/>
          </a:xfrm>
          <a:prstGeom prst="roundRect">
            <a:avLst>
              <a:gd name="adj" fmla="val 2051"/>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5" name="Shape 3"/>
          <p:cNvSpPr/>
          <p:nvPr/>
        </p:nvSpPr>
        <p:spPr>
          <a:xfrm>
            <a:off x="777240" y="1874520"/>
            <a:ext cx="603504" cy="603504"/>
          </a:xfrm>
          <a:prstGeom prst="ellipse">
            <a:avLst/>
          </a:prstGeom>
          <a:solidFill>
            <a:srgbClr val="DC2626"/>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932688" y="2029968"/>
            <a:ext cx="292608" cy="292608"/>
          </a:xfrm>
          <a:prstGeom prst="rect">
            <a:avLst/>
          </a:prstGeom>
        </p:spPr>
      </p:pic>
      <p:sp>
        <p:nvSpPr>
          <p:cNvPr id="7" name="Text 4"/>
          <p:cNvSpPr/>
          <p:nvPr/>
        </p:nvSpPr>
        <p:spPr>
          <a:xfrm>
            <a:off x="1508760" y="1874520"/>
            <a:ext cx="4297680" cy="603504"/>
          </a:xfrm>
          <a:prstGeom prst="rect">
            <a:avLst/>
          </a:prstGeom>
          <a:noFill/>
          <a:ln/>
        </p:spPr>
        <p:txBody>
          <a:bodyPr wrap="square" lIns="0" tIns="0" rIns="0" bIns="0" rtlCol="0" anchor="ctr"/>
          <a:lstStyle/>
          <a:p>
            <a:pPr marL="0" indent="0">
              <a:buNone/>
            </a:pPr>
            <a:r>
              <a:rPr lang="en-US" sz="1900" b="1" dirty="0">
                <a:solidFill>
                  <a:srgbClr val="0F172A"/>
                </a:solidFill>
                <a:latin typeface="Calibri" pitchFamily="34" charset="0"/>
                <a:ea typeface="Calibri" pitchFamily="34" charset="-122"/>
                <a:cs typeface="Calibri" pitchFamily="34" charset="-120"/>
              </a:rPr>
              <a:t>Détection de fraude</a:t>
            </a:r>
            <a:endParaRPr lang="en-US" sz="1900" dirty="0"/>
          </a:p>
        </p:txBody>
      </p:sp>
      <p:sp>
        <p:nvSpPr>
          <p:cNvPr id="8" name="Text 5"/>
          <p:cNvSpPr/>
          <p:nvPr/>
        </p:nvSpPr>
        <p:spPr>
          <a:xfrm>
            <a:off x="777240" y="2651760"/>
            <a:ext cx="2560320" cy="868680"/>
          </a:xfrm>
          <a:prstGeom prst="rect">
            <a:avLst/>
          </a:prstGeom>
          <a:noFill/>
          <a:ln/>
        </p:spPr>
        <p:txBody>
          <a:bodyPr wrap="square" lIns="0" tIns="0" rIns="0" bIns="0" rtlCol="0" anchor="ctr"/>
          <a:lstStyle/>
          <a:p>
            <a:pPr marL="0" indent="0">
              <a:buNone/>
            </a:pPr>
            <a:r>
              <a:rPr lang="en-US" sz="3000" b="1" dirty="0">
                <a:solidFill>
                  <a:srgbClr val="DC2626"/>
                </a:solidFill>
                <a:latin typeface="Calibri" pitchFamily="34" charset="0"/>
                <a:ea typeface="Calibri" pitchFamily="34" charset="-122"/>
                <a:cs typeface="Calibri" pitchFamily="34" charset="-120"/>
              </a:rPr>
              <a:t>1 048 575</a:t>
            </a:r>
            <a:endParaRPr lang="en-US" sz="3000" dirty="0"/>
          </a:p>
          <a:p>
            <a:pPr marL="0" indent="0">
              <a:buNone/>
            </a:pPr>
            <a:r>
              <a:rPr lang="en-US" sz="1200" dirty="0">
                <a:solidFill>
                  <a:srgbClr val="64748B"/>
                </a:solidFill>
                <a:latin typeface="Calibri" pitchFamily="34" charset="0"/>
                <a:ea typeface="Calibri" pitchFamily="34" charset="-122"/>
                <a:cs typeface="Calibri" pitchFamily="34" charset="-120"/>
              </a:rPr>
              <a:t>transactions analysées</a:t>
            </a:r>
            <a:endParaRPr lang="en-US" sz="3000" dirty="0"/>
          </a:p>
        </p:txBody>
      </p:sp>
      <p:sp>
        <p:nvSpPr>
          <p:cNvPr id="9" name="Text 6"/>
          <p:cNvSpPr/>
          <p:nvPr/>
        </p:nvSpPr>
        <p:spPr>
          <a:xfrm>
            <a:off x="3291840" y="2651760"/>
            <a:ext cx="2560320" cy="868680"/>
          </a:xfrm>
          <a:prstGeom prst="rect">
            <a:avLst/>
          </a:prstGeom>
          <a:noFill/>
          <a:ln/>
        </p:spPr>
        <p:txBody>
          <a:bodyPr wrap="square" lIns="0" tIns="0" rIns="0" bIns="0" rtlCol="0" anchor="ctr"/>
          <a:lstStyle/>
          <a:p>
            <a:pPr marL="0" indent="0">
              <a:buNone/>
            </a:pPr>
            <a:r>
              <a:rPr lang="en-US" sz="3000" b="1" dirty="0">
                <a:solidFill>
                  <a:srgbClr val="DC2626"/>
                </a:solidFill>
                <a:latin typeface="Calibri" pitchFamily="34" charset="0"/>
                <a:ea typeface="Calibri" pitchFamily="34" charset="-122"/>
                <a:cs typeface="Calibri" pitchFamily="34" charset="-120"/>
              </a:rPr>
              <a:t>0,11 %</a:t>
            </a:r>
            <a:endParaRPr lang="en-US" sz="3000" dirty="0"/>
          </a:p>
          <a:p>
            <a:pPr marL="0" indent="0">
              <a:buNone/>
            </a:pPr>
            <a:r>
              <a:rPr lang="en-US" sz="1200" dirty="0">
                <a:solidFill>
                  <a:srgbClr val="64748B"/>
                </a:solidFill>
                <a:latin typeface="Calibri" pitchFamily="34" charset="0"/>
                <a:ea typeface="Calibri" pitchFamily="34" charset="-122"/>
                <a:cs typeface="Calibri" pitchFamily="34" charset="-120"/>
              </a:rPr>
              <a:t>de transactions frauduleuses</a:t>
            </a:r>
            <a:endParaRPr lang="en-US" sz="3000" dirty="0"/>
          </a:p>
        </p:txBody>
      </p:sp>
      <p:sp>
        <p:nvSpPr>
          <p:cNvPr id="10" name="Text 7"/>
          <p:cNvSpPr/>
          <p:nvPr/>
        </p:nvSpPr>
        <p:spPr>
          <a:xfrm>
            <a:off x="777240" y="3611880"/>
            <a:ext cx="4937760" cy="1371600"/>
          </a:xfrm>
          <a:prstGeom prst="rect">
            <a:avLst/>
          </a:prstGeom>
          <a:noFill/>
          <a:ln/>
        </p:spPr>
        <p:txBody>
          <a:bodyPr wrap="square" lIns="0" tIns="0" rIns="0" bIns="0" rtlCol="0" anchor="t"/>
          <a:lstStyle/>
          <a:p>
            <a:pPr marL="0" indent="0">
              <a:lnSpc>
                <a:spcPct val="105000"/>
              </a:lnSpc>
              <a:buNone/>
            </a:pPr>
            <a:r>
              <a:rPr lang="en-US" sz="1300" b="1" dirty="0">
                <a:solidFill>
                  <a:srgbClr val="1E293B"/>
                </a:solidFill>
                <a:latin typeface="Calibri" pitchFamily="34" charset="0"/>
                <a:ea typeface="Calibri" pitchFamily="34" charset="-122"/>
                <a:cs typeface="Calibri" pitchFamily="34" charset="-120"/>
              </a:rPr>
              <a:t>Défi : classe extrêmement rare</a:t>
            </a:r>
            <a:endParaRPr lang="en-US" sz="1300" dirty="0"/>
          </a:p>
          <a:p>
            <a:pPr marL="0" indent="0">
              <a:lnSpc>
                <a:spcPct val="105000"/>
              </a:lnSpc>
              <a:buNone/>
            </a:pPr>
            <a:r>
              <a:rPr lang="en-US" sz="1150" dirty="0">
                <a:solidFill>
                  <a:srgbClr val="64748B"/>
                </a:solidFill>
                <a:latin typeface="Calibri" pitchFamily="34" charset="0"/>
                <a:ea typeface="Calibri" pitchFamily="34" charset="-122"/>
                <a:cs typeface="Calibri" pitchFamily="34" charset="-120"/>
              </a:rPr>
              <a:t>→ l'accuracy est trompeuse (99,9 % en prédisant « jamais fraude »). On pilote au rappel et à la PR-AUC.</a:t>
            </a:r>
            <a:endParaRPr lang="en-US" sz="1300" dirty="0"/>
          </a:p>
        </p:txBody>
      </p:sp>
      <p:sp>
        <p:nvSpPr>
          <p:cNvPr id="11" name="Shape 8"/>
          <p:cNvSpPr/>
          <p:nvPr/>
        </p:nvSpPr>
        <p:spPr>
          <a:xfrm>
            <a:off x="6199632" y="1645920"/>
            <a:ext cx="5486400" cy="3566160"/>
          </a:xfrm>
          <a:prstGeom prst="roundRect">
            <a:avLst>
              <a:gd name="adj" fmla="val 2051"/>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12" name="Shape 9"/>
          <p:cNvSpPr/>
          <p:nvPr/>
        </p:nvSpPr>
        <p:spPr>
          <a:xfrm>
            <a:off x="6473952" y="1874520"/>
            <a:ext cx="603504" cy="603504"/>
          </a:xfrm>
          <a:prstGeom prst="ellipse">
            <a:avLst/>
          </a:prstGeom>
          <a:solidFill>
            <a:srgbClr val="7C3AED"/>
          </a:solidFill>
          <a:ln/>
        </p:spPr>
        <p:txBody>
          <a:bodyPr/>
          <a:lstStyle/>
          <a:p>
            <a:endParaRPr lang="fr-FR"/>
          </a:p>
        </p:txBody>
      </p:sp>
      <p:pic>
        <p:nvPicPr>
          <p:cNvPr id="13" name="Image 1" descr="preencoded.png"/>
          <p:cNvPicPr>
            <a:picLocks noChangeAspect="1"/>
          </p:cNvPicPr>
          <p:nvPr/>
        </p:nvPicPr>
        <p:blipFill>
          <a:blip r:embed="rId4"/>
          <a:stretch>
            <a:fillRect/>
          </a:stretch>
        </p:blipFill>
        <p:spPr>
          <a:xfrm>
            <a:off x="6629400" y="2029968"/>
            <a:ext cx="292608" cy="292608"/>
          </a:xfrm>
          <a:prstGeom prst="rect">
            <a:avLst/>
          </a:prstGeom>
        </p:spPr>
      </p:pic>
      <p:sp>
        <p:nvSpPr>
          <p:cNvPr id="14" name="Text 10"/>
          <p:cNvSpPr/>
          <p:nvPr/>
        </p:nvSpPr>
        <p:spPr>
          <a:xfrm>
            <a:off x="7205472" y="1874520"/>
            <a:ext cx="4297680" cy="603504"/>
          </a:xfrm>
          <a:prstGeom prst="rect">
            <a:avLst/>
          </a:prstGeom>
          <a:noFill/>
          <a:ln/>
        </p:spPr>
        <p:txBody>
          <a:bodyPr wrap="square" lIns="0" tIns="0" rIns="0" bIns="0" rtlCol="0" anchor="ctr"/>
          <a:lstStyle/>
          <a:p>
            <a:pPr marL="0" indent="0">
              <a:buNone/>
            </a:pPr>
            <a:r>
              <a:rPr lang="en-US" sz="1900" b="1" dirty="0">
                <a:solidFill>
                  <a:srgbClr val="0F172A"/>
                </a:solidFill>
                <a:latin typeface="Calibri" pitchFamily="34" charset="0"/>
                <a:ea typeface="Calibri" pitchFamily="34" charset="-122"/>
                <a:cs typeface="Calibri" pitchFamily="34" charset="-120"/>
              </a:rPr>
              <a:t>Segmentation client</a:t>
            </a:r>
            <a:endParaRPr lang="en-US" sz="1900" dirty="0"/>
          </a:p>
        </p:txBody>
      </p:sp>
      <p:sp>
        <p:nvSpPr>
          <p:cNvPr id="15" name="Text 11"/>
          <p:cNvSpPr/>
          <p:nvPr/>
        </p:nvSpPr>
        <p:spPr>
          <a:xfrm>
            <a:off x="6473952" y="2651760"/>
            <a:ext cx="2468880" cy="868680"/>
          </a:xfrm>
          <a:prstGeom prst="rect">
            <a:avLst/>
          </a:prstGeom>
          <a:noFill/>
          <a:ln/>
        </p:spPr>
        <p:txBody>
          <a:bodyPr wrap="square" lIns="0" tIns="0" rIns="0" bIns="0" rtlCol="0" anchor="ctr"/>
          <a:lstStyle/>
          <a:p>
            <a:pPr marL="0" indent="0">
              <a:buNone/>
            </a:pPr>
            <a:r>
              <a:rPr lang="en-US" sz="3000" b="1" dirty="0">
                <a:solidFill>
                  <a:srgbClr val="7C3AED"/>
                </a:solidFill>
                <a:latin typeface="Calibri" pitchFamily="34" charset="0"/>
                <a:ea typeface="Calibri" pitchFamily="34" charset="-122"/>
                <a:cs typeface="Calibri" pitchFamily="34" charset="-120"/>
              </a:rPr>
              <a:t>2 240</a:t>
            </a:r>
            <a:endParaRPr lang="en-US" sz="3000" dirty="0"/>
          </a:p>
          <a:p>
            <a:pPr marL="0" indent="0">
              <a:buNone/>
            </a:pPr>
            <a:r>
              <a:rPr lang="en-US" sz="1200" dirty="0">
                <a:solidFill>
                  <a:srgbClr val="64748B"/>
                </a:solidFill>
                <a:latin typeface="Calibri" pitchFamily="34" charset="0"/>
                <a:ea typeface="Calibri" pitchFamily="34" charset="-122"/>
                <a:cs typeface="Calibri" pitchFamily="34" charset="-120"/>
              </a:rPr>
              <a:t>clients profilés</a:t>
            </a:r>
            <a:endParaRPr lang="en-US" sz="3000" dirty="0"/>
          </a:p>
        </p:txBody>
      </p:sp>
      <p:sp>
        <p:nvSpPr>
          <p:cNvPr id="16" name="Text 12"/>
          <p:cNvSpPr/>
          <p:nvPr/>
        </p:nvSpPr>
        <p:spPr>
          <a:xfrm>
            <a:off x="8961120" y="2651760"/>
            <a:ext cx="2560320" cy="868680"/>
          </a:xfrm>
          <a:prstGeom prst="rect">
            <a:avLst/>
          </a:prstGeom>
          <a:noFill/>
          <a:ln/>
        </p:spPr>
        <p:txBody>
          <a:bodyPr wrap="square" lIns="0" tIns="0" rIns="0" bIns="0" rtlCol="0" anchor="ctr"/>
          <a:lstStyle/>
          <a:p>
            <a:pPr marL="0" indent="0">
              <a:buNone/>
            </a:pPr>
            <a:r>
              <a:rPr lang="en-US" sz="3000" b="1" dirty="0">
                <a:solidFill>
                  <a:srgbClr val="7C3AED"/>
                </a:solidFill>
                <a:latin typeface="Calibri" pitchFamily="34" charset="0"/>
                <a:ea typeface="Calibri" pitchFamily="34" charset="-122"/>
                <a:cs typeface="Calibri" pitchFamily="34" charset="-120"/>
              </a:rPr>
              <a:t>24</a:t>
            </a:r>
            <a:endParaRPr lang="en-US" sz="3000" dirty="0"/>
          </a:p>
          <a:p>
            <a:pPr marL="0" indent="0">
              <a:buNone/>
            </a:pPr>
            <a:r>
              <a:rPr lang="en-US" sz="1200" dirty="0">
                <a:solidFill>
                  <a:srgbClr val="64748B"/>
                </a:solidFill>
                <a:latin typeface="Calibri" pitchFamily="34" charset="0"/>
                <a:ea typeface="Calibri" pitchFamily="34" charset="-122"/>
                <a:cs typeface="Calibri" pitchFamily="34" charset="-120"/>
              </a:rPr>
              <a:t>revenus manquants (imputés)</a:t>
            </a:r>
            <a:endParaRPr lang="en-US" sz="3000" dirty="0"/>
          </a:p>
        </p:txBody>
      </p:sp>
      <p:sp>
        <p:nvSpPr>
          <p:cNvPr id="17" name="Text 13"/>
          <p:cNvSpPr/>
          <p:nvPr/>
        </p:nvSpPr>
        <p:spPr>
          <a:xfrm>
            <a:off x="6473952" y="3611880"/>
            <a:ext cx="4937760" cy="1371600"/>
          </a:xfrm>
          <a:prstGeom prst="rect">
            <a:avLst/>
          </a:prstGeom>
          <a:noFill/>
          <a:ln/>
        </p:spPr>
        <p:txBody>
          <a:bodyPr wrap="square" lIns="0" tIns="0" rIns="0" bIns="0" rtlCol="0" anchor="t"/>
          <a:lstStyle/>
          <a:p>
            <a:pPr marL="0" indent="0">
              <a:lnSpc>
                <a:spcPct val="105000"/>
              </a:lnSpc>
              <a:buNone/>
            </a:pPr>
            <a:r>
              <a:rPr lang="en-US" sz="1300" b="1" dirty="0">
                <a:solidFill>
                  <a:srgbClr val="1E293B"/>
                </a:solidFill>
                <a:latin typeface="Calibri" pitchFamily="34" charset="0"/>
                <a:ea typeface="Calibri" pitchFamily="34" charset="-122"/>
                <a:cs typeface="Calibri" pitchFamily="34" charset="-120"/>
              </a:rPr>
              <a:t>Défi : profils hétérogènes</a:t>
            </a:r>
            <a:endParaRPr lang="en-US" sz="1300" dirty="0"/>
          </a:p>
          <a:p>
            <a:pPr marL="0" indent="0">
              <a:lnSpc>
                <a:spcPct val="105000"/>
              </a:lnSpc>
              <a:buNone/>
            </a:pPr>
            <a:r>
              <a:rPr lang="en-US" sz="1150" dirty="0">
                <a:solidFill>
                  <a:srgbClr val="64748B"/>
                </a:solidFill>
                <a:latin typeface="Calibri" pitchFamily="34" charset="0"/>
                <a:ea typeface="Calibri" pitchFamily="34" charset="-122"/>
                <a:cs typeface="Calibri" pitchFamily="34" charset="-120"/>
              </a:rPr>
              <a:t>→ revenus, dépenses, canaux web/magasin/promo. Variables constantes (Z_CostContact, Z_Revenue) exclues.</a:t>
            </a:r>
            <a:endParaRPr lang="en-US" sz="1300" dirty="0"/>
          </a:p>
        </p:txBody>
      </p:sp>
      <p:sp>
        <p:nvSpPr>
          <p:cNvPr id="18" name="Shape 14"/>
          <p:cNvSpPr/>
          <p:nvPr/>
        </p:nvSpPr>
        <p:spPr>
          <a:xfrm>
            <a:off x="502920" y="5486400"/>
            <a:ext cx="11183112" cy="566928"/>
          </a:xfrm>
          <a:prstGeom prst="roundRect">
            <a:avLst>
              <a:gd name="adj" fmla="val 9677"/>
            </a:avLst>
          </a:prstGeom>
          <a:solidFill>
            <a:srgbClr val="DBEAFE"/>
          </a:solidFill>
          <a:ln/>
        </p:spPr>
        <p:txBody>
          <a:bodyPr/>
          <a:lstStyle/>
          <a:p>
            <a:endParaRPr lang="fr-FR"/>
          </a:p>
        </p:txBody>
      </p:sp>
      <p:sp>
        <p:nvSpPr>
          <p:cNvPr id="19" name="Text 15"/>
          <p:cNvSpPr/>
          <p:nvPr/>
        </p:nvSpPr>
        <p:spPr>
          <a:xfrm>
            <a:off x="713232" y="5486400"/>
            <a:ext cx="10771632" cy="566928"/>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À retenir   </a:t>
            </a:r>
            <a:r>
              <a:rPr lang="en-US" sz="1300" dirty="0">
                <a:solidFill>
                  <a:srgbClr val="1E293B"/>
                </a:solidFill>
                <a:latin typeface="Calibri" pitchFamily="34" charset="0"/>
                <a:ea typeface="Calibri" pitchFamily="34" charset="-122"/>
                <a:cs typeface="Calibri" pitchFamily="34" charset="-120"/>
              </a:rPr>
              <a:t>Deux problèmes opposés exigent deux stratégies d'évaluation distinctes — c'est le point de départ de toute la démarche.</a:t>
            </a:r>
            <a:endParaRPr lang="en-US" sz="1300" dirty="0"/>
          </a:p>
        </p:txBody>
      </p:sp>
      <p:sp>
        <p:nvSpPr>
          <p:cNvPr id="20" name="Text 16"/>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21" name="Text 17"/>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CADRAGE MÉTIER — FRAUDE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Pourquoi l'accuracy ment : ici, chaque fraude manquée coûte cher</a:t>
            </a:r>
            <a:endParaRPr lang="en-US" sz="2500" dirty="0"/>
          </a:p>
        </p:txBody>
      </p:sp>
      <p:sp>
        <p:nvSpPr>
          <p:cNvPr id="4" name="Shape 2"/>
          <p:cNvSpPr/>
          <p:nvPr/>
        </p:nvSpPr>
        <p:spPr>
          <a:xfrm>
            <a:off x="502920" y="1691640"/>
            <a:ext cx="5394960" cy="1874520"/>
          </a:xfrm>
          <a:prstGeom prst="roundRect">
            <a:avLst>
              <a:gd name="adj" fmla="val 3415"/>
            </a:avLst>
          </a:prstGeom>
          <a:solidFill>
            <a:srgbClr val="FEF2F2"/>
          </a:solidFill>
          <a:ln/>
        </p:spPr>
        <p:txBody>
          <a:bodyPr/>
          <a:lstStyle/>
          <a:p>
            <a:endParaRPr lang="fr-FR"/>
          </a:p>
        </p:txBody>
      </p:sp>
      <p:sp>
        <p:nvSpPr>
          <p:cNvPr id="5" name="Text 3"/>
          <p:cNvSpPr/>
          <p:nvPr/>
        </p:nvSpPr>
        <p:spPr>
          <a:xfrm>
            <a:off x="731520" y="1828800"/>
            <a:ext cx="4937760" cy="365760"/>
          </a:xfrm>
          <a:prstGeom prst="rect">
            <a:avLst/>
          </a:prstGeom>
          <a:noFill/>
          <a:ln/>
        </p:spPr>
        <p:txBody>
          <a:bodyPr wrap="square" lIns="0" tIns="0" rIns="0" bIns="0" rtlCol="0" anchor="ctr"/>
          <a:lstStyle/>
          <a:p>
            <a:pPr marL="0" indent="0">
              <a:buNone/>
            </a:pPr>
            <a:r>
              <a:rPr lang="en-US" sz="1500" b="1" dirty="0">
                <a:solidFill>
                  <a:srgbClr val="DC2626"/>
                </a:solidFill>
                <a:latin typeface="Calibri" pitchFamily="34" charset="0"/>
                <a:ea typeface="Calibri" pitchFamily="34" charset="-122"/>
                <a:cs typeface="Calibri" pitchFamily="34" charset="-120"/>
              </a:rPr>
              <a:t>Le piège de l'accuracy</a:t>
            </a:r>
            <a:endParaRPr lang="en-US" sz="1500" dirty="0"/>
          </a:p>
        </p:txBody>
      </p:sp>
      <p:sp>
        <p:nvSpPr>
          <p:cNvPr id="6" name="Text 4"/>
          <p:cNvSpPr/>
          <p:nvPr/>
        </p:nvSpPr>
        <p:spPr>
          <a:xfrm>
            <a:off x="731520" y="2212848"/>
            <a:ext cx="4937760" cy="1234440"/>
          </a:xfrm>
          <a:prstGeom prst="rect">
            <a:avLst/>
          </a:prstGeom>
          <a:noFill/>
          <a:ln/>
        </p:spPr>
        <p:txBody>
          <a:bodyPr wrap="square" lIns="0" tIns="0" rIns="0" bIns="0" rtlCol="0" anchor="t"/>
          <a:lstStyle/>
          <a:p>
            <a:pPr marL="0" indent="0">
              <a:lnSpc>
                <a:spcPct val="115000"/>
              </a:lnSpc>
              <a:buNone/>
            </a:pPr>
            <a:r>
              <a:rPr lang="en-US" sz="1400" dirty="0">
                <a:solidFill>
                  <a:srgbClr val="1E293B"/>
                </a:solidFill>
                <a:latin typeface="Calibri" pitchFamily="34" charset="0"/>
                <a:ea typeface="Calibri" pitchFamily="34" charset="-122"/>
                <a:cs typeface="Calibri" pitchFamily="34" charset="-120"/>
              </a:rPr>
              <a:t>Un modèle qui prédit « jamais fraude » obtient </a:t>
            </a:r>
            <a:r>
              <a:rPr lang="en-US" sz="1400" b="1" dirty="0">
                <a:solidFill>
                  <a:srgbClr val="DC2626"/>
                </a:solidFill>
                <a:latin typeface="Calibri" pitchFamily="34" charset="0"/>
                <a:ea typeface="Calibri" pitchFamily="34" charset="-122"/>
                <a:cs typeface="Calibri" pitchFamily="34" charset="-120"/>
              </a:rPr>
              <a:t>99,9 % d'accuracy</a:t>
            </a:r>
            <a:r>
              <a:rPr lang="en-US" sz="1400" dirty="0">
                <a:solidFill>
                  <a:srgbClr val="1E293B"/>
                </a:solidFill>
                <a:latin typeface="Calibri" pitchFamily="34" charset="0"/>
                <a:ea typeface="Calibri" pitchFamily="34" charset="-122"/>
                <a:cs typeface="Calibri" pitchFamily="34" charset="-120"/>
              </a:rPr>
              <a:t>… tout en laissant passer </a:t>
            </a:r>
            <a:r>
              <a:rPr lang="en-US" sz="1400" b="1" dirty="0">
                <a:solidFill>
                  <a:srgbClr val="DC2626"/>
                </a:solidFill>
                <a:latin typeface="Calibri" pitchFamily="34" charset="0"/>
                <a:ea typeface="Calibri" pitchFamily="34" charset="-122"/>
                <a:cs typeface="Calibri" pitchFamily="34" charset="-120"/>
              </a:rPr>
              <a:t>100 % des fraudes.</a:t>
            </a:r>
            <a:endParaRPr lang="en-US" sz="1400" dirty="0"/>
          </a:p>
        </p:txBody>
      </p:sp>
      <p:sp>
        <p:nvSpPr>
          <p:cNvPr id="7" name="Shape 5"/>
          <p:cNvSpPr/>
          <p:nvPr/>
        </p:nvSpPr>
        <p:spPr>
          <a:xfrm>
            <a:off x="502920" y="3703320"/>
            <a:ext cx="5394960" cy="2148840"/>
          </a:xfrm>
          <a:prstGeom prst="roundRect">
            <a:avLst>
              <a:gd name="adj" fmla="val 2979"/>
            </a:avLst>
          </a:prstGeom>
          <a:solidFill>
            <a:srgbClr val="F1F5F9"/>
          </a:solidFill>
          <a:ln/>
        </p:spPr>
        <p:txBody>
          <a:bodyPr/>
          <a:lstStyle/>
          <a:p>
            <a:endParaRPr lang="fr-FR"/>
          </a:p>
        </p:txBody>
      </p:sp>
      <p:sp>
        <p:nvSpPr>
          <p:cNvPr id="8" name="Text 6"/>
          <p:cNvSpPr/>
          <p:nvPr/>
        </p:nvSpPr>
        <p:spPr>
          <a:xfrm>
            <a:off x="731520" y="3840480"/>
            <a:ext cx="4937760" cy="36576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Recall vs. Precision : l'arbitrage</a:t>
            </a:r>
            <a:endParaRPr lang="en-US" sz="1500" dirty="0"/>
          </a:p>
        </p:txBody>
      </p:sp>
      <p:sp>
        <p:nvSpPr>
          <p:cNvPr id="9" name="Text 7"/>
          <p:cNvSpPr/>
          <p:nvPr/>
        </p:nvSpPr>
        <p:spPr>
          <a:xfrm>
            <a:off x="731520" y="4224528"/>
            <a:ext cx="4983480" cy="1554480"/>
          </a:xfrm>
          <a:prstGeom prst="rect">
            <a:avLst/>
          </a:prstGeom>
          <a:noFill/>
          <a:ln/>
        </p:spPr>
        <p:txBody>
          <a:bodyPr wrap="square" lIns="0" tIns="0" rIns="0" bIns="0" rtlCol="0" anchor="t"/>
          <a:lstStyle/>
          <a:p>
            <a:pPr marL="0" indent="0">
              <a:lnSpc>
                <a:spcPct val="110000"/>
              </a:lnSpc>
              <a:spcAft>
                <a:spcPts val="600"/>
              </a:spcAft>
              <a:buNone/>
            </a:pPr>
            <a:r>
              <a:rPr lang="en-US" sz="1250" b="1" dirty="0">
                <a:solidFill>
                  <a:srgbClr val="2563EB"/>
                </a:solidFill>
                <a:latin typeface="Calibri" pitchFamily="34" charset="0"/>
                <a:ea typeface="Calibri" pitchFamily="34" charset="-122"/>
                <a:cs typeface="Calibri" pitchFamily="34" charset="-120"/>
              </a:rPr>
              <a:t>Recall (rappel) — </a:t>
            </a:r>
            <a:r>
              <a:rPr lang="en-US" sz="1250" dirty="0">
                <a:solidFill>
                  <a:srgbClr val="64748B"/>
                </a:solidFill>
                <a:latin typeface="Calibri" pitchFamily="34" charset="0"/>
                <a:ea typeface="Calibri" pitchFamily="34" charset="-122"/>
                <a:cs typeface="Calibri" pitchFamily="34" charset="-120"/>
              </a:rPr>
              <a:t>part des fraudes effectivement détectées. Priorité : ne rien laisser passer.</a:t>
            </a:r>
            <a:endParaRPr lang="en-US" sz="1250" dirty="0"/>
          </a:p>
          <a:p>
            <a:pPr marL="0" indent="0">
              <a:lnSpc>
                <a:spcPct val="110000"/>
              </a:lnSpc>
              <a:spcAft>
                <a:spcPts val="600"/>
              </a:spcAft>
              <a:buNone/>
            </a:pPr>
            <a:r>
              <a:rPr lang="en-US" sz="1250" b="1" dirty="0">
                <a:solidFill>
                  <a:srgbClr val="059669"/>
                </a:solidFill>
                <a:latin typeface="Calibri" pitchFamily="34" charset="0"/>
                <a:ea typeface="Calibri" pitchFamily="34" charset="-122"/>
                <a:cs typeface="Calibri" pitchFamily="34" charset="-120"/>
              </a:rPr>
              <a:t>Precision — </a:t>
            </a:r>
            <a:r>
              <a:rPr lang="en-US" sz="1250" dirty="0">
                <a:solidFill>
                  <a:srgbClr val="64748B"/>
                </a:solidFill>
                <a:latin typeface="Calibri" pitchFamily="34" charset="0"/>
                <a:ea typeface="Calibri" pitchFamily="34" charset="-122"/>
                <a:cs typeface="Calibri" pitchFamily="34" charset="-120"/>
              </a:rPr>
              <a:t>part des alertes qui sont de vraies fraudes. Priorité : ne pas harceler les clients honnêtes.</a:t>
            </a:r>
            <a:endParaRPr lang="en-US" sz="1250" dirty="0"/>
          </a:p>
        </p:txBody>
      </p:sp>
      <p:sp>
        <p:nvSpPr>
          <p:cNvPr id="10" name="Text 8"/>
          <p:cNvSpPr/>
          <p:nvPr/>
        </p:nvSpPr>
        <p:spPr>
          <a:xfrm>
            <a:off x="6172200" y="1691640"/>
            <a:ext cx="54864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LE COÛT RÉEL DES ERREURS</a:t>
            </a:r>
            <a:endParaRPr lang="en-US" sz="1100" dirty="0"/>
          </a:p>
        </p:txBody>
      </p:sp>
      <p:sp>
        <p:nvSpPr>
          <p:cNvPr id="11" name="Shape 9"/>
          <p:cNvSpPr/>
          <p:nvPr/>
        </p:nvSpPr>
        <p:spPr>
          <a:xfrm>
            <a:off x="6172200" y="2057400"/>
            <a:ext cx="5513832" cy="1207008"/>
          </a:xfrm>
          <a:prstGeom prst="roundRect">
            <a:avLst>
              <a:gd name="adj" fmla="val 4545"/>
            </a:avLst>
          </a:prstGeom>
          <a:solidFill>
            <a:srgbClr val="FFFFFF"/>
          </a:solidFill>
          <a:ln w="12700">
            <a:solidFill>
              <a:srgbClr val="E2E8F0"/>
            </a:solidFill>
            <a:prstDash val="solid"/>
          </a:ln>
          <a:effectLst>
            <a:outerShdw blurRad="63500" dist="25400" dir="5400000" algn="bl" rotWithShape="0">
              <a:srgbClr val="0F172A">
                <a:alpha val="10000"/>
              </a:srgbClr>
            </a:outerShdw>
          </a:effectLst>
        </p:spPr>
        <p:txBody>
          <a:bodyPr/>
          <a:lstStyle/>
          <a:p>
            <a:endParaRPr lang="fr-FR"/>
          </a:p>
        </p:txBody>
      </p:sp>
      <p:sp>
        <p:nvSpPr>
          <p:cNvPr id="12" name="Shape 10"/>
          <p:cNvSpPr/>
          <p:nvPr/>
        </p:nvSpPr>
        <p:spPr>
          <a:xfrm>
            <a:off x="6400800" y="2350008"/>
            <a:ext cx="603504" cy="603504"/>
          </a:xfrm>
          <a:prstGeom prst="ellipse">
            <a:avLst/>
          </a:prstGeom>
          <a:solidFill>
            <a:srgbClr val="DC2626"/>
          </a:solidFill>
          <a:ln/>
        </p:spPr>
        <p:txBody>
          <a:bodyPr/>
          <a:lstStyle/>
          <a:p>
            <a:endParaRPr lang="fr-FR"/>
          </a:p>
        </p:txBody>
      </p:sp>
      <p:pic>
        <p:nvPicPr>
          <p:cNvPr id="13" name="Image 0" descr="preencoded.png"/>
          <p:cNvPicPr>
            <a:picLocks noChangeAspect="1"/>
          </p:cNvPicPr>
          <p:nvPr/>
        </p:nvPicPr>
        <p:blipFill>
          <a:blip r:embed="rId3"/>
          <a:stretch>
            <a:fillRect/>
          </a:stretch>
        </p:blipFill>
        <p:spPr>
          <a:xfrm>
            <a:off x="6583680" y="2532888"/>
            <a:ext cx="237744" cy="237744"/>
          </a:xfrm>
          <a:prstGeom prst="rect">
            <a:avLst/>
          </a:prstGeom>
        </p:spPr>
      </p:pic>
      <p:sp>
        <p:nvSpPr>
          <p:cNvPr id="14" name="Text 11"/>
          <p:cNvSpPr/>
          <p:nvPr/>
        </p:nvSpPr>
        <p:spPr>
          <a:xfrm>
            <a:off x="7178040" y="2221992"/>
            <a:ext cx="4389120" cy="36576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Faux négatif (FN)  </a:t>
            </a:r>
            <a:r>
              <a:rPr lang="en-US" sz="1200" dirty="0">
                <a:solidFill>
                  <a:srgbClr val="64748B"/>
                </a:solidFill>
                <a:latin typeface="Calibri" pitchFamily="34" charset="0"/>
                <a:ea typeface="Calibri" pitchFamily="34" charset="-122"/>
                <a:cs typeface="Calibri" pitchFamily="34" charset="-120"/>
              </a:rPr>
              <a:t>— Fraude non détectée</a:t>
            </a:r>
            <a:endParaRPr lang="en-US" sz="1400" dirty="0"/>
          </a:p>
        </p:txBody>
      </p:sp>
      <p:sp>
        <p:nvSpPr>
          <p:cNvPr id="15" name="Text 12"/>
          <p:cNvSpPr/>
          <p:nvPr/>
        </p:nvSpPr>
        <p:spPr>
          <a:xfrm>
            <a:off x="7178040" y="2587752"/>
            <a:ext cx="4389120" cy="594360"/>
          </a:xfrm>
          <a:prstGeom prst="rect">
            <a:avLst/>
          </a:prstGeom>
          <a:noFill/>
          <a:ln/>
        </p:spPr>
        <p:txBody>
          <a:bodyPr wrap="square" lIns="0" tIns="0" rIns="0" bIns="0" rtlCol="0" anchor="ctr"/>
          <a:lstStyle/>
          <a:p>
            <a:pPr marL="0" indent="0">
              <a:lnSpc>
                <a:spcPct val="100000"/>
              </a:lnSpc>
              <a:buNone/>
            </a:pPr>
            <a:r>
              <a:rPr lang="en-US" sz="1200" dirty="0">
                <a:solidFill>
                  <a:srgbClr val="64748B"/>
                </a:solidFill>
                <a:latin typeface="Calibri" pitchFamily="34" charset="0"/>
                <a:ea typeface="Calibri" pitchFamily="34" charset="-122"/>
                <a:cs typeface="Calibri" pitchFamily="34" charset="-120"/>
              </a:rPr>
              <a:t>Perte sèche du montant fraudé + coût de remboursement et de litige.</a:t>
            </a:r>
            <a:endParaRPr lang="en-US" sz="1200" dirty="0"/>
          </a:p>
        </p:txBody>
      </p:sp>
      <p:sp>
        <p:nvSpPr>
          <p:cNvPr id="16" name="Shape 13"/>
          <p:cNvSpPr/>
          <p:nvPr/>
        </p:nvSpPr>
        <p:spPr>
          <a:xfrm>
            <a:off x="6172200" y="3429000"/>
            <a:ext cx="5513832" cy="1207008"/>
          </a:xfrm>
          <a:prstGeom prst="roundRect">
            <a:avLst>
              <a:gd name="adj" fmla="val 4545"/>
            </a:avLst>
          </a:prstGeom>
          <a:solidFill>
            <a:srgbClr val="FFFFFF"/>
          </a:solidFill>
          <a:ln w="12700">
            <a:solidFill>
              <a:srgbClr val="E2E8F0"/>
            </a:solidFill>
            <a:prstDash val="solid"/>
          </a:ln>
          <a:effectLst>
            <a:outerShdw blurRad="63500" dist="25400" dir="5400000" algn="bl" rotWithShape="0">
              <a:srgbClr val="0F172A">
                <a:alpha val="10000"/>
              </a:srgbClr>
            </a:outerShdw>
          </a:effectLst>
        </p:spPr>
        <p:txBody>
          <a:bodyPr/>
          <a:lstStyle/>
          <a:p>
            <a:endParaRPr lang="fr-FR"/>
          </a:p>
        </p:txBody>
      </p:sp>
      <p:sp>
        <p:nvSpPr>
          <p:cNvPr id="17" name="Shape 14"/>
          <p:cNvSpPr/>
          <p:nvPr/>
        </p:nvSpPr>
        <p:spPr>
          <a:xfrm>
            <a:off x="6400800" y="3721608"/>
            <a:ext cx="603504" cy="603504"/>
          </a:xfrm>
          <a:prstGeom prst="ellipse">
            <a:avLst/>
          </a:prstGeom>
          <a:solidFill>
            <a:srgbClr val="F59E0B"/>
          </a:solidFill>
          <a:ln/>
        </p:spPr>
        <p:txBody>
          <a:bodyPr/>
          <a:lstStyle/>
          <a:p>
            <a:endParaRPr lang="fr-FR"/>
          </a:p>
        </p:txBody>
      </p:sp>
      <p:pic>
        <p:nvPicPr>
          <p:cNvPr id="18" name="Image 1" descr="preencoded.png"/>
          <p:cNvPicPr>
            <a:picLocks noChangeAspect="1"/>
          </p:cNvPicPr>
          <p:nvPr/>
        </p:nvPicPr>
        <p:blipFill>
          <a:blip r:embed="rId4"/>
          <a:stretch>
            <a:fillRect/>
          </a:stretch>
        </p:blipFill>
        <p:spPr>
          <a:xfrm>
            <a:off x="6583680" y="3904488"/>
            <a:ext cx="237744" cy="237744"/>
          </a:xfrm>
          <a:prstGeom prst="rect">
            <a:avLst/>
          </a:prstGeom>
        </p:spPr>
      </p:pic>
      <p:sp>
        <p:nvSpPr>
          <p:cNvPr id="19" name="Text 15"/>
          <p:cNvSpPr/>
          <p:nvPr/>
        </p:nvSpPr>
        <p:spPr>
          <a:xfrm>
            <a:off x="7178040" y="3593592"/>
            <a:ext cx="4389120" cy="36576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Faux positif (FP)  </a:t>
            </a:r>
            <a:r>
              <a:rPr lang="en-US" sz="1200" dirty="0">
                <a:solidFill>
                  <a:srgbClr val="64748B"/>
                </a:solidFill>
                <a:latin typeface="Calibri" pitchFamily="34" charset="0"/>
                <a:ea typeface="Calibri" pitchFamily="34" charset="-122"/>
                <a:cs typeface="Calibri" pitchFamily="34" charset="-120"/>
              </a:rPr>
              <a:t>— Transaction bloquée à tort</a:t>
            </a:r>
            <a:endParaRPr lang="en-US" sz="1400" dirty="0"/>
          </a:p>
        </p:txBody>
      </p:sp>
      <p:sp>
        <p:nvSpPr>
          <p:cNvPr id="20" name="Text 16"/>
          <p:cNvSpPr/>
          <p:nvPr/>
        </p:nvSpPr>
        <p:spPr>
          <a:xfrm>
            <a:off x="7178040" y="3959352"/>
            <a:ext cx="4389120" cy="594360"/>
          </a:xfrm>
          <a:prstGeom prst="rect">
            <a:avLst/>
          </a:prstGeom>
          <a:noFill/>
          <a:ln/>
        </p:spPr>
        <p:txBody>
          <a:bodyPr wrap="square" lIns="0" tIns="0" rIns="0" bIns="0" rtlCol="0" anchor="ctr"/>
          <a:lstStyle/>
          <a:p>
            <a:pPr marL="0" indent="0">
              <a:lnSpc>
                <a:spcPct val="100000"/>
              </a:lnSpc>
              <a:buNone/>
            </a:pPr>
            <a:r>
              <a:rPr lang="en-US" sz="1200" dirty="0">
                <a:solidFill>
                  <a:srgbClr val="64748B"/>
                </a:solidFill>
                <a:latin typeface="Calibri" pitchFamily="34" charset="0"/>
                <a:ea typeface="Calibri" pitchFamily="34" charset="-122"/>
                <a:cs typeface="Calibri" pitchFamily="34" charset="-120"/>
              </a:rPr>
              <a:t>Friction client, appels au support, risque d'attrition.</a:t>
            </a:r>
            <a:endParaRPr lang="en-US" sz="1200" dirty="0"/>
          </a:p>
        </p:txBody>
      </p:sp>
      <p:sp>
        <p:nvSpPr>
          <p:cNvPr id="21" name="Shape 17"/>
          <p:cNvSpPr/>
          <p:nvPr/>
        </p:nvSpPr>
        <p:spPr>
          <a:xfrm>
            <a:off x="6172200" y="4818888"/>
            <a:ext cx="5513832" cy="1033272"/>
          </a:xfrm>
          <a:prstGeom prst="roundRect">
            <a:avLst>
              <a:gd name="adj" fmla="val 5310"/>
            </a:avLst>
          </a:prstGeom>
          <a:solidFill>
            <a:srgbClr val="DBEAFE"/>
          </a:solidFill>
          <a:ln/>
        </p:spPr>
        <p:txBody>
          <a:bodyPr/>
          <a:lstStyle/>
          <a:p>
            <a:endParaRPr lang="fr-FR"/>
          </a:p>
        </p:txBody>
      </p:sp>
      <p:sp>
        <p:nvSpPr>
          <p:cNvPr id="22" name="Text 18"/>
          <p:cNvSpPr/>
          <p:nvPr/>
        </p:nvSpPr>
        <p:spPr>
          <a:xfrm>
            <a:off x="6400800" y="4818888"/>
            <a:ext cx="5074920" cy="1033272"/>
          </a:xfrm>
          <a:prstGeom prst="rect">
            <a:avLst/>
          </a:prstGeom>
          <a:noFill/>
          <a:ln/>
        </p:spPr>
        <p:txBody>
          <a:bodyPr wrap="square" lIns="0" tIns="0" rIns="0" bIns="0" rtlCol="0" anchor="ctr"/>
          <a:lstStyle/>
          <a:p>
            <a:pPr marL="0" indent="0">
              <a:lnSpc>
                <a:spcPct val="105000"/>
              </a:lnSpc>
              <a:buNone/>
            </a:pPr>
            <a:r>
              <a:rPr lang="en-US" sz="1250" b="1" dirty="0">
                <a:solidFill>
                  <a:srgbClr val="2563EB"/>
                </a:solidFill>
                <a:latin typeface="Calibri" pitchFamily="34" charset="0"/>
                <a:ea typeface="Calibri" pitchFamily="34" charset="-122"/>
                <a:cs typeface="Calibri" pitchFamily="34" charset="-120"/>
              </a:rPr>
              <a:t>Pourquoi la PR-AUC ?  </a:t>
            </a:r>
            <a:r>
              <a:rPr lang="en-US" sz="1250" dirty="0">
                <a:solidFill>
                  <a:srgbClr val="1E293B"/>
                </a:solidFill>
                <a:latin typeface="Calibri" pitchFamily="34" charset="0"/>
                <a:ea typeface="Calibri" pitchFamily="34" charset="-122"/>
                <a:cs typeface="Calibri" pitchFamily="34" charset="-120"/>
              </a:rPr>
              <a:t>Sur une classe rare, la ROC-AUC est optimiste. La PR-AUC se concentre sur la classe positive (fraude) et reflète l'arbitrage rappel/précision qui compte vraiment.</a:t>
            </a:r>
            <a:endParaRPr lang="en-US" sz="1250" dirty="0"/>
          </a:p>
        </p:txBody>
      </p:sp>
      <p:sp>
        <p:nvSpPr>
          <p:cNvPr id="23" name="Text 19"/>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24" name="Text 20"/>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EDA FRAUDE — CONCENTRATION DU RISQUE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Le risque n'est pas uniforme : TRANSFER et CASH_OUT concentrent 100 % des fraudes</a:t>
            </a:r>
            <a:endParaRPr lang="en-US" sz="2500" dirty="0"/>
          </a:p>
        </p:txBody>
      </p:sp>
      <p:sp>
        <p:nvSpPr>
          <p:cNvPr id="4" name="Text 2"/>
          <p:cNvSpPr/>
          <p:nvPr/>
        </p:nvSpPr>
        <p:spPr>
          <a:xfrm>
            <a:off x="502920" y="1600200"/>
            <a:ext cx="64008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TAUX DE FRAUDE PAR TYPE DE TRANSACTION</a:t>
            </a:r>
            <a:endParaRPr lang="en-US" sz="1100" dirty="0"/>
          </a:p>
        </p:txBody>
      </p:sp>
      <p:graphicFrame>
        <p:nvGraphicFramePr>
          <p:cNvPr id="5" name="Chart 0"/>
          <p:cNvGraphicFramePr/>
          <p:nvPr/>
        </p:nvGraphicFramePr>
        <p:xfrm>
          <a:off x="365760" y="1920240"/>
          <a:ext cx="64008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086600" y="1965960"/>
            <a:ext cx="4617720" cy="1207008"/>
          </a:xfrm>
          <a:prstGeom prst="roundRect">
            <a:avLst>
              <a:gd name="adj" fmla="val 530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7" name="Text 4"/>
          <p:cNvSpPr/>
          <p:nvPr/>
        </p:nvSpPr>
        <p:spPr>
          <a:xfrm>
            <a:off x="7269480" y="2075688"/>
            <a:ext cx="1828800" cy="960120"/>
          </a:xfrm>
          <a:prstGeom prst="rect">
            <a:avLst/>
          </a:prstGeom>
          <a:noFill/>
          <a:ln/>
        </p:spPr>
        <p:txBody>
          <a:bodyPr wrap="square" lIns="0" tIns="0" rIns="0" bIns="0" rtlCol="0" anchor="ctr"/>
          <a:lstStyle/>
          <a:p>
            <a:pPr marL="0" indent="0" algn="l">
              <a:buNone/>
            </a:pPr>
            <a:r>
              <a:rPr lang="en-US" sz="2600" b="1" dirty="0">
                <a:solidFill>
                  <a:srgbClr val="DC2626"/>
                </a:solidFill>
                <a:latin typeface="Calibri" pitchFamily="34" charset="0"/>
                <a:ea typeface="Calibri" pitchFamily="34" charset="-122"/>
                <a:cs typeface="Calibri" pitchFamily="34" charset="-120"/>
              </a:rPr>
              <a:t>0,650 %</a:t>
            </a:r>
            <a:endParaRPr lang="en-US" sz="2600" dirty="0"/>
          </a:p>
        </p:txBody>
      </p:sp>
      <p:sp>
        <p:nvSpPr>
          <p:cNvPr id="8" name="Text 5"/>
          <p:cNvSpPr/>
          <p:nvPr/>
        </p:nvSpPr>
        <p:spPr>
          <a:xfrm>
            <a:off x="9144000" y="2075688"/>
            <a:ext cx="2468880" cy="960120"/>
          </a:xfrm>
          <a:prstGeom prst="rect">
            <a:avLst/>
          </a:prstGeom>
          <a:noFill/>
          <a:ln/>
        </p:spPr>
        <p:txBody>
          <a:bodyPr wrap="square" lIns="0" tIns="0" rIns="0" bIns="0" rtlCol="0" anchor="ctr"/>
          <a:lstStyle/>
          <a:p>
            <a:pPr marL="0" indent="0">
              <a:lnSpc>
                <a:spcPct val="100000"/>
              </a:lnSpc>
              <a:buNone/>
            </a:pPr>
            <a:r>
              <a:rPr lang="en-US" sz="1350" b="1" dirty="0">
                <a:solidFill>
                  <a:srgbClr val="0F172A"/>
                </a:solidFill>
                <a:latin typeface="Calibri" pitchFamily="34" charset="0"/>
                <a:ea typeface="Calibri" pitchFamily="34" charset="-122"/>
                <a:cs typeface="Calibri" pitchFamily="34" charset="-120"/>
              </a:rPr>
              <a:t>TRANSFER</a:t>
            </a:r>
            <a:endParaRPr lang="en-US" sz="1350" dirty="0"/>
          </a:p>
          <a:p>
            <a:pPr marL="0" indent="0">
              <a:lnSpc>
                <a:spcPct val="100000"/>
              </a:lnSpc>
              <a:buNone/>
            </a:pPr>
            <a:r>
              <a:rPr lang="en-US" sz="1150" dirty="0">
                <a:solidFill>
                  <a:srgbClr val="64748B"/>
                </a:solidFill>
                <a:latin typeface="Calibri" pitchFamily="34" charset="0"/>
                <a:ea typeface="Calibri" pitchFamily="34" charset="-122"/>
                <a:cs typeface="Calibri" pitchFamily="34" charset="-120"/>
              </a:rPr>
              <a:t>564 fraudes — le taux le plus élevé</a:t>
            </a:r>
            <a:endParaRPr lang="en-US" sz="1350" dirty="0"/>
          </a:p>
        </p:txBody>
      </p:sp>
      <p:sp>
        <p:nvSpPr>
          <p:cNvPr id="9" name="Shape 6"/>
          <p:cNvSpPr/>
          <p:nvPr/>
        </p:nvSpPr>
        <p:spPr>
          <a:xfrm>
            <a:off x="7086600" y="3291840"/>
            <a:ext cx="4617720" cy="1207008"/>
          </a:xfrm>
          <a:prstGeom prst="roundRect">
            <a:avLst>
              <a:gd name="adj" fmla="val 530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10" name="Text 7"/>
          <p:cNvSpPr/>
          <p:nvPr/>
        </p:nvSpPr>
        <p:spPr>
          <a:xfrm>
            <a:off x="7269480" y="3401568"/>
            <a:ext cx="1828800" cy="960120"/>
          </a:xfrm>
          <a:prstGeom prst="rect">
            <a:avLst/>
          </a:prstGeom>
          <a:noFill/>
          <a:ln/>
        </p:spPr>
        <p:txBody>
          <a:bodyPr wrap="square" lIns="0" tIns="0" rIns="0" bIns="0" rtlCol="0" anchor="ctr"/>
          <a:lstStyle/>
          <a:p>
            <a:pPr marL="0" indent="0" algn="l">
              <a:buNone/>
            </a:pPr>
            <a:r>
              <a:rPr lang="en-US" sz="2600" b="1" dirty="0">
                <a:solidFill>
                  <a:srgbClr val="F59E0B"/>
                </a:solidFill>
                <a:latin typeface="Calibri" pitchFamily="34" charset="0"/>
                <a:ea typeface="Calibri" pitchFamily="34" charset="-122"/>
                <a:cs typeface="Calibri" pitchFamily="34" charset="-120"/>
              </a:rPr>
              <a:t>0,155 %</a:t>
            </a:r>
            <a:endParaRPr lang="en-US" sz="2600" dirty="0"/>
          </a:p>
        </p:txBody>
      </p:sp>
      <p:sp>
        <p:nvSpPr>
          <p:cNvPr id="11" name="Text 8"/>
          <p:cNvSpPr/>
          <p:nvPr/>
        </p:nvSpPr>
        <p:spPr>
          <a:xfrm>
            <a:off x="9144000" y="3401568"/>
            <a:ext cx="2468880" cy="960120"/>
          </a:xfrm>
          <a:prstGeom prst="rect">
            <a:avLst/>
          </a:prstGeom>
          <a:noFill/>
          <a:ln/>
        </p:spPr>
        <p:txBody>
          <a:bodyPr wrap="square" lIns="0" tIns="0" rIns="0" bIns="0" rtlCol="0" anchor="ctr"/>
          <a:lstStyle/>
          <a:p>
            <a:pPr marL="0" indent="0">
              <a:lnSpc>
                <a:spcPct val="100000"/>
              </a:lnSpc>
              <a:buNone/>
            </a:pPr>
            <a:r>
              <a:rPr lang="en-US" sz="1350" b="1" dirty="0">
                <a:solidFill>
                  <a:srgbClr val="0F172A"/>
                </a:solidFill>
                <a:latin typeface="Calibri" pitchFamily="34" charset="0"/>
                <a:ea typeface="Calibri" pitchFamily="34" charset="-122"/>
                <a:cs typeface="Calibri" pitchFamily="34" charset="-120"/>
              </a:rPr>
              <a:t>CASH_OUT</a:t>
            </a:r>
            <a:endParaRPr lang="en-US" sz="1350" dirty="0"/>
          </a:p>
          <a:p>
            <a:pPr marL="0" indent="0">
              <a:lnSpc>
                <a:spcPct val="100000"/>
              </a:lnSpc>
              <a:buNone/>
            </a:pPr>
            <a:r>
              <a:rPr lang="en-US" sz="1150" dirty="0">
                <a:solidFill>
                  <a:srgbClr val="64748B"/>
                </a:solidFill>
                <a:latin typeface="Calibri" pitchFamily="34" charset="0"/>
                <a:ea typeface="Calibri" pitchFamily="34" charset="-122"/>
                <a:cs typeface="Calibri" pitchFamily="34" charset="-120"/>
              </a:rPr>
              <a:t>578 fraudes — non négligeable</a:t>
            </a:r>
            <a:endParaRPr lang="en-US" sz="1350" dirty="0"/>
          </a:p>
        </p:txBody>
      </p:sp>
      <p:sp>
        <p:nvSpPr>
          <p:cNvPr id="12" name="Shape 9"/>
          <p:cNvSpPr/>
          <p:nvPr/>
        </p:nvSpPr>
        <p:spPr>
          <a:xfrm>
            <a:off x="7086600" y="4617720"/>
            <a:ext cx="4617720" cy="1207008"/>
          </a:xfrm>
          <a:prstGeom prst="roundRect">
            <a:avLst>
              <a:gd name="adj" fmla="val 530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13" name="Text 10"/>
          <p:cNvSpPr/>
          <p:nvPr/>
        </p:nvSpPr>
        <p:spPr>
          <a:xfrm>
            <a:off x="7269480" y="4727448"/>
            <a:ext cx="1828800" cy="960120"/>
          </a:xfrm>
          <a:prstGeom prst="rect">
            <a:avLst/>
          </a:prstGeom>
          <a:noFill/>
          <a:ln/>
        </p:spPr>
        <p:txBody>
          <a:bodyPr wrap="square" lIns="0" tIns="0" rIns="0" bIns="0" rtlCol="0" anchor="ctr"/>
          <a:lstStyle/>
          <a:p>
            <a:pPr marL="0" indent="0" algn="l">
              <a:buNone/>
            </a:pPr>
            <a:r>
              <a:rPr lang="en-US" sz="2600" b="1" dirty="0">
                <a:solidFill>
                  <a:srgbClr val="059669"/>
                </a:solidFill>
                <a:latin typeface="Calibri" pitchFamily="34" charset="0"/>
                <a:ea typeface="Calibri" pitchFamily="34" charset="-122"/>
                <a:cs typeface="Calibri" pitchFamily="34" charset="-120"/>
              </a:rPr>
              <a:t>0,000 %</a:t>
            </a:r>
            <a:endParaRPr lang="en-US" sz="2600" dirty="0"/>
          </a:p>
        </p:txBody>
      </p:sp>
      <p:sp>
        <p:nvSpPr>
          <p:cNvPr id="14" name="Text 11"/>
          <p:cNvSpPr/>
          <p:nvPr/>
        </p:nvSpPr>
        <p:spPr>
          <a:xfrm>
            <a:off x="9144000" y="4727448"/>
            <a:ext cx="2468880" cy="960120"/>
          </a:xfrm>
          <a:prstGeom prst="rect">
            <a:avLst/>
          </a:prstGeom>
          <a:noFill/>
          <a:ln/>
        </p:spPr>
        <p:txBody>
          <a:bodyPr wrap="square" lIns="0" tIns="0" rIns="0" bIns="0" rtlCol="0" anchor="ctr"/>
          <a:lstStyle/>
          <a:p>
            <a:pPr marL="0" indent="0">
              <a:lnSpc>
                <a:spcPct val="100000"/>
              </a:lnSpc>
              <a:buNone/>
            </a:pPr>
            <a:r>
              <a:rPr lang="en-US" sz="1350" b="1" dirty="0">
                <a:solidFill>
                  <a:srgbClr val="0F172A"/>
                </a:solidFill>
                <a:latin typeface="Calibri" pitchFamily="34" charset="0"/>
                <a:ea typeface="Calibri" pitchFamily="34" charset="-122"/>
                <a:cs typeface="Calibri" pitchFamily="34" charset="-120"/>
              </a:rPr>
              <a:t>PAYMENT · CASH_IN · DEBIT</a:t>
            </a:r>
            <a:endParaRPr lang="en-US" sz="1350" dirty="0"/>
          </a:p>
          <a:p>
            <a:pPr marL="0" indent="0">
              <a:lnSpc>
                <a:spcPct val="100000"/>
              </a:lnSpc>
              <a:buNone/>
            </a:pPr>
            <a:r>
              <a:rPr lang="en-US" sz="1150" dirty="0">
                <a:solidFill>
                  <a:srgbClr val="64748B"/>
                </a:solidFill>
                <a:latin typeface="Calibri" pitchFamily="34" charset="0"/>
                <a:ea typeface="Calibri" pitchFamily="34" charset="-122"/>
                <a:cs typeface="Calibri" pitchFamily="34" charset="-120"/>
              </a:rPr>
              <a:t>Aucune fraude observée</a:t>
            </a:r>
            <a:endParaRPr lang="en-US" sz="1350" dirty="0"/>
          </a:p>
        </p:txBody>
      </p:sp>
      <p:sp>
        <p:nvSpPr>
          <p:cNvPr id="15" name="Shape 12"/>
          <p:cNvSpPr/>
          <p:nvPr/>
        </p:nvSpPr>
        <p:spPr>
          <a:xfrm>
            <a:off x="502920" y="5989320"/>
            <a:ext cx="11183112" cy="566928"/>
          </a:xfrm>
          <a:prstGeom prst="roundRect">
            <a:avLst>
              <a:gd name="adj" fmla="val 9677"/>
            </a:avLst>
          </a:prstGeom>
          <a:solidFill>
            <a:srgbClr val="FEF2F2"/>
          </a:solidFill>
          <a:ln/>
        </p:spPr>
        <p:txBody>
          <a:bodyPr/>
          <a:lstStyle/>
          <a:p>
            <a:endParaRPr lang="fr-FR"/>
          </a:p>
        </p:txBody>
      </p:sp>
      <p:sp>
        <p:nvSpPr>
          <p:cNvPr id="16" name="Text 13"/>
          <p:cNvSpPr/>
          <p:nvPr/>
        </p:nvSpPr>
        <p:spPr>
          <a:xfrm>
            <a:off x="713232" y="5989320"/>
            <a:ext cx="10771632" cy="566928"/>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À retenir   </a:t>
            </a:r>
            <a:r>
              <a:rPr lang="en-US" sz="1300" dirty="0">
                <a:solidFill>
                  <a:srgbClr val="1E293B"/>
                </a:solidFill>
                <a:latin typeface="Calibri" pitchFamily="34" charset="0"/>
                <a:ea typeface="Calibri" pitchFamily="34" charset="-122"/>
                <a:cs typeface="Calibri" pitchFamily="34" charset="-120"/>
              </a:rPr>
              <a:t>Une politique de contrôle différenciée se justifie : revue systématique sur TRANSFER / CASH_OUT, traitement allégé ailleurs.</a:t>
            </a:r>
            <a:endParaRPr lang="en-US" sz="1300" dirty="0"/>
          </a:p>
        </p:txBody>
      </p:sp>
      <p:sp>
        <p:nvSpPr>
          <p:cNvPr id="17" name="Text 14"/>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18" name="Text 15"/>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PIPELINE — FRAUDE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Un pipeline reproductible : du feature engineering au seuil calibré</a:t>
            </a:r>
            <a:endParaRPr lang="en-US" sz="2500" dirty="0"/>
          </a:p>
        </p:txBody>
      </p:sp>
      <p:sp>
        <p:nvSpPr>
          <p:cNvPr id="4" name="Shape 2"/>
          <p:cNvSpPr/>
          <p:nvPr/>
        </p:nvSpPr>
        <p:spPr>
          <a:xfrm>
            <a:off x="566928" y="1828800"/>
            <a:ext cx="2670048" cy="3017520"/>
          </a:xfrm>
          <a:prstGeom prst="roundRect">
            <a:avLst>
              <a:gd name="adj" fmla="val 2740"/>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5" name="Shape 3"/>
          <p:cNvSpPr/>
          <p:nvPr/>
        </p:nvSpPr>
        <p:spPr>
          <a:xfrm>
            <a:off x="841248" y="2103120"/>
            <a:ext cx="713232" cy="713232"/>
          </a:xfrm>
          <a:prstGeom prst="ellipse">
            <a:avLst/>
          </a:prstGeom>
          <a:solidFill>
            <a:srgbClr val="2563EB"/>
          </a:solidFill>
          <a:ln/>
          <a:effectLst>
            <a:outerShdw blurRad="76200" dist="25400" dir="5400000" algn="bl" rotWithShape="0">
              <a:srgbClr val="0F172A">
                <a:alpha val="15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033821" y="2295693"/>
            <a:ext cx="328087" cy="328087"/>
          </a:xfrm>
          <a:prstGeom prst="rect">
            <a:avLst/>
          </a:prstGeom>
        </p:spPr>
      </p:pic>
      <p:sp>
        <p:nvSpPr>
          <p:cNvPr id="7" name="Text 4"/>
          <p:cNvSpPr/>
          <p:nvPr/>
        </p:nvSpPr>
        <p:spPr>
          <a:xfrm>
            <a:off x="2368296" y="2057400"/>
            <a:ext cx="64008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01</a:t>
            </a:r>
            <a:endParaRPr lang="en-US" sz="3000" dirty="0"/>
          </a:p>
        </p:txBody>
      </p:sp>
      <p:sp>
        <p:nvSpPr>
          <p:cNvPr id="8" name="Text 5"/>
          <p:cNvSpPr/>
          <p:nvPr/>
        </p:nvSpPr>
        <p:spPr>
          <a:xfrm>
            <a:off x="841248" y="3017520"/>
            <a:ext cx="2167128" cy="640080"/>
          </a:xfrm>
          <a:prstGeom prst="rect">
            <a:avLst/>
          </a:prstGeom>
          <a:noFill/>
          <a:ln/>
        </p:spPr>
        <p:txBody>
          <a:bodyPr wrap="square" lIns="0" tIns="0" rIns="0" bIns="0" rtlCol="0" anchor="ctr"/>
          <a:lstStyle/>
          <a:p>
            <a:pPr marL="0" indent="0">
              <a:lnSpc>
                <a:spcPct val="95000"/>
              </a:lnSpc>
              <a:buNone/>
            </a:pPr>
            <a:r>
              <a:rPr lang="en-US" sz="1600" b="1" dirty="0">
                <a:solidFill>
                  <a:srgbClr val="0F172A"/>
                </a:solidFill>
                <a:latin typeface="Calibri" pitchFamily="34" charset="0"/>
                <a:ea typeface="Calibri" pitchFamily="34" charset="-122"/>
                <a:cs typeface="Calibri" pitchFamily="34" charset="-120"/>
              </a:rPr>
              <a:t>Feature engineering</a:t>
            </a:r>
            <a:endParaRPr lang="en-US" sz="1600" dirty="0"/>
          </a:p>
        </p:txBody>
      </p:sp>
      <p:sp>
        <p:nvSpPr>
          <p:cNvPr id="9" name="Text 6"/>
          <p:cNvSpPr/>
          <p:nvPr/>
        </p:nvSpPr>
        <p:spPr>
          <a:xfrm>
            <a:off x="841248" y="3611880"/>
            <a:ext cx="2167128" cy="114300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origin_error, dest_error, ratios de soldes — les incohérences de soldes sont très discriminantes</a:t>
            </a:r>
            <a:endParaRPr lang="en-US" sz="1200" dirty="0"/>
          </a:p>
        </p:txBody>
      </p:sp>
      <p:sp>
        <p:nvSpPr>
          <p:cNvPr id="10" name="Text 7"/>
          <p:cNvSpPr/>
          <p:nvPr/>
        </p:nvSpPr>
        <p:spPr>
          <a:xfrm>
            <a:off x="3200400" y="2971800"/>
            <a:ext cx="310896" cy="731520"/>
          </a:xfrm>
          <a:prstGeom prst="rect">
            <a:avLst/>
          </a:prstGeom>
          <a:noFill/>
          <a:ln/>
        </p:spPr>
        <p:txBody>
          <a:bodyPr wrap="square" lIns="0" tIns="0" rIns="0" bIns="0" rtlCol="0" anchor="ctr"/>
          <a:lstStyle/>
          <a:p>
            <a:pPr marL="0" indent="0" algn="ctr">
              <a:buNone/>
            </a:pPr>
            <a:r>
              <a:rPr lang="en-US" sz="3000" b="1" dirty="0">
                <a:solidFill>
                  <a:srgbClr val="60A5FA"/>
                </a:solidFill>
                <a:latin typeface="Calibri" pitchFamily="34" charset="0"/>
                <a:ea typeface="Calibri" pitchFamily="34" charset="-122"/>
                <a:cs typeface="Calibri" pitchFamily="34" charset="-120"/>
              </a:rPr>
              <a:t>›</a:t>
            </a:r>
            <a:endParaRPr lang="en-US" sz="3000" dirty="0"/>
          </a:p>
        </p:txBody>
      </p:sp>
      <p:sp>
        <p:nvSpPr>
          <p:cNvPr id="11" name="Shape 8"/>
          <p:cNvSpPr/>
          <p:nvPr/>
        </p:nvSpPr>
        <p:spPr>
          <a:xfrm>
            <a:off x="3511296" y="1828800"/>
            <a:ext cx="2670048" cy="3017520"/>
          </a:xfrm>
          <a:prstGeom prst="roundRect">
            <a:avLst>
              <a:gd name="adj" fmla="val 2740"/>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12" name="Shape 9"/>
          <p:cNvSpPr/>
          <p:nvPr/>
        </p:nvSpPr>
        <p:spPr>
          <a:xfrm>
            <a:off x="3785616" y="2103120"/>
            <a:ext cx="713232" cy="713232"/>
          </a:xfrm>
          <a:prstGeom prst="ellipse">
            <a:avLst/>
          </a:prstGeom>
          <a:solidFill>
            <a:srgbClr val="0D9488"/>
          </a:solidFill>
          <a:ln/>
          <a:effectLst>
            <a:outerShdw blurRad="76200" dist="25400" dir="5400000" algn="bl" rotWithShape="0">
              <a:srgbClr val="0F172A">
                <a:alpha val="15000"/>
              </a:srgbClr>
            </a:outerShdw>
          </a:effectLst>
        </p:spPr>
        <p:txBody>
          <a:bodyPr/>
          <a:lstStyle/>
          <a:p>
            <a:endParaRPr lang="fr-FR"/>
          </a:p>
        </p:txBody>
      </p:sp>
      <p:pic>
        <p:nvPicPr>
          <p:cNvPr id="13" name="Image 1" descr="preencoded.png"/>
          <p:cNvPicPr>
            <a:picLocks noChangeAspect="1"/>
          </p:cNvPicPr>
          <p:nvPr/>
        </p:nvPicPr>
        <p:blipFill>
          <a:blip r:embed="rId4"/>
          <a:stretch>
            <a:fillRect/>
          </a:stretch>
        </p:blipFill>
        <p:spPr>
          <a:xfrm>
            <a:off x="3978189" y="2295693"/>
            <a:ext cx="328087" cy="328087"/>
          </a:xfrm>
          <a:prstGeom prst="rect">
            <a:avLst/>
          </a:prstGeom>
        </p:spPr>
      </p:pic>
      <p:sp>
        <p:nvSpPr>
          <p:cNvPr id="14" name="Text 10"/>
          <p:cNvSpPr/>
          <p:nvPr/>
        </p:nvSpPr>
        <p:spPr>
          <a:xfrm>
            <a:off x="5312664" y="2057400"/>
            <a:ext cx="64008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02</a:t>
            </a:r>
            <a:endParaRPr lang="en-US" sz="3000" dirty="0"/>
          </a:p>
        </p:txBody>
      </p:sp>
      <p:sp>
        <p:nvSpPr>
          <p:cNvPr id="15" name="Text 11"/>
          <p:cNvSpPr/>
          <p:nvPr/>
        </p:nvSpPr>
        <p:spPr>
          <a:xfrm>
            <a:off x="3785616" y="3017520"/>
            <a:ext cx="2167128" cy="640080"/>
          </a:xfrm>
          <a:prstGeom prst="rect">
            <a:avLst/>
          </a:prstGeom>
          <a:noFill/>
          <a:ln/>
        </p:spPr>
        <p:txBody>
          <a:bodyPr wrap="square" lIns="0" tIns="0" rIns="0" bIns="0" rtlCol="0" anchor="ctr"/>
          <a:lstStyle/>
          <a:p>
            <a:pPr marL="0" indent="0">
              <a:lnSpc>
                <a:spcPct val="95000"/>
              </a:lnSpc>
              <a:buNone/>
            </a:pPr>
            <a:r>
              <a:rPr lang="en-US" sz="1600" b="1" dirty="0">
                <a:solidFill>
                  <a:srgbClr val="0F172A"/>
                </a:solidFill>
                <a:latin typeface="Calibri" pitchFamily="34" charset="0"/>
                <a:ea typeface="Calibri" pitchFamily="34" charset="-122"/>
                <a:cs typeface="Calibri" pitchFamily="34" charset="-120"/>
              </a:rPr>
              <a:t>Split &amp; validation</a:t>
            </a:r>
            <a:endParaRPr lang="en-US" sz="1600" dirty="0"/>
          </a:p>
        </p:txBody>
      </p:sp>
      <p:sp>
        <p:nvSpPr>
          <p:cNvPr id="16" name="Text 12"/>
          <p:cNvSpPr/>
          <p:nvPr/>
        </p:nvSpPr>
        <p:spPr>
          <a:xfrm>
            <a:off x="3785616" y="3611880"/>
            <a:ext cx="2167128" cy="114300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Découpage stratifié + validation temporelle (variable step) pour éviter la fuite de données</a:t>
            </a:r>
            <a:endParaRPr lang="en-US" sz="1200" dirty="0"/>
          </a:p>
        </p:txBody>
      </p:sp>
      <p:sp>
        <p:nvSpPr>
          <p:cNvPr id="17" name="Text 13"/>
          <p:cNvSpPr/>
          <p:nvPr/>
        </p:nvSpPr>
        <p:spPr>
          <a:xfrm>
            <a:off x="6144768" y="2971800"/>
            <a:ext cx="310896" cy="731520"/>
          </a:xfrm>
          <a:prstGeom prst="rect">
            <a:avLst/>
          </a:prstGeom>
          <a:noFill/>
          <a:ln/>
        </p:spPr>
        <p:txBody>
          <a:bodyPr wrap="square" lIns="0" tIns="0" rIns="0" bIns="0" rtlCol="0" anchor="ctr"/>
          <a:lstStyle/>
          <a:p>
            <a:pPr marL="0" indent="0" algn="ctr">
              <a:buNone/>
            </a:pPr>
            <a:r>
              <a:rPr lang="en-US" sz="3000" b="1" dirty="0">
                <a:solidFill>
                  <a:srgbClr val="60A5FA"/>
                </a:solidFill>
                <a:latin typeface="Calibri" pitchFamily="34" charset="0"/>
                <a:ea typeface="Calibri" pitchFamily="34" charset="-122"/>
                <a:cs typeface="Calibri" pitchFamily="34" charset="-120"/>
              </a:rPr>
              <a:t>›</a:t>
            </a:r>
            <a:endParaRPr lang="en-US" sz="3000" dirty="0"/>
          </a:p>
        </p:txBody>
      </p:sp>
      <p:sp>
        <p:nvSpPr>
          <p:cNvPr id="18" name="Shape 14"/>
          <p:cNvSpPr/>
          <p:nvPr/>
        </p:nvSpPr>
        <p:spPr>
          <a:xfrm>
            <a:off x="6455664" y="1828800"/>
            <a:ext cx="2670048" cy="3017520"/>
          </a:xfrm>
          <a:prstGeom prst="roundRect">
            <a:avLst>
              <a:gd name="adj" fmla="val 2740"/>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19" name="Shape 15"/>
          <p:cNvSpPr/>
          <p:nvPr/>
        </p:nvSpPr>
        <p:spPr>
          <a:xfrm>
            <a:off x="6729984" y="2103120"/>
            <a:ext cx="713232" cy="713232"/>
          </a:xfrm>
          <a:prstGeom prst="ellipse">
            <a:avLst/>
          </a:prstGeom>
          <a:solidFill>
            <a:srgbClr val="7C3AED"/>
          </a:solidFill>
          <a:ln/>
          <a:effectLst>
            <a:outerShdw blurRad="76200" dist="25400" dir="5400000" algn="bl" rotWithShape="0">
              <a:srgbClr val="0F172A">
                <a:alpha val="15000"/>
              </a:srgbClr>
            </a:outerShdw>
          </a:effectLst>
        </p:spPr>
        <p:txBody>
          <a:bodyPr/>
          <a:lstStyle/>
          <a:p>
            <a:endParaRPr lang="fr-FR"/>
          </a:p>
        </p:txBody>
      </p:sp>
      <p:pic>
        <p:nvPicPr>
          <p:cNvPr id="20" name="Image 2" descr="preencoded.png"/>
          <p:cNvPicPr>
            <a:picLocks noChangeAspect="1"/>
          </p:cNvPicPr>
          <p:nvPr/>
        </p:nvPicPr>
        <p:blipFill>
          <a:blip r:embed="rId5"/>
          <a:stretch>
            <a:fillRect/>
          </a:stretch>
        </p:blipFill>
        <p:spPr>
          <a:xfrm>
            <a:off x="6922557" y="2295693"/>
            <a:ext cx="328087" cy="328087"/>
          </a:xfrm>
          <a:prstGeom prst="rect">
            <a:avLst/>
          </a:prstGeom>
        </p:spPr>
      </p:pic>
      <p:sp>
        <p:nvSpPr>
          <p:cNvPr id="21" name="Text 16"/>
          <p:cNvSpPr/>
          <p:nvPr/>
        </p:nvSpPr>
        <p:spPr>
          <a:xfrm>
            <a:off x="8257032" y="2057400"/>
            <a:ext cx="64008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03</a:t>
            </a:r>
            <a:endParaRPr lang="en-US" sz="3000" dirty="0"/>
          </a:p>
        </p:txBody>
      </p:sp>
      <p:sp>
        <p:nvSpPr>
          <p:cNvPr id="22" name="Text 17"/>
          <p:cNvSpPr/>
          <p:nvPr/>
        </p:nvSpPr>
        <p:spPr>
          <a:xfrm>
            <a:off x="6729984" y="3017520"/>
            <a:ext cx="2167128" cy="640080"/>
          </a:xfrm>
          <a:prstGeom prst="rect">
            <a:avLst/>
          </a:prstGeom>
          <a:noFill/>
          <a:ln/>
        </p:spPr>
        <p:txBody>
          <a:bodyPr wrap="square" lIns="0" tIns="0" rIns="0" bIns="0" rtlCol="0" anchor="ctr"/>
          <a:lstStyle/>
          <a:p>
            <a:pPr marL="0" indent="0">
              <a:lnSpc>
                <a:spcPct val="95000"/>
              </a:lnSpc>
              <a:buNone/>
            </a:pPr>
            <a:r>
              <a:rPr lang="en-US" sz="1600" b="1" dirty="0">
                <a:solidFill>
                  <a:srgbClr val="0F172A"/>
                </a:solidFill>
                <a:latin typeface="Calibri" pitchFamily="34" charset="0"/>
                <a:ea typeface="Calibri" pitchFamily="34" charset="-122"/>
                <a:cs typeface="Calibri" pitchFamily="34" charset="-120"/>
              </a:rPr>
              <a:t>5 modèles comparés</a:t>
            </a:r>
            <a:endParaRPr lang="en-US" sz="1600" dirty="0"/>
          </a:p>
        </p:txBody>
      </p:sp>
      <p:sp>
        <p:nvSpPr>
          <p:cNvPr id="23" name="Text 18"/>
          <p:cNvSpPr/>
          <p:nvPr/>
        </p:nvSpPr>
        <p:spPr>
          <a:xfrm>
            <a:off x="6729984" y="3611880"/>
            <a:ext cx="2167128" cy="114300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LogReg · Random Forest · XGBoost · LightGBM · MLP, évalués sur la PR-AUC</a:t>
            </a:r>
            <a:endParaRPr lang="en-US" sz="1200" dirty="0"/>
          </a:p>
        </p:txBody>
      </p:sp>
      <p:sp>
        <p:nvSpPr>
          <p:cNvPr id="24" name="Text 19"/>
          <p:cNvSpPr/>
          <p:nvPr/>
        </p:nvSpPr>
        <p:spPr>
          <a:xfrm>
            <a:off x="9089136" y="2971800"/>
            <a:ext cx="310896" cy="731520"/>
          </a:xfrm>
          <a:prstGeom prst="rect">
            <a:avLst/>
          </a:prstGeom>
          <a:noFill/>
          <a:ln/>
        </p:spPr>
        <p:txBody>
          <a:bodyPr wrap="square" lIns="0" tIns="0" rIns="0" bIns="0" rtlCol="0" anchor="ctr"/>
          <a:lstStyle/>
          <a:p>
            <a:pPr marL="0" indent="0" algn="ctr">
              <a:buNone/>
            </a:pPr>
            <a:r>
              <a:rPr lang="en-US" sz="3000" b="1" dirty="0">
                <a:solidFill>
                  <a:srgbClr val="60A5FA"/>
                </a:solidFill>
                <a:latin typeface="Calibri" pitchFamily="34" charset="0"/>
                <a:ea typeface="Calibri" pitchFamily="34" charset="-122"/>
                <a:cs typeface="Calibri" pitchFamily="34" charset="-120"/>
              </a:rPr>
              <a:t>›</a:t>
            </a:r>
            <a:endParaRPr lang="en-US" sz="3000" dirty="0"/>
          </a:p>
        </p:txBody>
      </p:sp>
      <p:sp>
        <p:nvSpPr>
          <p:cNvPr id="25" name="Shape 20"/>
          <p:cNvSpPr/>
          <p:nvPr/>
        </p:nvSpPr>
        <p:spPr>
          <a:xfrm>
            <a:off x="9400032" y="1828800"/>
            <a:ext cx="2670048" cy="3017520"/>
          </a:xfrm>
          <a:prstGeom prst="roundRect">
            <a:avLst>
              <a:gd name="adj" fmla="val 2740"/>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26" name="Shape 21"/>
          <p:cNvSpPr/>
          <p:nvPr/>
        </p:nvSpPr>
        <p:spPr>
          <a:xfrm>
            <a:off x="9674352" y="2103120"/>
            <a:ext cx="713232" cy="713232"/>
          </a:xfrm>
          <a:prstGeom prst="ellipse">
            <a:avLst/>
          </a:prstGeom>
          <a:solidFill>
            <a:srgbClr val="F59E0B"/>
          </a:solidFill>
          <a:ln/>
          <a:effectLst>
            <a:outerShdw blurRad="76200" dist="25400" dir="5400000" algn="bl" rotWithShape="0">
              <a:srgbClr val="0F172A">
                <a:alpha val="15000"/>
              </a:srgbClr>
            </a:outerShdw>
          </a:effectLst>
        </p:spPr>
        <p:txBody>
          <a:bodyPr/>
          <a:lstStyle/>
          <a:p>
            <a:endParaRPr lang="fr-FR"/>
          </a:p>
        </p:txBody>
      </p:sp>
      <p:pic>
        <p:nvPicPr>
          <p:cNvPr id="27" name="Image 3" descr="preencoded.png"/>
          <p:cNvPicPr>
            <a:picLocks noChangeAspect="1"/>
          </p:cNvPicPr>
          <p:nvPr/>
        </p:nvPicPr>
        <p:blipFill>
          <a:blip r:embed="rId6"/>
          <a:stretch>
            <a:fillRect/>
          </a:stretch>
        </p:blipFill>
        <p:spPr>
          <a:xfrm>
            <a:off x="9866925" y="2295693"/>
            <a:ext cx="328087" cy="328087"/>
          </a:xfrm>
          <a:prstGeom prst="rect">
            <a:avLst/>
          </a:prstGeom>
        </p:spPr>
      </p:pic>
      <p:sp>
        <p:nvSpPr>
          <p:cNvPr id="28" name="Text 22"/>
          <p:cNvSpPr/>
          <p:nvPr/>
        </p:nvSpPr>
        <p:spPr>
          <a:xfrm>
            <a:off x="11201400" y="2057400"/>
            <a:ext cx="64008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04</a:t>
            </a:r>
            <a:endParaRPr lang="en-US" sz="3000" dirty="0"/>
          </a:p>
        </p:txBody>
      </p:sp>
      <p:sp>
        <p:nvSpPr>
          <p:cNvPr id="29" name="Text 23"/>
          <p:cNvSpPr/>
          <p:nvPr/>
        </p:nvSpPr>
        <p:spPr>
          <a:xfrm>
            <a:off x="9674352" y="3017520"/>
            <a:ext cx="2167128" cy="640080"/>
          </a:xfrm>
          <a:prstGeom prst="rect">
            <a:avLst/>
          </a:prstGeom>
          <a:noFill/>
          <a:ln/>
        </p:spPr>
        <p:txBody>
          <a:bodyPr wrap="square" lIns="0" tIns="0" rIns="0" bIns="0" rtlCol="0" anchor="ctr"/>
          <a:lstStyle/>
          <a:p>
            <a:pPr marL="0" indent="0">
              <a:lnSpc>
                <a:spcPct val="95000"/>
              </a:lnSpc>
              <a:buNone/>
            </a:pPr>
            <a:r>
              <a:rPr lang="en-US" sz="1600" b="1" dirty="0">
                <a:solidFill>
                  <a:srgbClr val="0F172A"/>
                </a:solidFill>
                <a:latin typeface="Calibri" pitchFamily="34" charset="0"/>
                <a:ea typeface="Calibri" pitchFamily="34" charset="-122"/>
                <a:cs typeface="Calibri" pitchFamily="34" charset="-120"/>
              </a:rPr>
              <a:t>Calibrage du seuil</a:t>
            </a:r>
            <a:endParaRPr lang="en-US" sz="1600" dirty="0"/>
          </a:p>
        </p:txBody>
      </p:sp>
      <p:sp>
        <p:nvSpPr>
          <p:cNvPr id="30" name="Text 24"/>
          <p:cNvSpPr/>
          <p:nvPr/>
        </p:nvSpPr>
        <p:spPr>
          <a:xfrm>
            <a:off x="9674352" y="3611880"/>
            <a:ext cx="2167128" cy="114300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Seuil de décision optimisé sous contrainte de rappel minimal (≥ 98 %)</a:t>
            </a:r>
            <a:endParaRPr lang="en-US" sz="1200" dirty="0"/>
          </a:p>
        </p:txBody>
      </p:sp>
      <p:sp>
        <p:nvSpPr>
          <p:cNvPr id="31" name="Shape 25"/>
          <p:cNvSpPr/>
          <p:nvPr/>
        </p:nvSpPr>
        <p:spPr>
          <a:xfrm>
            <a:off x="502920" y="5120640"/>
            <a:ext cx="11183112" cy="566928"/>
          </a:xfrm>
          <a:prstGeom prst="roundRect">
            <a:avLst>
              <a:gd name="adj" fmla="val 9677"/>
            </a:avLst>
          </a:prstGeom>
          <a:solidFill>
            <a:srgbClr val="DBEAFE"/>
          </a:solidFill>
          <a:ln/>
        </p:spPr>
        <p:txBody>
          <a:bodyPr/>
          <a:lstStyle/>
          <a:p>
            <a:endParaRPr lang="fr-FR"/>
          </a:p>
        </p:txBody>
      </p:sp>
      <p:sp>
        <p:nvSpPr>
          <p:cNvPr id="32" name="Text 26"/>
          <p:cNvSpPr/>
          <p:nvPr/>
        </p:nvSpPr>
        <p:spPr>
          <a:xfrm>
            <a:off x="713232" y="5120640"/>
            <a:ext cx="10771632" cy="566928"/>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À retenir   </a:t>
            </a:r>
            <a:r>
              <a:rPr lang="en-US" sz="1300" dirty="0">
                <a:solidFill>
                  <a:srgbClr val="1E293B"/>
                </a:solidFill>
                <a:latin typeface="Calibri" pitchFamily="34" charset="0"/>
                <a:ea typeface="Calibri" pitchFamily="34" charset="-122"/>
                <a:cs typeface="Calibri" pitchFamily="34" charset="-120"/>
              </a:rPr>
              <a:t>La validation temporelle et la contrainte de rappel sont les garde-fous qui rendent le modèle crédible en production.</a:t>
            </a:r>
            <a:endParaRPr lang="en-US" sz="1300" dirty="0"/>
          </a:p>
        </p:txBody>
      </p:sp>
      <p:sp>
        <p:nvSpPr>
          <p:cNvPr id="33" name="Text 27"/>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34" name="Text 28"/>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SÉLECTION DU MODÈLE — FRAUDE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XGBoost l'emporte : meilleure PR-AUC (0,991), recall 98,3 % et précision parfaite</a:t>
            </a:r>
            <a:endParaRPr lang="en-US" sz="2500" dirty="0"/>
          </a:p>
        </p:txBody>
      </p:sp>
      <p:sp>
        <p:nvSpPr>
          <p:cNvPr id="4" name="Text 2"/>
          <p:cNvSpPr/>
          <p:nvPr/>
        </p:nvSpPr>
        <p:spPr>
          <a:xfrm>
            <a:off x="502920" y="1600200"/>
            <a:ext cx="54864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PR-AUC PAR MODÈLE</a:t>
            </a:r>
            <a:endParaRPr lang="en-US" sz="1100" dirty="0"/>
          </a:p>
        </p:txBody>
      </p:sp>
      <p:graphicFrame>
        <p:nvGraphicFramePr>
          <p:cNvPr id="5" name="Chart 0"/>
          <p:cNvGraphicFramePr/>
          <p:nvPr/>
        </p:nvGraphicFramePr>
        <p:xfrm>
          <a:off x="365760" y="1874520"/>
          <a:ext cx="56692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02920" y="5212080"/>
            <a:ext cx="5577840" cy="640080"/>
          </a:xfrm>
          <a:prstGeom prst="rect">
            <a:avLst/>
          </a:prstGeom>
          <a:noFill/>
          <a:ln/>
        </p:spPr>
        <p:txBody>
          <a:bodyPr wrap="square" lIns="0" tIns="0" rIns="0" bIns="0" rtlCol="0" anchor="ctr"/>
          <a:lstStyle/>
          <a:p>
            <a:pPr marL="0" indent="0">
              <a:lnSpc>
                <a:spcPct val="105000"/>
              </a:lnSpc>
              <a:buNone/>
            </a:pPr>
            <a:r>
              <a:rPr lang="en-US" sz="1150" i="1" dirty="0">
                <a:solidFill>
                  <a:srgbClr val="64748B"/>
                </a:solidFill>
                <a:latin typeface="Calibri" pitchFamily="34" charset="0"/>
                <a:ea typeface="Calibri" pitchFamily="34" charset="-122"/>
                <a:cs typeface="Calibri" pitchFamily="34" charset="-120"/>
              </a:rPr>
              <a:t>LightGBM s'effondre sur la classe rare (probabilités mal calibrées) malgré une ROC-AUC de 0,969.</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63640" y="2057400"/>
          <a:ext cx="5440680" cy="914400"/>
        </p:xfrm>
        <a:graphic>
          <a:graphicData uri="http://schemas.openxmlformats.org/drawingml/2006/table">
            <a:tbl>
              <a:tblPr/>
              <a:tblGrid>
                <a:gridCol w="1965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86968">
                  <a:extLst>
                    <a:ext uri="{9D8B030D-6E8A-4147-A177-3AD203B41FA5}">
                      <a16:colId xmlns:a16="http://schemas.microsoft.com/office/drawing/2014/main" val="20002"/>
                    </a:ext>
                  </a:extLst>
                </a:gridCol>
                <a:gridCol w="850392">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420624">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Modèle</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PR-AUC</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Recall</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Prec.</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Seuil</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420624">
                <a:tc>
                  <a:txBody>
                    <a:bodyPr/>
                    <a:lstStyle/>
                    <a:p>
                      <a:pPr marL="0" indent="0" algn="l">
                        <a:buNone/>
                      </a:pPr>
                      <a:r>
                        <a:rPr lang="en-US" sz="1150" b="1" dirty="0">
                          <a:solidFill>
                            <a:srgbClr val="1E293B"/>
                          </a:solidFill>
                          <a:latin typeface="Calibri" pitchFamily="34" charset="0"/>
                          <a:ea typeface="Calibri" pitchFamily="34" charset="-122"/>
                          <a:cs typeface="Calibri" pitchFamily="34" charset="-120"/>
                        </a:rPr>
                        <a:t>Régression log.</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0,767</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0,725</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0,674</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0,98</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150" b="1" dirty="0">
                          <a:solidFill>
                            <a:srgbClr val="1E293B"/>
                          </a:solidFill>
                          <a:latin typeface="Calibri" pitchFamily="34" charset="0"/>
                          <a:ea typeface="Calibri" pitchFamily="34" charset="-122"/>
                          <a:cs typeface="Calibri" pitchFamily="34" charset="-120"/>
                        </a:rPr>
                        <a:t>LightGBM ✗</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0,179</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0,942</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0,191</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0,05</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420624">
                <a:tc>
                  <a:txBody>
                    <a:bodyPr/>
                    <a:lstStyle/>
                    <a:p>
                      <a:pPr marL="0" indent="0" algn="l">
                        <a:buNone/>
                      </a:pPr>
                      <a:r>
                        <a:rPr lang="en-US" sz="1150" b="1" dirty="0">
                          <a:solidFill>
                            <a:srgbClr val="1E293B"/>
                          </a:solidFill>
                          <a:latin typeface="Calibri" pitchFamily="34" charset="0"/>
                          <a:ea typeface="Calibri" pitchFamily="34" charset="-122"/>
                          <a:cs typeface="Calibri" pitchFamily="34" charset="-120"/>
                        </a:rPr>
                        <a:t>MLP (200k) ✗</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0,869</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0,784</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0,882</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0,22</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150" b="1" dirty="0">
                          <a:solidFill>
                            <a:srgbClr val="1E293B"/>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0,987</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0,983</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0,52</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420624">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XGBoost  ★</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0,991</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0,983</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0,67</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5"/>
                  </a:ext>
                </a:extLst>
              </a:tr>
            </a:tbl>
          </a:graphicData>
        </a:graphic>
      </p:graphicFrame>
      <p:sp>
        <p:nvSpPr>
          <p:cNvPr id="8" name="Text 4"/>
          <p:cNvSpPr/>
          <p:nvPr/>
        </p:nvSpPr>
        <p:spPr>
          <a:xfrm>
            <a:off x="6263640" y="4800600"/>
            <a:ext cx="5440680" cy="914400"/>
          </a:xfrm>
          <a:prstGeom prst="rect">
            <a:avLst/>
          </a:prstGeom>
          <a:noFill/>
          <a:ln/>
        </p:spPr>
        <p:txBody>
          <a:bodyPr wrap="square" lIns="0" tIns="0" rIns="0" bIns="0" rtlCol="0" anchor="t"/>
          <a:lstStyle/>
          <a:p>
            <a:pPr marL="0" indent="0">
              <a:lnSpc>
                <a:spcPct val="105000"/>
              </a:lnSpc>
              <a:buNone/>
            </a:pPr>
            <a:r>
              <a:rPr lang="en-US" sz="1200" b="1" dirty="0">
                <a:solidFill>
                  <a:srgbClr val="059669"/>
                </a:solidFill>
                <a:latin typeface="Calibri" pitchFamily="34" charset="0"/>
                <a:ea typeface="Calibri" pitchFamily="34" charset="-122"/>
                <a:cs typeface="Calibri" pitchFamily="34" charset="-120"/>
              </a:rPr>
              <a:t>Pourquoi XGBoost ?  </a:t>
            </a:r>
            <a:r>
              <a:rPr lang="en-US" sz="1200" dirty="0">
                <a:solidFill>
                  <a:srgbClr val="1E293B"/>
                </a:solidFill>
                <a:latin typeface="Calibri" pitchFamily="34" charset="0"/>
                <a:ea typeface="Calibri" pitchFamily="34" charset="-122"/>
                <a:cs typeface="Calibri" pitchFamily="34" charset="-120"/>
              </a:rPr>
              <a:t>Recall et précision identiques à Random Forest, mais une PR-AUC supérieure (0,991 vs 0,987). LightGBM et MLP testés (énoncé) puis écartés.</a:t>
            </a:r>
            <a:endParaRPr lang="en-US" sz="1200" dirty="0"/>
          </a:p>
        </p:txBody>
      </p:sp>
      <p:sp>
        <p:nvSpPr>
          <p:cNvPr id="9" name="Text 5"/>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7" name="Text 6"/>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PERFORMANCE — FRAUDE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Sur ~157 000 transactions de test : 3 fraudes manquées, zéro client honnête bloqué</a:t>
            </a:r>
            <a:endParaRPr lang="en-US" sz="2500" dirty="0"/>
          </a:p>
        </p:txBody>
      </p:sp>
      <p:sp>
        <p:nvSpPr>
          <p:cNvPr id="4" name="Text 2"/>
          <p:cNvSpPr/>
          <p:nvPr/>
        </p:nvSpPr>
        <p:spPr>
          <a:xfrm>
            <a:off x="3017520" y="1764792"/>
            <a:ext cx="3584448" cy="292608"/>
          </a:xfrm>
          <a:prstGeom prst="rect">
            <a:avLst/>
          </a:prstGeom>
          <a:noFill/>
          <a:ln/>
        </p:spPr>
        <p:txBody>
          <a:bodyPr wrap="square" lIns="0" tIns="0" rIns="0" bIns="0" rtlCol="0" anchor="ctr"/>
          <a:lstStyle/>
          <a:p>
            <a:pPr marL="0" indent="0" algn="ctr">
              <a:buNone/>
            </a:pPr>
            <a:r>
              <a:rPr lang="en-US" sz="1200" b="1" dirty="0">
                <a:solidFill>
                  <a:srgbClr val="64748B"/>
                </a:solidFill>
                <a:latin typeface="Calibri" pitchFamily="34" charset="0"/>
                <a:ea typeface="Calibri" pitchFamily="34" charset="-122"/>
                <a:cs typeface="Calibri" pitchFamily="34" charset="-120"/>
              </a:rPr>
              <a:t>Prédit</a:t>
            </a:r>
            <a:endParaRPr lang="en-US" sz="1200" dirty="0"/>
          </a:p>
        </p:txBody>
      </p:sp>
      <p:sp>
        <p:nvSpPr>
          <p:cNvPr id="5" name="Text 3"/>
          <p:cNvSpPr/>
          <p:nvPr/>
        </p:nvSpPr>
        <p:spPr>
          <a:xfrm>
            <a:off x="1280160" y="2039112"/>
            <a:ext cx="1737360" cy="25603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Légitime</a:t>
            </a:r>
            <a:endParaRPr lang="en-US" sz="1100" dirty="0"/>
          </a:p>
        </p:txBody>
      </p:sp>
      <p:sp>
        <p:nvSpPr>
          <p:cNvPr id="6" name="Text 4"/>
          <p:cNvSpPr/>
          <p:nvPr/>
        </p:nvSpPr>
        <p:spPr>
          <a:xfrm>
            <a:off x="3127248" y="2039112"/>
            <a:ext cx="1737360" cy="25603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Fraude</a:t>
            </a:r>
            <a:endParaRPr lang="en-US" sz="1100" dirty="0"/>
          </a:p>
        </p:txBody>
      </p:sp>
      <p:sp>
        <p:nvSpPr>
          <p:cNvPr id="7" name="Text 5"/>
          <p:cNvSpPr/>
          <p:nvPr/>
        </p:nvSpPr>
        <p:spPr>
          <a:xfrm rot="16200000">
            <a:off x="320040" y="3886200"/>
            <a:ext cx="822960" cy="365760"/>
          </a:xfrm>
          <a:prstGeom prst="rect">
            <a:avLst/>
          </a:prstGeom>
          <a:noFill/>
          <a:ln/>
        </p:spPr>
        <p:txBody>
          <a:bodyPr wrap="square" lIns="0" tIns="0" rIns="0" bIns="0" rtlCol="0" anchor="ctr"/>
          <a:lstStyle/>
          <a:p>
            <a:pPr marL="0" indent="0" algn="ctr">
              <a:buNone/>
            </a:pPr>
            <a:r>
              <a:rPr lang="en-US" sz="1200" b="1" dirty="0">
                <a:solidFill>
                  <a:srgbClr val="64748B"/>
                </a:solidFill>
                <a:latin typeface="Calibri" pitchFamily="34" charset="0"/>
                <a:ea typeface="Calibri" pitchFamily="34" charset="-122"/>
                <a:cs typeface="Calibri" pitchFamily="34" charset="-120"/>
              </a:rPr>
              <a:t>Réel</a:t>
            </a:r>
            <a:endParaRPr lang="en-US" sz="1200" dirty="0"/>
          </a:p>
        </p:txBody>
      </p:sp>
      <p:sp>
        <p:nvSpPr>
          <p:cNvPr id="8" name="Text 6"/>
          <p:cNvSpPr/>
          <p:nvPr/>
        </p:nvSpPr>
        <p:spPr>
          <a:xfrm rot="16200000">
            <a:off x="566928" y="2514600"/>
            <a:ext cx="640080" cy="12801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Légitime</a:t>
            </a:r>
            <a:endParaRPr lang="en-US" sz="1100" dirty="0"/>
          </a:p>
        </p:txBody>
      </p:sp>
      <p:sp>
        <p:nvSpPr>
          <p:cNvPr id="9" name="Text 7"/>
          <p:cNvSpPr/>
          <p:nvPr/>
        </p:nvSpPr>
        <p:spPr>
          <a:xfrm rot="16200000">
            <a:off x="566928" y="4361688"/>
            <a:ext cx="640080" cy="12801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Fraude</a:t>
            </a:r>
            <a:endParaRPr lang="en-US" sz="1100" dirty="0"/>
          </a:p>
        </p:txBody>
      </p:sp>
      <p:sp>
        <p:nvSpPr>
          <p:cNvPr id="10" name="Shape 8"/>
          <p:cNvSpPr/>
          <p:nvPr/>
        </p:nvSpPr>
        <p:spPr>
          <a:xfrm>
            <a:off x="1280160" y="2331720"/>
            <a:ext cx="1737360" cy="1737360"/>
          </a:xfrm>
          <a:prstGeom prst="roundRect">
            <a:avLst>
              <a:gd name="adj" fmla="val 2632"/>
            </a:avLst>
          </a:prstGeom>
          <a:solidFill>
            <a:srgbClr val="F0FDF4"/>
          </a:solidFill>
          <a:ln w="19050">
            <a:solidFill>
              <a:srgbClr val="10B981"/>
            </a:solidFill>
            <a:prstDash val="solid"/>
          </a:ln>
        </p:spPr>
        <p:txBody>
          <a:bodyPr/>
          <a:lstStyle/>
          <a:p>
            <a:endParaRPr lang="fr-FR"/>
          </a:p>
        </p:txBody>
      </p:sp>
      <p:sp>
        <p:nvSpPr>
          <p:cNvPr id="11" name="Text 9"/>
          <p:cNvSpPr/>
          <p:nvPr/>
        </p:nvSpPr>
        <p:spPr>
          <a:xfrm>
            <a:off x="1417320" y="2441448"/>
            <a:ext cx="914400" cy="365760"/>
          </a:xfrm>
          <a:prstGeom prst="rect">
            <a:avLst/>
          </a:prstGeom>
          <a:noFill/>
          <a:ln/>
        </p:spPr>
        <p:txBody>
          <a:bodyPr wrap="square" lIns="0" tIns="0" rIns="0" bIns="0"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TN</a:t>
            </a:r>
            <a:endParaRPr lang="en-US" sz="1400" dirty="0"/>
          </a:p>
        </p:txBody>
      </p:sp>
      <p:sp>
        <p:nvSpPr>
          <p:cNvPr id="12" name="Text 10"/>
          <p:cNvSpPr/>
          <p:nvPr/>
        </p:nvSpPr>
        <p:spPr>
          <a:xfrm>
            <a:off x="1280160" y="2898648"/>
            <a:ext cx="1737360" cy="594360"/>
          </a:xfrm>
          <a:prstGeom prst="rect">
            <a:avLst/>
          </a:prstGeom>
          <a:noFill/>
          <a:ln/>
        </p:spPr>
        <p:txBody>
          <a:bodyPr wrap="square" lIns="0" tIns="0" rIns="0" bIns="0" rtlCol="0" anchor="ctr"/>
          <a:lstStyle/>
          <a:p>
            <a:pPr marL="0" indent="0" algn="ctr">
              <a:buNone/>
            </a:pPr>
            <a:r>
              <a:rPr lang="en-US" sz="2600" b="1" dirty="0">
                <a:solidFill>
                  <a:srgbClr val="059669"/>
                </a:solidFill>
                <a:latin typeface="Calibri" pitchFamily="34" charset="0"/>
                <a:ea typeface="Calibri" pitchFamily="34" charset="-122"/>
                <a:cs typeface="Calibri" pitchFamily="34" charset="-120"/>
              </a:rPr>
              <a:t>157 116</a:t>
            </a:r>
            <a:endParaRPr lang="en-US" sz="2600" dirty="0"/>
          </a:p>
        </p:txBody>
      </p:sp>
      <p:sp>
        <p:nvSpPr>
          <p:cNvPr id="13" name="Text 11"/>
          <p:cNvSpPr/>
          <p:nvPr/>
        </p:nvSpPr>
        <p:spPr>
          <a:xfrm>
            <a:off x="1371600" y="3611880"/>
            <a:ext cx="1554480" cy="365760"/>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Légitimes bien classés</a:t>
            </a:r>
            <a:endParaRPr lang="en-US" sz="1050" dirty="0"/>
          </a:p>
        </p:txBody>
      </p:sp>
      <p:sp>
        <p:nvSpPr>
          <p:cNvPr id="14" name="Shape 12"/>
          <p:cNvSpPr/>
          <p:nvPr/>
        </p:nvSpPr>
        <p:spPr>
          <a:xfrm>
            <a:off x="3127248" y="2331720"/>
            <a:ext cx="1737360" cy="1737360"/>
          </a:xfrm>
          <a:prstGeom prst="roundRect">
            <a:avLst>
              <a:gd name="adj" fmla="val 2632"/>
            </a:avLst>
          </a:prstGeom>
          <a:solidFill>
            <a:srgbClr val="ECFDF5"/>
          </a:solidFill>
          <a:ln w="19050">
            <a:solidFill>
              <a:srgbClr val="059669"/>
            </a:solidFill>
            <a:prstDash val="solid"/>
          </a:ln>
        </p:spPr>
        <p:txBody>
          <a:bodyPr/>
          <a:lstStyle/>
          <a:p>
            <a:endParaRPr lang="fr-FR"/>
          </a:p>
        </p:txBody>
      </p:sp>
      <p:sp>
        <p:nvSpPr>
          <p:cNvPr id="15" name="Text 13"/>
          <p:cNvSpPr/>
          <p:nvPr/>
        </p:nvSpPr>
        <p:spPr>
          <a:xfrm>
            <a:off x="3264408" y="2441448"/>
            <a:ext cx="914400" cy="365760"/>
          </a:xfrm>
          <a:prstGeom prst="rect">
            <a:avLst/>
          </a:prstGeom>
          <a:noFill/>
          <a:ln/>
        </p:spPr>
        <p:txBody>
          <a:bodyPr wrap="square" lIns="0" tIns="0" rIns="0" bIns="0"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FP</a:t>
            </a:r>
            <a:endParaRPr lang="en-US" sz="1400" dirty="0"/>
          </a:p>
        </p:txBody>
      </p:sp>
      <p:sp>
        <p:nvSpPr>
          <p:cNvPr id="16" name="Text 14"/>
          <p:cNvSpPr/>
          <p:nvPr/>
        </p:nvSpPr>
        <p:spPr>
          <a:xfrm>
            <a:off x="3127248" y="2788920"/>
            <a:ext cx="1737360" cy="822960"/>
          </a:xfrm>
          <a:prstGeom prst="rect">
            <a:avLst/>
          </a:prstGeom>
          <a:noFill/>
          <a:ln/>
        </p:spPr>
        <p:txBody>
          <a:bodyPr wrap="square" lIns="0" tIns="0" rIns="0" bIns="0" rtlCol="0" anchor="ctr"/>
          <a:lstStyle/>
          <a:p>
            <a:pPr marL="0" indent="0" algn="ctr">
              <a:buNone/>
            </a:pPr>
            <a:r>
              <a:rPr lang="en-US" sz="5400" b="1" dirty="0">
                <a:solidFill>
                  <a:srgbClr val="059669"/>
                </a:solidFill>
                <a:latin typeface="Calibri" pitchFamily="34" charset="0"/>
                <a:ea typeface="Calibri" pitchFamily="34" charset="-122"/>
                <a:cs typeface="Calibri" pitchFamily="34" charset="-120"/>
              </a:rPr>
              <a:t>0</a:t>
            </a:r>
            <a:endParaRPr lang="en-US" sz="5400" dirty="0"/>
          </a:p>
        </p:txBody>
      </p:sp>
      <p:sp>
        <p:nvSpPr>
          <p:cNvPr id="17" name="Text 15"/>
          <p:cNvSpPr/>
          <p:nvPr/>
        </p:nvSpPr>
        <p:spPr>
          <a:xfrm>
            <a:off x="3218688" y="3611880"/>
            <a:ext cx="1554480" cy="365760"/>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Faux positifs</a:t>
            </a:r>
            <a:endParaRPr lang="en-US" sz="1050" dirty="0"/>
          </a:p>
        </p:txBody>
      </p:sp>
      <p:sp>
        <p:nvSpPr>
          <p:cNvPr id="18" name="Shape 16"/>
          <p:cNvSpPr/>
          <p:nvPr/>
        </p:nvSpPr>
        <p:spPr>
          <a:xfrm>
            <a:off x="1280160" y="4178808"/>
            <a:ext cx="1737360" cy="1737360"/>
          </a:xfrm>
          <a:prstGeom prst="roundRect">
            <a:avLst>
              <a:gd name="adj" fmla="val 2632"/>
            </a:avLst>
          </a:prstGeom>
          <a:solidFill>
            <a:srgbClr val="FEF2F2"/>
          </a:solidFill>
          <a:ln w="19050">
            <a:solidFill>
              <a:srgbClr val="DC2626"/>
            </a:solidFill>
            <a:prstDash val="solid"/>
          </a:ln>
        </p:spPr>
        <p:txBody>
          <a:bodyPr/>
          <a:lstStyle/>
          <a:p>
            <a:endParaRPr lang="fr-FR"/>
          </a:p>
        </p:txBody>
      </p:sp>
      <p:sp>
        <p:nvSpPr>
          <p:cNvPr id="19" name="Text 17"/>
          <p:cNvSpPr/>
          <p:nvPr/>
        </p:nvSpPr>
        <p:spPr>
          <a:xfrm>
            <a:off x="1417320" y="4288536"/>
            <a:ext cx="914400" cy="36576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FN</a:t>
            </a:r>
            <a:endParaRPr lang="en-US" sz="1400" dirty="0"/>
          </a:p>
        </p:txBody>
      </p:sp>
      <p:sp>
        <p:nvSpPr>
          <p:cNvPr id="20" name="Text 18"/>
          <p:cNvSpPr/>
          <p:nvPr/>
        </p:nvSpPr>
        <p:spPr>
          <a:xfrm>
            <a:off x="1280160" y="4636008"/>
            <a:ext cx="1737360" cy="822960"/>
          </a:xfrm>
          <a:prstGeom prst="rect">
            <a:avLst/>
          </a:prstGeom>
          <a:noFill/>
          <a:ln/>
        </p:spPr>
        <p:txBody>
          <a:bodyPr wrap="square" lIns="0" tIns="0" rIns="0" bIns="0" rtlCol="0" anchor="ctr"/>
          <a:lstStyle/>
          <a:p>
            <a:pPr marL="0" indent="0" algn="ctr">
              <a:buNone/>
            </a:pPr>
            <a:r>
              <a:rPr lang="en-US" sz="5400" b="1" dirty="0">
                <a:solidFill>
                  <a:srgbClr val="DC2626"/>
                </a:solidFill>
                <a:latin typeface="Calibri" pitchFamily="34" charset="0"/>
                <a:ea typeface="Calibri" pitchFamily="34" charset="-122"/>
                <a:cs typeface="Calibri" pitchFamily="34" charset="-120"/>
              </a:rPr>
              <a:t>3</a:t>
            </a:r>
            <a:endParaRPr lang="en-US" sz="5400" dirty="0"/>
          </a:p>
        </p:txBody>
      </p:sp>
      <p:sp>
        <p:nvSpPr>
          <p:cNvPr id="21" name="Text 19"/>
          <p:cNvSpPr/>
          <p:nvPr/>
        </p:nvSpPr>
        <p:spPr>
          <a:xfrm>
            <a:off x="1371600" y="5458968"/>
            <a:ext cx="1554480" cy="365760"/>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Fraudes manquées</a:t>
            </a:r>
            <a:endParaRPr lang="en-US" sz="1050" dirty="0"/>
          </a:p>
        </p:txBody>
      </p:sp>
      <p:sp>
        <p:nvSpPr>
          <p:cNvPr id="22" name="Shape 20"/>
          <p:cNvSpPr/>
          <p:nvPr/>
        </p:nvSpPr>
        <p:spPr>
          <a:xfrm>
            <a:off x="3127248" y="4178808"/>
            <a:ext cx="1737360" cy="1737360"/>
          </a:xfrm>
          <a:prstGeom prst="roundRect">
            <a:avLst>
              <a:gd name="adj" fmla="val 2632"/>
            </a:avLst>
          </a:prstGeom>
          <a:solidFill>
            <a:srgbClr val="F0FDF4"/>
          </a:solidFill>
          <a:ln w="19050">
            <a:solidFill>
              <a:srgbClr val="10B981"/>
            </a:solidFill>
            <a:prstDash val="solid"/>
          </a:ln>
        </p:spPr>
        <p:txBody>
          <a:bodyPr/>
          <a:lstStyle/>
          <a:p>
            <a:endParaRPr lang="fr-FR"/>
          </a:p>
        </p:txBody>
      </p:sp>
      <p:sp>
        <p:nvSpPr>
          <p:cNvPr id="23" name="Text 21"/>
          <p:cNvSpPr/>
          <p:nvPr/>
        </p:nvSpPr>
        <p:spPr>
          <a:xfrm>
            <a:off x="3264408" y="4288536"/>
            <a:ext cx="914400" cy="365760"/>
          </a:xfrm>
          <a:prstGeom prst="rect">
            <a:avLst/>
          </a:prstGeom>
          <a:noFill/>
          <a:ln/>
        </p:spPr>
        <p:txBody>
          <a:bodyPr wrap="square" lIns="0" tIns="0" rIns="0" bIns="0"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TP</a:t>
            </a:r>
            <a:endParaRPr lang="en-US" sz="1400" dirty="0"/>
          </a:p>
        </p:txBody>
      </p:sp>
      <p:sp>
        <p:nvSpPr>
          <p:cNvPr id="24" name="Text 22"/>
          <p:cNvSpPr/>
          <p:nvPr/>
        </p:nvSpPr>
        <p:spPr>
          <a:xfrm>
            <a:off x="3127248" y="4745736"/>
            <a:ext cx="1737360" cy="594360"/>
          </a:xfrm>
          <a:prstGeom prst="rect">
            <a:avLst/>
          </a:prstGeom>
          <a:noFill/>
          <a:ln/>
        </p:spPr>
        <p:txBody>
          <a:bodyPr wrap="square" lIns="0" tIns="0" rIns="0" bIns="0" rtlCol="0" anchor="ctr"/>
          <a:lstStyle/>
          <a:p>
            <a:pPr marL="0" indent="0" algn="ctr">
              <a:buNone/>
            </a:pPr>
            <a:r>
              <a:rPr lang="en-US" sz="2600" b="1" dirty="0">
                <a:solidFill>
                  <a:srgbClr val="059669"/>
                </a:solidFill>
                <a:latin typeface="Calibri" pitchFamily="34" charset="0"/>
                <a:ea typeface="Calibri" pitchFamily="34" charset="-122"/>
                <a:cs typeface="Calibri" pitchFamily="34" charset="-120"/>
              </a:rPr>
              <a:t>168</a:t>
            </a:r>
            <a:endParaRPr lang="en-US" sz="2600" dirty="0"/>
          </a:p>
        </p:txBody>
      </p:sp>
      <p:sp>
        <p:nvSpPr>
          <p:cNvPr id="25" name="Text 23"/>
          <p:cNvSpPr/>
          <p:nvPr/>
        </p:nvSpPr>
        <p:spPr>
          <a:xfrm>
            <a:off x="3218688" y="5458968"/>
            <a:ext cx="1554480" cy="365760"/>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Fraudes détectées</a:t>
            </a:r>
            <a:endParaRPr lang="en-US" sz="1050" dirty="0"/>
          </a:p>
        </p:txBody>
      </p:sp>
      <p:sp>
        <p:nvSpPr>
          <p:cNvPr id="26" name="Text 24"/>
          <p:cNvSpPr/>
          <p:nvPr/>
        </p:nvSpPr>
        <p:spPr>
          <a:xfrm>
            <a:off x="6035040" y="1828800"/>
            <a:ext cx="54864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LECTURE MÉTIER</a:t>
            </a:r>
            <a:endParaRPr lang="en-US" sz="1100" dirty="0"/>
          </a:p>
        </p:txBody>
      </p:sp>
      <p:sp>
        <p:nvSpPr>
          <p:cNvPr id="27" name="Shape 25"/>
          <p:cNvSpPr/>
          <p:nvPr/>
        </p:nvSpPr>
        <p:spPr>
          <a:xfrm>
            <a:off x="6035040" y="2194560"/>
            <a:ext cx="548640" cy="548640"/>
          </a:xfrm>
          <a:prstGeom prst="ellipse">
            <a:avLst/>
          </a:prstGeom>
          <a:solidFill>
            <a:srgbClr val="059669"/>
          </a:solidFill>
          <a:ln/>
        </p:spPr>
        <p:txBody>
          <a:bodyPr/>
          <a:lstStyle/>
          <a:p>
            <a:endParaRPr lang="fr-FR"/>
          </a:p>
        </p:txBody>
      </p:sp>
      <p:pic>
        <p:nvPicPr>
          <p:cNvPr id="28" name="Image 0" descr="preencoded.png"/>
          <p:cNvPicPr>
            <a:picLocks noChangeAspect="1"/>
          </p:cNvPicPr>
          <p:nvPr/>
        </p:nvPicPr>
        <p:blipFill>
          <a:blip r:embed="rId3"/>
          <a:stretch>
            <a:fillRect/>
          </a:stretch>
        </p:blipFill>
        <p:spPr>
          <a:xfrm>
            <a:off x="6190488" y="2350008"/>
            <a:ext cx="237744" cy="237744"/>
          </a:xfrm>
          <a:prstGeom prst="rect">
            <a:avLst/>
          </a:prstGeom>
        </p:spPr>
      </p:pic>
      <p:sp>
        <p:nvSpPr>
          <p:cNvPr id="29" name="Text 26"/>
          <p:cNvSpPr/>
          <p:nvPr/>
        </p:nvSpPr>
        <p:spPr>
          <a:xfrm>
            <a:off x="6720840" y="2176272"/>
            <a:ext cx="4937760"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0 faux positif</a:t>
            </a:r>
            <a:endParaRPr lang="en-US" sz="1500" dirty="0"/>
          </a:p>
        </p:txBody>
      </p:sp>
      <p:sp>
        <p:nvSpPr>
          <p:cNvPr id="30" name="Text 27"/>
          <p:cNvSpPr/>
          <p:nvPr/>
        </p:nvSpPr>
        <p:spPr>
          <a:xfrm>
            <a:off x="6720840" y="2487168"/>
            <a:ext cx="4983480" cy="685800"/>
          </a:xfrm>
          <a:prstGeom prst="rect">
            <a:avLst/>
          </a:prstGeom>
          <a:noFill/>
          <a:ln/>
        </p:spPr>
        <p:txBody>
          <a:bodyPr wrap="square" lIns="0" tIns="0" rIns="0" bIns="0" rtlCol="0" anchor="ctr"/>
          <a:lstStyle/>
          <a:p>
            <a:pPr marL="0" indent="0">
              <a:lnSpc>
                <a:spcPct val="102000"/>
              </a:lnSpc>
              <a:buNone/>
            </a:pPr>
            <a:r>
              <a:rPr lang="en-US" sz="1200" dirty="0">
                <a:solidFill>
                  <a:srgbClr val="64748B"/>
                </a:solidFill>
                <a:latin typeface="Calibri" pitchFamily="34" charset="0"/>
                <a:ea typeface="Calibri" pitchFamily="34" charset="-122"/>
                <a:cs typeface="Calibri" pitchFamily="34" charset="-120"/>
              </a:rPr>
              <a:t>Aucun client honnête n'est bloqué : zéro friction, zéro appel au support inutile.</a:t>
            </a:r>
            <a:endParaRPr lang="en-US" sz="1200" dirty="0"/>
          </a:p>
        </p:txBody>
      </p:sp>
      <p:sp>
        <p:nvSpPr>
          <p:cNvPr id="31" name="Shape 28"/>
          <p:cNvSpPr/>
          <p:nvPr/>
        </p:nvSpPr>
        <p:spPr>
          <a:xfrm>
            <a:off x="6035040" y="3401568"/>
            <a:ext cx="548640" cy="548640"/>
          </a:xfrm>
          <a:prstGeom prst="ellipse">
            <a:avLst/>
          </a:prstGeom>
          <a:solidFill>
            <a:srgbClr val="DC2626"/>
          </a:solidFill>
          <a:ln/>
        </p:spPr>
        <p:txBody>
          <a:bodyPr/>
          <a:lstStyle/>
          <a:p>
            <a:endParaRPr lang="fr-FR"/>
          </a:p>
        </p:txBody>
      </p:sp>
      <p:pic>
        <p:nvPicPr>
          <p:cNvPr id="32" name="Image 1" descr="preencoded.png"/>
          <p:cNvPicPr>
            <a:picLocks noChangeAspect="1"/>
          </p:cNvPicPr>
          <p:nvPr/>
        </p:nvPicPr>
        <p:blipFill>
          <a:blip r:embed="rId4"/>
          <a:stretch>
            <a:fillRect/>
          </a:stretch>
        </p:blipFill>
        <p:spPr>
          <a:xfrm>
            <a:off x="6190488" y="3557016"/>
            <a:ext cx="237744" cy="237744"/>
          </a:xfrm>
          <a:prstGeom prst="rect">
            <a:avLst/>
          </a:prstGeom>
        </p:spPr>
      </p:pic>
      <p:sp>
        <p:nvSpPr>
          <p:cNvPr id="33" name="Text 29"/>
          <p:cNvSpPr/>
          <p:nvPr/>
        </p:nvSpPr>
        <p:spPr>
          <a:xfrm>
            <a:off x="6720840" y="3383280"/>
            <a:ext cx="4937760"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3 fraudes manquées</a:t>
            </a:r>
            <a:endParaRPr lang="en-US" sz="1500" dirty="0"/>
          </a:p>
        </p:txBody>
      </p:sp>
      <p:sp>
        <p:nvSpPr>
          <p:cNvPr id="34" name="Text 30"/>
          <p:cNvSpPr/>
          <p:nvPr/>
        </p:nvSpPr>
        <p:spPr>
          <a:xfrm>
            <a:off x="6720840" y="3694176"/>
            <a:ext cx="4983480" cy="685800"/>
          </a:xfrm>
          <a:prstGeom prst="rect">
            <a:avLst/>
          </a:prstGeom>
          <a:noFill/>
          <a:ln/>
        </p:spPr>
        <p:txBody>
          <a:bodyPr wrap="square" lIns="0" tIns="0" rIns="0" bIns="0" rtlCol="0" anchor="ctr"/>
          <a:lstStyle/>
          <a:p>
            <a:pPr marL="0" indent="0">
              <a:lnSpc>
                <a:spcPct val="102000"/>
              </a:lnSpc>
              <a:buNone/>
            </a:pPr>
            <a:r>
              <a:rPr lang="en-US" sz="1200" dirty="0">
                <a:solidFill>
                  <a:srgbClr val="64748B"/>
                </a:solidFill>
                <a:latin typeface="Calibri" pitchFamily="34" charset="0"/>
                <a:ea typeface="Calibri" pitchFamily="34" charset="-122"/>
                <a:cs typeface="Calibri" pitchFamily="34" charset="-120"/>
              </a:rPr>
              <a:t>Le résidu de risque est connu, chiffré et suivi — pas un angle mort.</a:t>
            </a:r>
            <a:endParaRPr lang="en-US" sz="1200" dirty="0"/>
          </a:p>
        </p:txBody>
      </p:sp>
      <p:sp>
        <p:nvSpPr>
          <p:cNvPr id="35" name="Shape 31"/>
          <p:cNvSpPr/>
          <p:nvPr/>
        </p:nvSpPr>
        <p:spPr>
          <a:xfrm>
            <a:off x="6035040" y="4608576"/>
            <a:ext cx="548640" cy="548640"/>
          </a:xfrm>
          <a:prstGeom prst="ellipse">
            <a:avLst/>
          </a:prstGeom>
          <a:solidFill>
            <a:srgbClr val="2563EB"/>
          </a:solidFill>
          <a:ln/>
        </p:spPr>
        <p:txBody>
          <a:bodyPr/>
          <a:lstStyle/>
          <a:p>
            <a:endParaRPr lang="fr-FR"/>
          </a:p>
        </p:txBody>
      </p:sp>
      <p:pic>
        <p:nvPicPr>
          <p:cNvPr id="36" name="Image 2" descr="preencoded.png"/>
          <p:cNvPicPr>
            <a:picLocks noChangeAspect="1"/>
          </p:cNvPicPr>
          <p:nvPr/>
        </p:nvPicPr>
        <p:blipFill>
          <a:blip r:embed="rId5"/>
          <a:stretch>
            <a:fillRect/>
          </a:stretch>
        </p:blipFill>
        <p:spPr>
          <a:xfrm>
            <a:off x="6190488" y="4764024"/>
            <a:ext cx="237744" cy="237744"/>
          </a:xfrm>
          <a:prstGeom prst="rect">
            <a:avLst/>
          </a:prstGeom>
        </p:spPr>
      </p:pic>
      <p:sp>
        <p:nvSpPr>
          <p:cNvPr id="37" name="Text 32"/>
          <p:cNvSpPr/>
          <p:nvPr/>
        </p:nvSpPr>
        <p:spPr>
          <a:xfrm>
            <a:off x="6720840" y="4590288"/>
            <a:ext cx="4937760" cy="32004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Seuil = 0,67</a:t>
            </a:r>
            <a:endParaRPr lang="en-US" sz="1500" dirty="0"/>
          </a:p>
        </p:txBody>
      </p:sp>
      <p:sp>
        <p:nvSpPr>
          <p:cNvPr id="38" name="Text 33"/>
          <p:cNvSpPr/>
          <p:nvPr/>
        </p:nvSpPr>
        <p:spPr>
          <a:xfrm>
            <a:off x="6720840" y="4901184"/>
            <a:ext cx="4983480" cy="685800"/>
          </a:xfrm>
          <a:prstGeom prst="rect">
            <a:avLst/>
          </a:prstGeom>
          <a:noFill/>
          <a:ln/>
        </p:spPr>
        <p:txBody>
          <a:bodyPr wrap="square" lIns="0" tIns="0" rIns="0" bIns="0" rtlCol="0" anchor="ctr"/>
          <a:lstStyle/>
          <a:p>
            <a:pPr marL="0" indent="0">
              <a:lnSpc>
                <a:spcPct val="102000"/>
              </a:lnSpc>
              <a:buNone/>
            </a:pPr>
            <a:r>
              <a:rPr lang="en-US" sz="1200" dirty="0">
                <a:solidFill>
                  <a:srgbClr val="64748B"/>
                </a:solidFill>
                <a:latin typeface="Calibri" pitchFamily="34" charset="0"/>
                <a:ea typeface="Calibri" pitchFamily="34" charset="-122"/>
                <a:cs typeface="Calibri" pitchFamily="34" charset="-120"/>
              </a:rPr>
              <a:t>Le point de fonctionnement est choisi, pas subi : on arbitre rappel vs. précision en conscience.</a:t>
            </a:r>
            <a:endParaRPr lang="en-US" sz="1200" dirty="0"/>
          </a:p>
        </p:txBody>
      </p:sp>
      <p:sp>
        <p:nvSpPr>
          <p:cNvPr id="39" name="Text 34"/>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40" name="Text 35"/>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EXPLICABILITÉ — FRAUDE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Le modèle est lisible : les incohérences de soldes pilotent la décision</a:t>
            </a:r>
            <a:endParaRPr lang="en-US" sz="2500" dirty="0"/>
          </a:p>
        </p:txBody>
      </p:sp>
      <p:sp>
        <p:nvSpPr>
          <p:cNvPr id="4" name="Text 2"/>
          <p:cNvSpPr/>
          <p:nvPr/>
        </p:nvSpPr>
        <p:spPr>
          <a:xfrm>
            <a:off x="502920" y="1600200"/>
            <a:ext cx="64008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IMPORTANCE SHAP MOYENNE — CLASSE FRAUDE (TOP 10)</a:t>
            </a:r>
            <a:endParaRPr lang="en-US" sz="1100" dirty="0"/>
          </a:p>
        </p:txBody>
      </p:sp>
      <p:graphicFrame>
        <p:nvGraphicFramePr>
          <p:cNvPr id="5" name="Chart 0"/>
          <p:cNvGraphicFramePr/>
          <p:nvPr/>
        </p:nvGraphicFramePr>
        <p:xfrm>
          <a:off x="320040" y="1920240"/>
          <a:ext cx="658368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178040" y="1920240"/>
            <a:ext cx="4526280" cy="4160520"/>
          </a:xfrm>
          <a:prstGeom prst="roundRect">
            <a:avLst>
              <a:gd name="adj" fmla="val 1758"/>
            </a:avLst>
          </a:prstGeom>
          <a:solidFill>
            <a:srgbClr val="0F172A"/>
          </a:solidFill>
          <a:ln/>
          <a:effectLst>
            <a:outerShdw blurRad="101600" dist="38100" dir="5400000" algn="bl" rotWithShape="0">
              <a:srgbClr val="0F172A">
                <a:alpha val="15000"/>
              </a:srgbClr>
            </a:outerShdw>
          </a:effectLst>
        </p:spPr>
        <p:txBody>
          <a:bodyPr/>
          <a:lstStyle/>
          <a:p>
            <a:endParaRPr lang="fr-FR"/>
          </a:p>
        </p:txBody>
      </p:sp>
      <p:sp>
        <p:nvSpPr>
          <p:cNvPr id="7" name="Text 4"/>
          <p:cNvSpPr/>
          <p:nvPr/>
        </p:nvSpPr>
        <p:spPr>
          <a:xfrm>
            <a:off x="7452360" y="2148840"/>
            <a:ext cx="402336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Ce que le modèle a appris</a:t>
            </a:r>
            <a:endParaRPr lang="en-US" sz="1700" dirty="0"/>
          </a:p>
        </p:txBody>
      </p:sp>
      <p:sp>
        <p:nvSpPr>
          <p:cNvPr id="8" name="Text 5"/>
          <p:cNvSpPr/>
          <p:nvPr/>
        </p:nvSpPr>
        <p:spPr>
          <a:xfrm>
            <a:off x="7452360" y="2697480"/>
            <a:ext cx="4023360" cy="320040"/>
          </a:xfrm>
          <a:prstGeom prst="rect">
            <a:avLst/>
          </a:prstGeom>
          <a:noFill/>
          <a:ln/>
        </p:spPr>
        <p:txBody>
          <a:bodyPr wrap="square" lIns="0" tIns="0" rIns="0" bIns="0" rtlCol="0" anchor="ctr"/>
          <a:lstStyle/>
          <a:p>
            <a:pPr marL="0" indent="0">
              <a:buNone/>
            </a:pPr>
            <a:r>
              <a:rPr lang="en-US" sz="1350" b="1" dirty="0">
                <a:solidFill>
                  <a:srgbClr val="60A5FA"/>
                </a:solidFill>
                <a:latin typeface="Calibri" pitchFamily="34" charset="0"/>
                <a:ea typeface="Calibri" pitchFamily="34" charset="-122"/>
                <a:cs typeface="Calibri" pitchFamily="34" charset="-120"/>
              </a:rPr>
              <a:t>origin_error</a:t>
            </a:r>
            <a:endParaRPr lang="en-US" sz="1350" dirty="0"/>
          </a:p>
        </p:txBody>
      </p:sp>
      <p:sp>
        <p:nvSpPr>
          <p:cNvPr id="9" name="Text 6"/>
          <p:cNvSpPr/>
          <p:nvPr/>
        </p:nvSpPr>
        <p:spPr>
          <a:xfrm>
            <a:off x="7452360" y="2999232"/>
            <a:ext cx="4069080" cy="777240"/>
          </a:xfrm>
          <a:prstGeom prst="rect">
            <a:avLst/>
          </a:prstGeom>
          <a:noFill/>
          <a:ln/>
        </p:spPr>
        <p:txBody>
          <a:bodyPr wrap="square" lIns="0" tIns="0" rIns="0" bIns="0" rtlCol="0" anchor="ctr"/>
          <a:lstStyle/>
          <a:p>
            <a:pPr marL="0" indent="0">
              <a:lnSpc>
                <a:spcPct val="105000"/>
              </a:lnSpc>
              <a:buNone/>
            </a:pPr>
            <a:r>
              <a:rPr lang="en-US" sz="1200" dirty="0">
                <a:solidFill>
                  <a:srgbClr val="E2E8F0"/>
                </a:solidFill>
                <a:latin typeface="Calibri" pitchFamily="34" charset="0"/>
                <a:ea typeface="Calibri" pitchFamily="34" charset="-122"/>
                <a:cs typeface="Calibri" pitchFamily="34" charset="-120"/>
              </a:rPr>
              <a:t>Les incohérences de soldes au compte d'origine sont le signal n°1 — argent qui « disparaît » sans logique comptable.</a:t>
            </a:r>
            <a:endParaRPr lang="en-US" sz="1200" dirty="0"/>
          </a:p>
        </p:txBody>
      </p:sp>
      <p:sp>
        <p:nvSpPr>
          <p:cNvPr id="10" name="Text 7"/>
          <p:cNvSpPr/>
          <p:nvPr/>
        </p:nvSpPr>
        <p:spPr>
          <a:xfrm>
            <a:off x="7452360" y="3776472"/>
            <a:ext cx="4023360" cy="320040"/>
          </a:xfrm>
          <a:prstGeom prst="rect">
            <a:avLst/>
          </a:prstGeom>
          <a:noFill/>
          <a:ln/>
        </p:spPr>
        <p:txBody>
          <a:bodyPr wrap="square" lIns="0" tIns="0" rIns="0" bIns="0" rtlCol="0" anchor="ctr"/>
          <a:lstStyle/>
          <a:p>
            <a:pPr marL="0" indent="0">
              <a:buNone/>
            </a:pPr>
            <a:r>
              <a:rPr lang="en-US" sz="1350" b="1" dirty="0">
                <a:solidFill>
                  <a:srgbClr val="60A5FA"/>
                </a:solidFill>
                <a:latin typeface="Calibri" pitchFamily="34" charset="0"/>
                <a:ea typeface="Calibri" pitchFamily="34" charset="-122"/>
                <a:cs typeface="Calibri" pitchFamily="34" charset="-120"/>
              </a:rPr>
              <a:t>is_zero_newbalance_origin</a:t>
            </a:r>
            <a:endParaRPr lang="en-US" sz="1350" dirty="0"/>
          </a:p>
        </p:txBody>
      </p:sp>
      <p:sp>
        <p:nvSpPr>
          <p:cNvPr id="11" name="Text 8"/>
          <p:cNvSpPr/>
          <p:nvPr/>
        </p:nvSpPr>
        <p:spPr>
          <a:xfrm>
            <a:off x="7452360" y="4078224"/>
            <a:ext cx="4069080" cy="777240"/>
          </a:xfrm>
          <a:prstGeom prst="rect">
            <a:avLst/>
          </a:prstGeom>
          <a:noFill/>
          <a:ln/>
        </p:spPr>
        <p:txBody>
          <a:bodyPr wrap="square" lIns="0" tIns="0" rIns="0" bIns="0" rtlCol="0" anchor="ctr"/>
          <a:lstStyle/>
          <a:p>
            <a:pPr marL="0" indent="0">
              <a:lnSpc>
                <a:spcPct val="105000"/>
              </a:lnSpc>
              <a:buNone/>
            </a:pPr>
            <a:r>
              <a:rPr lang="en-US" sz="1200" dirty="0">
                <a:solidFill>
                  <a:srgbClr val="E2E8F0"/>
                </a:solidFill>
                <a:latin typeface="Calibri" pitchFamily="34" charset="0"/>
                <a:ea typeface="Calibri" pitchFamily="34" charset="-122"/>
                <a:cs typeface="Calibri" pitchFamily="34" charset="-120"/>
              </a:rPr>
              <a:t>Un compte vidé à zéro après l'opération est un marqueur fort de fraude.</a:t>
            </a:r>
            <a:endParaRPr lang="en-US" sz="1200" dirty="0"/>
          </a:p>
        </p:txBody>
      </p:sp>
      <p:sp>
        <p:nvSpPr>
          <p:cNvPr id="12" name="Text 9"/>
          <p:cNvSpPr/>
          <p:nvPr/>
        </p:nvSpPr>
        <p:spPr>
          <a:xfrm>
            <a:off x="7452360" y="4855464"/>
            <a:ext cx="4023360" cy="320040"/>
          </a:xfrm>
          <a:prstGeom prst="rect">
            <a:avLst/>
          </a:prstGeom>
          <a:noFill/>
          <a:ln/>
        </p:spPr>
        <p:txBody>
          <a:bodyPr wrap="square" lIns="0" tIns="0" rIns="0" bIns="0" rtlCol="0" anchor="ctr"/>
          <a:lstStyle/>
          <a:p>
            <a:pPr marL="0" indent="0">
              <a:buNone/>
            </a:pPr>
            <a:r>
              <a:rPr lang="en-US" sz="1350" b="1" dirty="0">
                <a:solidFill>
                  <a:srgbClr val="60A5FA"/>
                </a:solidFill>
                <a:latin typeface="Calibri" pitchFamily="34" charset="0"/>
                <a:ea typeface="Calibri" pitchFamily="34" charset="-122"/>
                <a:cs typeface="Calibri" pitchFamily="34" charset="-120"/>
              </a:rPr>
              <a:t>is_transfer_or_cashout</a:t>
            </a:r>
            <a:endParaRPr lang="en-US" sz="1350" dirty="0"/>
          </a:p>
        </p:txBody>
      </p:sp>
      <p:sp>
        <p:nvSpPr>
          <p:cNvPr id="13" name="Text 10"/>
          <p:cNvSpPr/>
          <p:nvPr/>
        </p:nvSpPr>
        <p:spPr>
          <a:xfrm>
            <a:off x="7452360" y="5157216"/>
            <a:ext cx="4069080" cy="777240"/>
          </a:xfrm>
          <a:prstGeom prst="rect">
            <a:avLst/>
          </a:prstGeom>
          <a:noFill/>
          <a:ln/>
        </p:spPr>
        <p:txBody>
          <a:bodyPr wrap="square" lIns="0" tIns="0" rIns="0" bIns="0" rtlCol="0" anchor="ctr"/>
          <a:lstStyle/>
          <a:p>
            <a:pPr marL="0" indent="0">
              <a:lnSpc>
                <a:spcPct val="105000"/>
              </a:lnSpc>
              <a:buNone/>
            </a:pPr>
            <a:r>
              <a:rPr lang="en-US" sz="1200" dirty="0">
                <a:solidFill>
                  <a:srgbClr val="E2E8F0"/>
                </a:solidFill>
                <a:latin typeface="Calibri" pitchFamily="34" charset="0"/>
                <a:ea typeface="Calibri" pitchFamily="34" charset="-122"/>
                <a:cs typeface="Calibri" pitchFamily="34" charset="-120"/>
              </a:rPr>
              <a:t>TRANSFER et CASH_OUT concentrent la quasi-totalité des fraudes.</a:t>
            </a:r>
            <a:endParaRPr lang="en-US" sz="1200" dirty="0"/>
          </a:p>
        </p:txBody>
      </p:sp>
      <p:sp>
        <p:nvSpPr>
          <p:cNvPr id="14" name="Text 11"/>
          <p:cNvSpPr/>
          <p:nvPr/>
        </p:nvSpPr>
        <p:spPr>
          <a:xfrm>
            <a:off x="7452360" y="5806440"/>
            <a:ext cx="4023360" cy="457200"/>
          </a:xfrm>
          <a:prstGeom prst="rect">
            <a:avLst/>
          </a:prstGeom>
          <a:noFill/>
          <a:ln/>
        </p:spPr>
        <p:txBody>
          <a:bodyPr wrap="square" lIns="0" tIns="0" rIns="0" bIns="0" rtlCol="0" anchor="ctr"/>
          <a:lstStyle/>
          <a:p>
            <a:pPr marL="0" indent="0">
              <a:lnSpc>
                <a:spcPct val="100000"/>
              </a:lnSpc>
              <a:buNone/>
            </a:pPr>
            <a:r>
              <a:rPr lang="en-US" sz="950" i="1" dirty="0">
                <a:solidFill>
                  <a:srgbClr val="64748B"/>
                </a:solidFill>
                <a:latin typeface="Calibri" pitchFamily="34" charset="0"/>
                <a:ea typeface="Calibri" pitchFamily="34" charset="-122"/>
                <a:cs typeface="Calibri" pitchFamily="34" charset="-120"/>
              </a:rPr>
              <a:t>Analyse SHAP sur un échantillon de 4 000 transactions. Aucune variable n'est un identifiant technique → pas de fuite de données.</a:t>
            </a:r>
            <a:endParaRPr lang="en-US" sz="950" dirty="0"/>
          </a:p>
        </p:txBody>
      </p:sp>
      <p:sp>
        <p:nvSpPr>
          <p:cNvPr id="15" name="Text 12"/>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16" name="Text 13"/>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CADRAGE ÉCONOMIQUE — FRAUDE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Le coût se joue sur 3 fraudes manquées (~2 M d'unités) — aucun faux positif à compenser</a:t>
            </a:r>
            <a:endParaRPr lang="en-US" sz="2500" dirty="0"/>
          </a:p>
        </p:txBody>
      </p:sp>
      <p:sp>
        <p:nvSpPr>
          <p:cNvPr id="4" name="Shape 2"/>
          <p:cNvSpPr/>
          <p:nvPr/>
        </p:nvSpPr>
        <p:spPr>
          <a:xfrm>
            <a:off x="502920" y="1645920"/>
            <a:ext cx="5440680" cy="1371600"/>
          </a:xfrm>
          <a:prstGeom prst="roundRect">
            <a:avLst>
              <a:gd name="adj" fmla="val 4667"/>
            </a:avLst>
          </a:prstGeom>
          <a:solidFill>
            <a:srgbClr val="F1F5F9"/>
          </a:solidFill>
          <a:ln/>
        </p:spPr>
        <p:txBody>
          <a:bodyPr/>
          <a:lstStyle/>
          <a:p>
            <a:endParaRPr lang="fr-FR"/>
          </a:p>
        </p:txBody>
      </p:sp>
      <p:sp>
        <p:nvSpPr>
          <p:cNvPr id="5" name="Text 3"/>
          <p:cNvSpPr/>
          <p:nvPr/>
        </p:nvSpPr>
        <p:spPr>
          <a:xfrm>
            <a:off x="713232" y="1755648"/>
            <a:ext cx="502920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Hypothèses de coût</a:t>
            </a:r>
            <a:endParaRPr lang="en-US" sz="1400" dirty="0"/>
          </a:p>
        </p:txBody>
      </p:sp>
      <p:sp>
        <p:nvSpPr>
          <p:cNvPr id="6" name="Text 4"/>
          <p:cNvSpPr/>
          <p:nvPr/>
        </p:nvSpPr>
        <p:spPr>
          <a:xfrm>
            <a:off x="713232" y="2121408"/>
            <a:ext cx="5029200" cy="868680"/>
          </a:xfrm>
          <a:prstGeom prst="rect">
            <a:avLst/>
          </a:prstGeom>
          <a:noFill/>
          <a:ln/>
        </p:spPr>
        <p:txBody>
          <a:bodyPr wrap="square" lIns="0" tIns="0" rIns="0" bIns="0" rtlCol="0" anchor="t"/>
          <a:lstStyle/>
          <a:p>
            <a:pPr marL="0" indent="0">
              <a:lnSpc>
                <a:spcPct val="110000"/>
              </a:lnSpc>
              <a:buNone/>
            </a:pPr>
            <a:r>
              <a:rPr lang="en-US" sz="1200" b="1" dirty="0">
                <a:solidFill>
                  <a:srgbClr val="F59E0B"/>
                </a:solidFill>
                <a:latin typeface="Calibri" pitchFamily="34" charset="0"/>
                <a:ea typeface="Calibri" pitchFamily="34" charset="-122"/>
                <a:cs typeface="Calibri" pitchFamily="34" charset="-120"/>
              </a:rPr>
              <a:t>Faux positif (FP) : </a:t>
            </a:r>
            <a:r>
              <a:rPr lang="en-US" sz="1200" dirty="0">
                <a:solidFill>
                  <a:srgbClr val="1E293B"/>
                </a:solidFill>
                <a:latin typeface="Calibri" pitchFamily="34" charset="0"/>
                <a:ea typeface="Calibri" pitchFamily="34" charset="-122"/>
                <a:cs typeface="Calibri" pitchFamily="34" charset="-120"/>
              </a:rPr>
              <a:t>25 € de revue analyste par alerte.</a:t>
            </a:r>
            <a:endParaRPr lang="en-US" sz="1200" dirty="0"/>
          </a:p>
          <a:p>
            <a:pPr marL="0" indent="0">
              <a:lnSpc>
                <a:spcPct val="110000"/>
              </a:lnSpc>
              <a:buNone/>
            </a:pPr>
            <a:r>
              <a:rPr lang="en-US" sz="1200" b="1" dirty="0">
                <a:solidFill>
                  <a:srgbClr val="DC2626"/>
                </a:solidFill>
                <a:latin typeface="Calibri" pitchFamily="34" charset="0"/>
                <a:ea typeface="Calibri" pitchFamily="34" charset="-122"/>
                <a:cs typeface="Calibri" pitchFamily="34" charset="-120"/>
              </a:rPr>
              <a:t>Faux négatif (FN) : </a:t>
            </a:r>
            <a:r>
              <a:rPr lang="en-US" sz="1200" dirty="0">
                <a:solidFill>
                  <a:srgbClr val="1E293B"/>
                </a:solidFill>
                <a:latin typeface="Calibri" pitchFamily="34" charset="0"/>
                <a:ea typeface="Calibri" pitchFamily="34" charset="-122"/>
                <a:cs typeface="Calibri" pitchFamily="34" charset="-120"/>
              </a:rPr>
              <a:t>montant de la fraude non détectée (unités du dataset).</a:t>
            </a:r>
            <a:endParaRPr lang="en-US" sz="1200" dirty="0"/>
          </a:p>
        </p:txBody>
      </p:sp>
      <p:sp>
        <p:nvSpPr>
          <p:cNvPr id="7" name="Text 5"/>
          <p:cNvSpPr/>
          <p:nvPr/>
        </p:nvSpPr>
        <p:spPr>
          <a:xfrm>
            <a:off x="502920" y="3246120"/>
            <a:ext cx="5486400" cy="274320"/>
          </a:xfrm>
          <a:prstGeom prst="rect">
            <a:avLst/>
          </a:prstGeom>
          <a:noFill/>
          <a:ln/>
        </p:spPr>
        <p:txBody>
          <a:bodyPr wrap="square" lIns="0" tIns="0" rIns="0" bIns="0" rtlCol="0" anchor="ctr"/>
          <a:lstStyle/>
          <a:p>
            <a:pPr marL="0" indent="0">
              <a:buNone/>
            </a:pPr>
            <a:r>
              <a:rPr lang="en-US" sz="1050" b="1" kern="0" spc="150" dirty="0">
                <a:solidFill>
                  <a:srgbClr val="64748B"/>
                </a:solidFill>
                <a:latin typeface="Calibri" pitchFamily="34" charset="0"/>
                <a:ea typeface="Calibri" pitchFamily="34" charset="-122"/>
                <a:cs typeface="Calibri" pitchFamily="34" charset="-120"/>
              </a:rPr>
              <a:t>TROIS SEUILS COMPARÉS SUR LE JEU DE TEST (171 FRAUDES)</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3520440"/>
          <a:ext cx="5440680" cy="914400"/>
        </p:xfrm>
        <a:graphic>
          <a:graphicData uri="http://schemas.openxmlformats.org/drawingml/2006/table">
            <a:tbl>
              <a:tblPr/>
              <a:tblGrid>
                <a:gridCol w="82296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38912">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Seuil</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FN</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FP</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Perte FN (unités)</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Coût FP</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438912">
                <a:tc>
                  <a:txBody>
                    <a:bodyPr/>
                    <a:lstStyle/>
                    <a:p>
                      <a:pPr marL="0" indent="0" algn="l">
                        <a:buNone/>
                      </a:pPr>
                      <a:r>
                        <a:rPr lang="en-US" sz="1150" b="1" dirty="0">
                          <a:solidFill>
                            <a:srgbClr val="1E293B"/>
                          </a:solidFill>
                          <a:latin typeface="Calibri" pitchFamily="34" charset="0"/>
                          <a:ea typeface="Calibri" pitchFamily="34" charset="-122"/>
                          <a:cs typeface="Calibri" pitchFamily="34" charset="-120"/>
                        </a:rPr>
                        <a:t>0,50</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~2 032 438</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0 €</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0,67 ★</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~2 032 438</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0 €</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2"/>
                  </a:ext>
                </a:extLst>
              </a:tr>
              <a:tr h="438912">
                <a:tc>
                  <a:txBody>
                    <a:bodyPr/>
                    <a:lstStyle/>
                    <a:p>
                      <a:pPr marL="0" indent="0" algn="l">
                        <a:buNone/>
                      </a:pPr>
                      <a:r>
                        <a:rPr lang="en-US" sz="1150" b="1" dirty="0">
                          <a:solidFill>
                            <a:srgbClr val="1E293B"/>
                          </a:solidFill>
                          <a:latin typeface="Calibri" pitchFamily="34" charset="0"/>
                          <a:ea typeface="Calibri" pitchFamily="34" charset="-122"/>
                          <a:cs typeface="Calibri" pitchFamily="34" charset="-120"/>
                        </a:rPr>
                        <a:t>0,84</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~2 032 438</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93B"/>
                          </a:solidFill>
                          <a:latin typeface="Calibri" pitchFamily="34" charset="0"/>
                          <a:ea typeface="Calibri" pitchFamily="34" charset="-122"/>
                          <a:cs typeface="Calibri" pitchFamily="34" charset="-120"/>
                        </a:rPr>
                        <a:t>0 €</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6"/>
          <p:cNvSpPr/>
          <p:nvPr/>
        </p:nvSpPr>
        <p:spPr>
          <a:xfrm>
            <a:off x="502920" y="5440680"/>
            <a:ext cx="5486400" cy="548640"/>
          </a:xfrm>
          <a:prstGeom prst="rect">
            <a:avLst/>
          </a:prstGeom>
          <a:noFill/>
          <a:ln/>
        </p:spPr>
        <p:txBody>
          <a:bodyPr wrap="square" lIns="0" tIns="0" rIns="0" bIns="0" rtlCol="0" anchor="ctr"/>
          <a:lstStyle/>
          <a:p>
            <a:pPr marL="0" indent="0">
              <a:lnSpc>
                <a:spcPct val="105000"/>
              </a:lnSpc>
              <a:buNone/>
            </a:pPr>
            <a:r>
              <a:rPr lang="en-US" sz="1150" i="1" dirty="0">
                <a:solidFill>
                  <a:srgbClr val="64748B"/>
                </a:solidFill>
                <a:latin typeface="Calibri" pitchFamily="34" charset="0"/>
                <a:ea typeface="Calibri" pitchFamily="34" charset="-122"/>
                <a:cs typeface="Calibri" pitchFamily="34" charset="-120"/>
              </a:rPr>
              <a:t>Baisser le seuil n'améliore pas le rappel : les 3 FN sont des cas structurellement difficiles.</a:t>
            </a:r>
            <a:endParaRPr lang="en-US" sz="1150" dirty="0"/>
          </a:p>
        </p:txBody>
      </p:sp>
      <p:sp>
        <p:nvSpPr>
          <p:cNvPr id="10" name="Text 7"/>
          <p:cNvSpPr/>
          <p:nvPr/>
        </p:nvSpPr>
        <p:spPr>
          <a:xfrm>
            <a:off x="6172200" y="1645920"/>
            <a:ext cx="54864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LES 3 FRAUDES MANQUÉES</a:t>
            </a:r>
            <a:endParaRPr lang="en-US" sz="1100" dirty="0"/>
          </a:p>
        </p:txBody>
      </p:sp>
      <p:sp>
        <p:nvSpPr>
          <p:cNvPr id="11" name="Shape 8"/>
          <p:cNvSpPr/>
          <p:nvPr/>
        </p:nvSpPr>
        <p:spPr>
          <a:xfrm>
            <a:off x="6172200" y="1965960"/>
            <a:ext cx="5532120" cy="868680"/>
          </a:xfrm>
          <a:prstGeom prst="roundRect">
            <a:avLst>
              <a:gd name="adj" fmla="val 6316"/>
            </a:avLst>
          </a:prstGeom>
          <a:solidFill>
            <a:srgbClr val="FEF2F2"/>
          </a:solidFill>
          <a:ln w="12700">
            <a:solidFill>
              <a:srgbClr val="DC2626"/>
            </a:solidFill>
            <a:prstDash val="solid"/>
          </a:ln>
        </p:spPr>
        <p:txBody>
          <a:bodyPr/>
          <a:lstStyle/>
          <a:p>
            <a:endParaRPr lang="fr-FR"/>
          </a:p>
        </p:txBody>
      </p:sp>
      <p:sp>
        <p:nvSpPr>
          <p:cNvPr id="12" name="Text 9"/>
          <p:cNvSpPr/>
          <p:nvPr/>
        </p:nvSpPr>
        <p:spPr>
          <a:xfrm>
            <a:off x="6355080" y="2057400"/>
            <a:ext cx="914400" cy="68580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FN 1</a:t>
            </a:r>
            <a:endParaRPr lang="en-US" sz="1300" dirty="0"/>
          </a:p>
        </p:txBody>
      </p:sp>
      <p:sp>
        <p:nvSpPr>
          <p:cNvPr id="8" name="Text 10"/>
          <p:cNvSpPr/>
          <p:nvPr/>
        </p:nvSpPr>
        <p:spPr>
          <a:xfrm>
            <a:off x="7315200" y="2057400"/>
            <a:ext cx="2377440" cy="685800"/>
          </a:xfrm>
          <a:prstGeom prst="rect">
            <a:avLst/>
          </a:prstGeom>
          <a:noFill/>
          <a:ln/>
        </p:spPr>
        <p:txBody>
          <a:bodyPr wrap="square" lIns="0" tIns="0" rIns="0" bIns="0" rtlCol="0" anchor="ctr"/>
          <a:lstStyle/>
          <a:p>
            <a:pPr marL="0" indent="0">
              <a:buNone/>
            </a:pPr>
            <a:r>
              <a:rPr lang="en-US" sz="2200" b="1" dirty="0">
                <a:solidFill>
                  <a:srgbClr val="DC2626"/>
                </a:solidFill>
                <a:latin typeface="Calibri" pitchFamily="34" charset="0"/>
                <a:ea typeface="Calibri" pitchFamily="34" charset="-122"/>
                <a:cs typeface="Calibri" pitchFamily="34" charset="-120"/>
              </a:rPr>
              <a:t>~1,4 M  </a:t>
            </a:r>
            <a:r>
              <a:rPr lang="en-US" sz="1200" dirty="0">
                <a:solidFill>
                  <a:srgbClr val="64748B"/>
                </a:solidFill>
                <a:latin typeface="Calibri" pitchFamily="34" charset="0"/>
                <a:ea typeface="Calibri" pitchFamily="34" charset="-122"/>
                <a:cs typeface="Calibri" pitchFamily="34" charset="-120"/>
              </a:rPr>
              <a:t>unités</a:t>
            </a:r>
            <a:endParaRPr lang="en-US" sz="2200" dirty="0"/>
          </a:p>
        </p:txBody>
      </p:sp>
      <p:sp>
        <p:nvSpPr>
          <p:cNvPr id="14" name="Text 11"/>
          <p:cNvSpPr/>
          <p:nvPr/>
        </p:nvSpPr>
        <p:spPr>
          <a:xfrm>
            <a:off x="9692640" y="2057400"/>
            <a:ext cx="1874520" cy="685800"/>
          </a:xfrm>
          <a:prstGeom prst="rect">
            <a:avLst/>
          </a:prstGeom>
          <a:noFill/>
          <a:ln/>
        </p:spPr>
        <p:txBody>
          <a:bodyPr wrap="square" lIns="0" tIns="0" rIns="0" bIns="0" rtlCol="0" anchor="ctr"/>
          <a:lstStyle/>
          <a:p>
            <a:pPr marL="0" indent="0" algn="r">
              <a:buNone/>
            </a:pPr>
            <a:r>
              <a:rPr lang="en-US" sz="1150" i="1" dirty="0">
                <a:solidFill>
                  <a:srgbClr val="64748B"/>
                </a:solidFill>
                <a:latin typeface="Calibri" pitchFamily="34" charset="0"/>
                <a:ea typeface="Calibri" pitchFamily="34" charset="-122"/>
                <a:cs typeface="Calibri" pitchFamily="34" charset="-120"/>
              </a:rPr>
              <a:t>proba ≈ 0</a:t>
            </a:r>
            <a:endParaRPr lang="en-US" sz="1150" dirty="0"/>
          </a:p>
        </p:txBody>
      </p:sp>
      <p:sp>
        <p:nvSpPr>
          <p:cNvPr id="15" name="Shape 12"/>
          <p:cNvSpPr/>
          <p:nvPr/>
        </p:nvSpPr>
        <p:spPr>
          <a:xfrm>
            <a:off x="6172200" y="2944368"/>
            <a:ext cx="5532120" cy="868680"/>
          </a:xfrm>
          <a:prstGeom prst="roundRect">
            <a:avLst>
              <a:gd name="adj" fmla="val 6316"/>
            </a:avLst>
          </a:prstGeom>
          <a:solidFill>
            <a:srgbClr val="FEF2F2"/>
          </a:solidFill>
          <a:ln w="12700">
            <a:solidFill>
              <a:srgbClr val="DC2626"/>
            </a:solidFill>
            <a:prstDash val="solid"/>
          </a:ln>
        </p:spPr>
        <p:txBody>
          <a:bodyPr/>
          <a:lstStyle/>
          <a:p>
            <a:endParaRPr lang="fr-FR"/>
          </a:p>
        </p:txBody>
      </p:sp>
      <p:sp>
        <p:nvSpPr>
          <p:cNvPr id="16" name="Text 13"/>
          <p:cNvSpPr/>
          <p:nvPr/>
        </p:nvSpPr>
        <p:spPr>
          <a:xfrm>
            <a:off x="6355080" y="3035808"/>
            <a:ext cx="914400" cy="68580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FN 2</a:t>
            </a:r>
            <a:endParaRPr lang="en-US" sz="1300" dirty="0"/>
          </a:p>
        </p:txBody>
      </p:sp>
      <p:sp>
        <p:nvSpPr>
          <p:cNvPr id="17" name="Text 14"/>
          <p:cNvSpPr/>
          <p:nvPr/>
        </p:nvSpPr>
        <p:spPr>
          <a:xfrm>
            <a:off x="7315200" y="3035808"/>
            <a:ext cx="2377440" cy="685800"/>
          </a:xfrm>
          <a:prstGeom prst="rect">
            <a:avLst/>
          </a:prstGeom>
          <a:noFill/>
          <a:ln/>
        </p:spPr>
        <p:txBody>
          <a:bodyPr wrap="square" lIns="0" tIns="0" rIns="0" bIns="0" rtlCol="0" anchor="ctr"/>
          <a:lstStyle/>
          <a:p>
            <a:pPr marL="0" indent="0">
              <a:buNone/>
            </a:pPr>
            <a:r>
              <a:rPr lang="en-US" sz="2200" b="1" dirty="0">
                <a:solidFill>
                  <a:srgbClr val="DC2626"/>
                </a:solidFill>
                <a:latin typeface="Calibri" pitchFamily="34" charset="0"/>
                <a:ea typeface="Calibri" pitchFamily="34" charset="-122"/>
                <a:cs typeface="Calibri" pitchFamily="34" charset="-120"/>
              </a:rPr>
              <a:t>~455 k  </a:t>
            </a:r>
            <a:r>
              <a:rPr lang="en-US" sz="1200" dirty="0">
                <a:solidFill>
                  <a:srgbClr val="64748B"/>
                </a:solidFill>
                <a:latin typeface="Calibri" pitchFamily="34" charset="0"/>
                <a:ea typeface="Calibri" pitchFamily="34" charset="-122"/>
                <a:cs typeface="Calibri" pitchFamily="34" charset="-120"/>
              </a:rPr>
              <a:t>unités</a:t>
            </a:r>
            <a:endParaRPr lang="en-US" sz="2200" dirty="0"/>
          </a:p>
        </p:txBody>
      </p:sp>
      <p:sp>
        <p:nvSpPr>
          <p:cNvPr id="18" name="Text 15"/>
          <p:cNvSpPr/>
          <p:nvPr/>
        </p:nvSpPr>
        <p:spPr>
          <a:xfrm>
            <a:off x="9692640" y="3035808"/>
            <a:ext cx="1874520" cy="685800"/>
          </a:xfrm>
          <a:prstGeom prst="rect">
            <a:avLst/>
          </a:prstGeom>
          <a:noFill/>
          <a:ln/>
        </p:spPr>
        <p:txBody>
          <a:bodyPr wrap="square" lIns="0" tIns="0" rIns="0" bIns="0" rtlCol="0" anchor="ctr"/>
          <a:lstStyle/>
          <a:p>
            <a:pPr marL="0" indent="0" algn="r">
              <a:buNone/>
            </a:pPr>
            <a:r>
              <a:rPr lang="en-US" sz="1150" i="1" dirty="0">
                <a:solidFill>
                  <a:srgbClr val="64748B"/>
                </a:solidFill>
                <a:latin typeface="Calibri" pitchFamily="34" charset="0"/>
                <a:ea typeface="Calibri" pitchFamily="34" charset="-122"/>
                <a:cs typeface="Calibri" pitchFamily="34" charset="-120"/>
              </a:rPr>
              <a:t>proba ≈ 0</a:t>
            </a:r>
            <a:endParaRPr lang="en-US" sz="1150" dirty="0"/>
          </a:p>
        </p:txBody>
      </p:sp>
      <p:sp>
        <p:nvSpPr>
          <p:cNvPr id="19" name="Shape 16"/>
          <p:cNvSpPr/>
          <p:nvPr/>
        </p:nvSpPr>
        <p:spPr>
          <a:xfrm>
            <a:off x="6172200" y="3922776"/>
            <a:ext cx="5532120" cy="868680"/>
          </a:xfrm>
          <a:prstGeom prst="roundRect">
            <a:avLst>
              <a:gd name="adj" fmla="val 6316"/>
            </a:avLst>
          </a:prstGeom>
          <a:solidFill>
            <a:srgbClr val="FEF2F2"/>
          </a:solidFill>
          <a:ln w="12700">
            <a:solidFill>
              <a:srgbClr val="DC2626"/>
            </a:solidFill>
            <a:prstDash val="solid"/>
          </a:ln>
        </p:spPr>
        <p:txBody>
          <a:bodyPr/>
          <a:lstStyle/>
          <a:p>
            <a:endParaRPr lang="fr-FR"/>
          </a:p>
        </p:txBody>
      </p:sp>
      <p:sp>
        <p:nvSpPr>
          <p:cNvPr id="20" name="Text 17"/>
          <p:cNvSpPr/>
          <p:nvPr/>
        </p:nvSpPr>
        <p:spPr>
          <a:xfrm>
            <a:off x="6355080" y="4014216"/>
            <a:ext cx="914400" cy="68580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FN 3</a:t>
            </a:r>
            <a:endParaRPr lang="en-US" sz="1300" dirty="0"/>
          </a:p>
        </p:txBody>
      </p:sp>
      <p:sp>
        <p:nvSpPr>
          <p:cNvPr id="21" name="Text 18"/>
          <p:cNvSpPr/>
          <p:nvPr/>
        </p:nvSpPr>
        <p:spPr>
          <a:xfrm>
            <a:off x="7315200" y="4014216"/>
            <a:ext cx="2377440" cy="685800"/>
          </a:xfrm>
          <a:prstGeom prst="rect">
            <a:avLst/>
          </a:prstGeom>
          <a:noFill/>
          <a:ln/>
        </p:spPr>
        <p:txBody>
          <a:bodyPr wrap="square" lIns="0" tIns="0" rIns="0" bIns="0" rtlCol="0" anchor="ctr"/>
          <a:lstStyle/>
          <a:p>
            <a:pPr marL="0" indent="0">
              <a:buNone/>
            </a:pPr>
            <a:r>
              <a:rPr lang="en-US" sz="2200" b="1" dirty="0">
                <a:solidFill>
                  <a:srgbClr val="DC2626"/>
                </a:solidFill>
                <a:latin typeface="Calibri" pitchFamily="34" charset="0"/>
                <a:ea typeface="Calibri" pitchFamily="34" charset="-122"/>
                <a:cs typeface="Calibri" pitchFamily="34" charset="-120"/>
              </a:rPr>
              <a:t>~182 k  </a:t>
            </a:r>
            <a:r>
              <a:rPr lang="en-US" sz="1200" dirty="0">
                <a:solidFill>
                  <a:srgbClr val="64748B"/>
                </a:solidFill>
                <a:latin typeface="Calibri" pitchFamily="34" charset="0"/>
                <a:ea typeface="Calibri" pitchFamily="34" charset="-122"/>
                <a:cs typeface="Calibri" pitchFamily="34" charset="-120"/>
              </a:rPr>
              <a:t>unités</a:t>
            </a:r>
            <a:endParaRPr lang="en-US" sz="2200" dirty="0"/>
          </a:p>
        </p:txBody>
      </p:sp>
      <p:sp>
        <p:nvSpPr>
          <p:cNvPr id="22" name="Text 19"/>
          <p:cNvSpPr/>
          <p:nvPr/>
        </p:nvSpPr>
        <p:spPr>
          <a:xfrm>
            <a:off x="9692640" y="4014216"/>
            <a:ext cx="1874520" cy="685800"/>
          </a:xfrm>
          <a:prstGeom prst="rect">
            <a:avLst/>
          </a:prstGeom>
          <a:noFill/>
          <a:ln/>
        </p:spPr>
        <p:txBody>
          <a:bodyPr wrap="square" lIns="0" tIns="0" rIns="0" bIns="0" rtlCol="0" anchor="ctr"/>
          <a:lstStyle/>
          <a:p>
            <a:pPr marL="0" indent="0" algn="r">
              <a:buNone/>
            </a:pPr>
            <a:r>
              <a:rPr lang="en-US" sz="1150" i="1" dirty="0">
                <a:solidFill>
                  <a:srgbClr val="64748B"/>
                </a:solidFill>
                <a:latin typeface="Calibri" pitchFamily="34" charset="0"/>
                <a:ea typeface="Calibri" pitchFamily="34" charset="-122"/>
                <a:cs typeface="Calibri" pitchFamily="34" charset="-120"/>
              </a:rPr>
              <a:t>proba ≈ 0</a:t>
            </a:r>
            <a:endParaRPr lang="en-US" sz="1150" dirty="0"/>
          </a:p>
        </p:txBody>
      </p:sp>
      <p:sp>
        <p:nvSpPr>
          <p:cNvPr id="23" name="Shape 20"/>
          <p:cNvSpPr/>
          <p:nvPr/>
        </p:nvSpPr>
        <p:spPr>
          <a:xfrm>
            <a:off x="6172200" y="4983480"/>
            <a:ext cx="5532120" cy="1005840"/>
          </a:xfrm>
          <a:prstGeom prst="roundRect">
            <a:avLst>
              <a:gd name="adj" fmla="val 5455"/>
            </a:avLst>
          </a:prstGeom>
          <a:solidFill>
            <a:srgbClr val="DBEAFE"/>
          </a:solidFill>
          <a:ln/>
        </p:spPr>
        <p:txBody>
          <a:bodyPr/>
          <a:lstStyle/>
          <a:p>
            <a:endParaRPr lang="fr-FR"/>
          </a:p>
        </p:txBody>
      </p:sp>
      <p:sp>
        <p:nvSpPr>
          <p:cNvPr id="24" name="Text 21"/>
          <p:cNvSpPr/>
          <p:nvPr/>
        </p:nvSpPr>
        <p:spPr>
          <a:xfrm>
            <a:off x="6382512" y="4983480"/>
            <a:ext cx="5120640" cy="1005840"/>
          </a:xfrm>
          <a:prstGeom prst="rect">
            <a:avLst/>
          </a:prstGeom>
          <a:noFill/>
          <a:ln/>
        </p:spPr>
        <p:txBody>
          <a:bodyPr wrap="square" lIns="0" tIns="0" rIns="0" bIns="0" rtlCol="0" anchor="ctr"/>
          <a:lstStyle/>
          <a:p>
            <a:pPr marL="0" indent="0">
              <a:lnSpc>
                <a:spcPct val="105000"/>
              </a:lnSpc>
              <a:buNone/>
            </a:pPr>
            <a:r>
              <a:rPr lang="en-US" sz="1200" b="1" dirty="0">
                <a:solidFill>
                  <a:srgbClr val="2563EB"/>
                </a:solidFill>
                <a:latin typeface="Calibri" pitchFamily="34" charset="0"/>
                <a:ea typeface="Calibri" pitchFamily="34" charset="-122"/>
                <a:cs typeface="Calibri" pitchFamily="34" charset="-120"/>
              </a:rPr>
              <a:t>En production : </a:t>
            </a:r>
            <a:r>
              <a:rPr lang="en-US" sz="1200" dirty="0">
                <a:solidFill>
                  <a:srgbClr val="1E293B"/>
                </a:solidFill>
                <a:latin typeface="Calibri" pitchFamily="34" charset="0"/>
                <a:ea typeface="Calibri" pitchFamily="34" charset="-122"/>
                <a:cs typeface="Calibri" pitchFamily="34" charset="-120"/>
              </a:rPr>
              <a:t>dès que des FP apparaissent, le coût 25 € × nombre d'alertes devient le levier concret de recalibrage du seuil avec les équipes de revue.</a:t>
            </a:r>
            <a:endParaRPr lang="en-US" sz="1200" dirty="0"/>
          </a:p>
        </p:txBody>
      </p:sp>
      <p:sp>
        <p:nvSpPr>
          <p:cNvPr id="25" name="Text 22"/>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26" name="Text 23"/>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ROBUSTESSE — FRAUDE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Validation temporelle : les performances tiennent sur des périodes non vues</a:t>
            </a:r>
            <a:endParaRPr lang="en-US" sz="2500" dirty="0"/>
          </a:p>
        </p:txBody>
      </p:sp>
      <p:sp>
        <p:nvSpPr>
          <p:cNvPr id="4" name="Text 2"/>
          <p:cNvSpPr/>
          <p:nvPr/>
        </p:nvSpPr>
        <p:spPr>
          <a:xfrm>
            <a:off x="502920" y="1600200"/>
            <a:ext cx="73152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SPLIT ALÉATOIRE vs VALIDATION TEMPORELLE (step)</a:t>
            </a:r>
            <a:endParaRPr lang="en-US" sz="1100" dirty="0"/>
          </a:p>
        </p:txBody>
      </p:sp>
      <p:graphicFrame>
        <p:nvGraphicFramePr>
          <p:cNvPr id="5" name="Chart 0"/>
          <p:cNvGraphicFramePr/>
          <p:nvPr/>
        </p:nvGraphicFramePr>
        <p:xfrm>
          <a:off x="365760" y="1920240"/>
          <a:ext cx="66751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15200" y="1920240"/>
            <a:ext cx="4389120" cy="3657600"/>
          </a:xfrm>
          <a:prstGeom prst="roundRect">
            <a:avLst>
              <a:gd name="adj" fmla="val 2000"/>
            </a:avLst>
          </a:prstGeom>
          <a:solidFill>
            <a:srgbClr val="0F172A"/>
          </a:solidFill>
          <a:ln/>
          <a:effectLst>
            <a:outerShdw blurRad="101600" dist="38100" dir="5400000" algn="bl" rotWithShape="0">
              <a:srgbClr val="0F172A">
                <a:alpha val="15000"/>
              </a:srgbClr>
            </a:outerShdw>
          </a:effectLst>
        </p:spPr>
        <p:txBody>
          <a:bodyPr/>
          <a:lstStyle/>
          <a:p>
            <a:endParaRPr lang="fr-FR"/>
          </a:p>
        </p:txBody>
      </p:sp>
      <p:sp>
        <p:nvSpPr>
          <p:cNvPr id="7" name="Text 4"/>
          <p:cNvSpPr/>
          <p:nvPr/>
        </p:nvSpPr>
        <p:spPr>
          <a:xfrm>
            <a:off x="7589520" y="2148840"/>
            <a:ext cx="388620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Pourquoi c'est décisif</a:t>
            </a:r>
            <a:endParaRPr lang="en-US" sz="1700" dirty="0"/>
          </a:p>
        </p:txBody>
      </p:sp>
      <p:sp>
        <p:nvSpPr>
          <p:cNvPr id="8" name="Text 5"/>
          <p:cNvSpPr/>
          <p:nvPr/>
        </p:nvSpPr>
        <p:spPr>
          <a:xfrm>
            <a:off x="7589520" y="2697480"/>
            <a:ext cx="3886200" cy="292608"/>
          </a:xfrm>
          <a:prstGeom prst="rect">
            <a:avLst/>
          </a:prstGeom>
          <a:noFill/>
          <a:ln/>
        </p:spPr>
        <p:txBody>
          <a:bodyPr wrap="square" lIns="0" tIns="0" rIns="0" bIns="0" rtlCol="0" anchor="ctr"/>
          <a:lstStyle/>
          <a:p>
            <a:pPr marL="0" indent="0">
              <a:buNone/>
            </a:pPr>
            <a:r>
              <a:rPr lang="en-US" sz="1350" b="1" dirty="0">
                <a:solidFill>
                  <a:srgbClr val="60A5FA"/>
                </a:solidFill>
                <a:latin typeface="Calibri" pitchFamily="34" charset="0"/>
                <a:ea typeface="Calibri" pitchFamily="34" charset="-122"/>
                <a:cs typeface="Calibri" pitchFamily="34" charset="-120"/>
              </a:rPr>
              <a:t>Entraînement sur le passé</a:t>
            </a:r>
            <a:endParaRPr lang="en-US" sz="1350" dirty="0"/>
          </a:p>
        </p:txBody>
      </p:sp>
      <p:sp>
        <p:nvSpPr>
          <p:cNvPr id="9" name="Text 6"/>
          <p:cNvSpPr/>
          <p:nvPr/>
        </p:nvSpPr>
        <p:spPr>
          <a:xfrm>
            <a:off x="7589520" y="2971800"/>
            <a:ext cx="3931920" cy="640080"/>
          </a:xfrm>
          <a:prstGeom prst="rect">
            <a:avLst/>
          </a:prstGeom>
          <a:noFill/>
          <a:ln/>
        </p:spPr>
        <p:txBody>
          <a:bodyPr wrap="square" lIns="0" tIns="0" rIns="0" bIns="0" rtlCol="0" anchor="ctr"/>
          <a:lstStyle/>
          <a:p>
            <a:pPr marL="0" indent="0">
              <a:lnSpc>
                <a:spcPct val="105000"/>
              </a:lnSpc>
              <a:buNone/>
            </a:pPr>
            <a:r>
              <a:rPr lang="en-US" sz="1150" dirty="0">
                <a:solidFill>
                  <a:srgbClr val="E2E8F0"/>
                </a:solidFill>
                <a:latin typeface="Calibri" pitchFamily="34" charset="0"/>
                <a:ea typeface="Calibri" pitchFamily="34" charset="-122"/>
                <a:cs typeface="Calibri" pitchFamily="34" charset="-120"/>
              </a:rPr>
              <a:t>Le modèle apprend sur les step anciens, est testé sur des step postérieurs jamais vus.</a:t>
            </a:r>
            <a:endParaRPr lang="en-US" sz="1150" dirty="0"/>
          </a:p>
        </p:txBody>
      </p:sp>
      <p:sp>
        <p:nvSpPr>
          <p:cNvPr id="10" name="Text 7"/>
          <p:cNvSpPr/>
          <p:nvPr/>
        </p:nvSpPr>
        <p:spPr>
          <a:xfrm>
            <a:off x="7589520" y="3657600"/>
            <a:ext cx="3886200" cy="292608"/>
          </a:xfrm>
          <a:prstGeom prst="rect">
            <a:avLst/>
          </a:prstGeom>
          <a:noFill/>
          <a:ln/>
        </p:spPr>
        <p:txBody>
          <a:bodyPr wrap="square" lIns="0" tIns="0" rIns="0" bIns="0" rtlCol="0" anchor="ctr"/>
          <a:lstStyle/>
          <a:p>
            <a:pPr marL="0" indent="0">
              <a:buNone/>
            </a:pPr>
            <a:r>
              <a:rPr lang="en-US" sz="1350" b="1" dirty="0">
                <a:solidFill>
                  <a:srgbClr val="60A5FA"/>
                </a:solidFill>
                <a:latin typeface="Calibri" pitchFamily="34" charset="0"/>
                <a:ea typeface="Calibri" pitchFamily="34" charset="-122"/>
                <a:cs typeface="Calibri" pitchFamily="34" charset="-120"/>
              </a:rPr>
              <a:t>Pas d'effondrement</a:t>
            </a:r>
            <a:endParaRPr lang="en-US" sz="1350" dirty="0"/>
          </a:p>
        </p:txBody>
      </p:sp>
      <p:sp>
        <p:nvSpPr>
          <p:cNvPr id="11" name="Text 8"/>
          <p:cNvSpPr/>
          <p:nvPr/>
        </p:nvSpPr>
        <p:spPr>
          <a:xfrm>
            <a:off x="7589520" y="3931920"/>
            <a:ext cx="3931920" cy="640080"/>
          </a:xfrm>
          <a:prstGeom prst="rect">
            <a:avLst/>
          </a:prstGeom>
          <a:noFill/>
          <a:ln/>
        </p:spPr>
        <p:txBody>
          <a:bodyPr wrap="square" lIns="0" tIns="0" rIns="0" bIns="0" rtlCol="0" anchor="ctr"/>
          <a:lstStyle/>
          <a:p>
            <a:pPr marL="0" indent="0">
              <a:lnSpc>
                <a:spcPct val="105000"/>
              </a:lnSpc>
              <a:buNone/>
            </a:pPr>
            <a:r>
              <a:rPr lang="en-US" sz="1150" dirty="0">
                <a:solidFill>
                  <a:srgbClr val="E2E8F0"/>
                </a:solidFill>
                <a:latin typeface="Calibri" pitchFamily="34" charset="0"/>
                <a:ea typeface="Calibri" pitchFamily="34" charset="-122"/>
                <a:cs typeface="Calibri" pitchFamily="34" charset="-120"/>
              </a:rPr>
              <a:t>Les métriques ne chutent pas — bon signe de généralisation temporelle.</a:t>
            </a:r>
            <a:endParaRPr lang="en-US" sz="1150" dirty="0"/>
          </a:p>
        </p:txBody>
      </p:sp>
      <p:sp>
        <p:nvSpPr>
          <p:cNvPr id="12" name="Text 9"/>
          <p:cNvSpPr/>
          <p:nvPr/>
        </p:nvSpPr>
        <p:spPr>
          <a:xfrm>
            <a:off x="7589520" y="4617720"/>
            <a:ext cx="3886200" cy="292608"/>
          </a:xfrm>
          <a:prstGeom prst="rect">
            <a:avLst/>
          </a:prstGeom>
          <a:noFill/>
          <a:ln/>
        </p:spPr>
        <p:txBody>
          <a:bodyPr wrap="square" lIns="0" tIns="0" rIns="0" bIns="0" rtlCol="0" anchor="ctr"/>
          <a:lstStyle/>
          <a:p>
            <a:pPr marL="0" indent="0">
              <a:buNone/>
            </a:pPr>
            <a:r>
              <a:rPr lang="en-US" sz="1350" b="1" dirty="0">
                <a:solidFill>
                  <a:srgbClr val="60A5FA"/>
                </a:solidFill>
                <a:latin typeface="Calibri" pitchFamily="34" charset="0"/>
                <a:ea typeface="Calibri" pitchFamily="34" charset="-122"/>
                <a:cs typeface="Calibri" pitchFamily="34" charset="-120"/>
              </a:rPr>
              <a:t>Garde-fou avant prod</a:t>
            </a:r>
            <a:endParaRPr lang="en-US" sz="1350" dirty="0"/>
          </a:p>
        </p:txBody>
      </p:sp>
      <p:sp>
        <p:nvSpPr>
          <p:cNvPr id="13" name="Text 10"/>
          <p:cNvSpPr/>
          <p:nvPr/>
        </p:nvSpPr>
        <p:spPr>
          <a:xfrm>
            <a:off x="7589520" y="4892040"/>
            <a:ext cx="3931920" cy="640080"/>
          </a:xfrm>
          <a:prstGeom prst="rect">
            <a:avLst/>
          </a:prstGeom>
          <a:noFill/>
          <a:ln/>
        </p:spPr>
        <p:txBody>
          <a:bodyPr wrap="square" lIns="0" tIns="0" rIns="0" bIns="0" rtlCol="0" anchor="ctr"/>
          <a:lstStyle/>
          <a:p>
            <a:pPr marL="0" indent="0">
              <a:lnSpc>
                <a:spcPct val="105000"/>
              </a:lnSpc>
              <a:buNone/>
            </a:pPr>
            <a:r>
              <a:rPr lang="en-US" sz="1150" dirty="0">
                <a:solidFill>
                  <a:srgbClr val="E2E8F0"/>
                </a:solidFill>
                <a:latin typeface="Calibri" pitchFamily="34" charset="0"/>
                <a:ea typeface="Calibri" pitchFamily="34" charset="-122"/>
                <a:cs typeface="Calibri" pitchFamily="34" charset="-120"/>
              </a:rPr>
              <a:t>Répond directement au risque de fuite indirecte via les variables de soldes.</a:t>
            </a:r>
            <a:endParaRPr lang="en-US" sz="1150" dirty="0"/>
          </a:p>
        </p:txBody>
      </p:sp>
      <p:sp>
        <p:nvSpPr>
          <p:cNvPr id="14" name="Shape 11"/>
          <p:cNvSpPr/>
          <p:nvPr/>
        </p:nvSpPr>
        <p:spPr>
          <a:xfrm>
            <a:off x="502920" y="5806440"/>
            <a:ext cx="11183112" cy="566928"/>
          </a:xfrm>
          <a:prstGeom prst="roundRect">
            <a:avLst>
              <a:gd name="adj" fmla="val 9677"/>
            </a:avLst>
          </a:prstGeom>
          <a:solidFill>
            <a:srgbClr val="DBEAFE"/>
          </a:solidFill>
          <a:ln/>
        </p:spPr>
        <p:txBody>
          <a:bodyPr/>
          <a:lstStyle/>
          <a:p>
            <a:endParaRPr lang="fr-FR"/>
          </a:p>
        </p:txBody>
      </p:sp>
      <p:sp>
        <p:nvSpPr>
          <p:cNvPr id="15" name="Text 12"/>
          <p:cNvSpPr/>
          <p:nvPr/>
        </p:nvSpPr>
        <p:spPr>
          <a:xfrm>
            <a:off x="713232" y="5806440"/>
            <a:ext cx="10771632" cy="566928"/>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À retenir   </a:t>
            </a:r>
            <a:r>
              <a:rPr lang="en-US" sz="1300" dirty="0">
                <a:solidFill>
                  <a:srgbClr val="1E293B"/>
                </a:solidFill>
                <a:latin typeface="Calibri" pitchFamily="34" charset="0"/>
                <a:ea typeface="Calibri" pitchFamily="34" charset="-122"/>
                <a:cs typeface="Calibri" pitchFamily="34" charset="-120"/>
              </a:rPr>
              <a:t>Avant tout blocage automatique, le suivi sur de nouvelles périodes reste nécessaire — la prudence prime sur la sur-confiance.</a:t>
            </a:r>
            <a:endParaRPr lang="en-US" sz="1300" dirty="0"/>
          </a:p>
        </p:txBody>
      </p:sp>
      <p:sp>
        <p:nvSpPr>
          <p:cNvPr id="16" name="Text 13"/>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17" name="Text 1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PIPELINE — SEGMENTATION</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Choisir des segments lisibles plutôt qu'un score mathématique pur</a:t>
            </a:r>
            <a:endParaRPr lang="en-US" sz="2500" dirty="0"/>
          </a:p>
        </p:txBody>
      </p:sp>
      <p:sp>
        <p:nvSpPr>
          <p:cNvPr id="4" name="Shape 2"/>
          <p:cNvSpPr/>
          <p:nvPr/>
        </p:nvSpPr>
        <p:spPr>
          <a:xfrm>
            <a:off x="566928" y="1828800"/>
            <a:ext cx="2670048" cy="3017520"/>
          </a:xfrm>
          <a:prstGeom prst="roundRect">
            <a:avLst>
              <a:gd name="adj" fmla="val 2740"/>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5" name="Shape 3"/>
          <p:cNvSpPr/>
          <p:nvPr/>
        </p:nvSpPr>
        <p:spPr>
          <a:xfrm>
            <a:off x="841248" y="2103120"/>
            <a:ext cx="713232" cy="713232"/>
          </a:xfrm>
          <a:prstGeom prst="ellipse">
            <a:avLst/>
          </a:prstGeom>
          <a:solidFill>
            <a:srgbClr val="7C3AED"/>
          </a:solidFill>
          <a:ln/>
          <a:effectLst>
            <a:outerShdw blurRad="76200" dist="25400" dir="5400000" algn="bl" rotWithShape="0">
              <a:srgbClr val="0F172A">
                <a:alpha val="15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033821" y="2295693"/>
            <a:ext cx="328087" cy="328087"/>
          </a:xfrm>
          <a:prstGeom prst="rect">
            <a:avLst/>
          </a:prstGeom>
        </p:spPr>
      </p:pic>
      <p:sp>
        <p:nvSpPr>
          <p:cNvPr id="7" name="Text 4"/>
          <p:cNvSpPr/>
          <p:nvPr/>
        </p:nvSpPr>
        <p:spPr>
          <a:xfrm>
            <a:off x="2368296" y="2057400"/>
            <a:ext cx="64008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01</a:t>
            </a:r>
            <a:endParaRPr lang="en-US" sz="3000" dirty="0"/>
          </a:p>
        </p:txBody>
      </p:sp>
      <p:sp>
        <p:nvSpPr>
          <p:cNvPr id="8" name="Text 5"/>
          <p:cNvSpPr/>
          <p:nvPr/>
        </p:nvSpPr>
        <p:spPr>
          <a:xfrm>
            <a:off x="841248" y="3017520"/>
            <a:ext cx="2167128" cy="685800"/>
          </a:xfrm>
          <a:prstGeom prst="rect">
            <a:avLst/>
          </a:prstGeom>
          <a:noFill/>
          <a:ln/>
        </p:spPr>
        <p:txBody>
          <a:bodyPr wrap="square" lIns="0" tIns="0" rIns="0" bIns="0" rtlCol="0" anchor="ctr"/>
          <a:lstStyle/>
          <a:p>
            <a:pPr marL="0" indent="0">
              <a:lnSpc>
                <a:spcPct val="95000"/>
              </a:lnSpc>
              <a:buNone/>
            </a:pPr>
            <a:r>
              <a:rPr lang="en-US" sz="1550" b="1" dirty="0">
                <a:solidFill>
                  <a:srgbClr val="0F172A"/>
                </a:solidFill>
                <a:latin typeface="Calibri" pitchFamily="34" charset="0"/>
                <a:ea typeface="Calibri" pitchFamily="34" charset="-122"/>
                <a:cs typeface="Calibri" pitchFamily="34" charset="-120"/>
              </a:rPr>
              <a:t>Préparation</a:t>
            </a:r>
            <a:endParaRPr lang="en-US" sz="1550" dirty="0"/>
          </a:p>
        </p:txBody>
      </p:sp>
      <p:sp>
        <p:nvSpPr>
          <p:cNvPr id="9" name="Text 6"/>
          <p:cNvSpPr/>
          <p:nvPr/>
        </p:nvSpPr>
        <p:spPr>
          <a:xfrm>
            <a:off x="841248" y="3657600"/>
            <a:ext cx="2167128" cy="109728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Imputation des 24 revenus manquants, encodage des catégories, exclusion des variables constantes</a:t>
            </a:r>
            <a:endParaRPr lang="en-US" sz="1200" dirty="0"/>
          </a:p>
        </p:txBody>
      </p:sp>
      <p:sp>
        <p:nvSpPr>
          <p:cNvPr id="10" name="Text 7"/>
          <p:cNvSpPr/>
          <p:nvPr/>
        </p:nvSpPr>
        <p:spPr>
          <a:xfrm>
            <a:off x="3200400" y="2971800"/>
            <a:ext cx="310896" cy="731520"/>
          </a:xfrm>
          <a:prstGeom prst="rect">
            <a:avLst/>
          </a:prstGeom>
          <a:noFill/>
          <a:ln/>
        </p:spPr>
        <p:txBody>
          <a:bodyPr wrap="square" lIns="0" tIns="0" rIns="0" bIns="0" rtlCol="0" anchor="ctr"/>
          <a:lstStyle/>
          <a:p>
            <a:pPr marL="0" indent="0" algn="ctr">
              <a:buNone/>
            </a:pPr>
            <a:r>
              <a:rPr lang="en-US" sz="3000" b="1" dirty="0">
                <a:solidFill>
                  <a:srgbClr val="7C3AED"/>
                </a:solidFill>
                <a:latin typeface="Calibri" pitchFamily="34" charset="0"/>
                <a:ea typeface="Calibri" pitchFamily="34" charset="-122"/>
                <a:cs typeface="Calibri" pitchFamily="34" charset="-120"/>
              </a:rPr>
              <a:t>›</a:t>
            </a:r>
            <a:endParaRPr lang="en-US" sz="3000" dirty="0"/>
          </a:p>
        </p:txBody>
      </p:sp>
      <p:sp>
        <p:nvSpPr>
          <p:cNvPr id="11" name="Shape 8"/>
          <p:cNvSpPr/>
          <p:nvPr/>
        </p:nvSpPr>
        <p:spPr>
          <a:xfrm>
            <a:off x="3511296" y="1828800"/>
            <a:ext cx="2670048" cy="3017520"/>
          </a:xfrm>
          <a:prstGeom prst="roundRect">
            <a:avLst>
              <a:gd name="adj" fmla="val 2740"/>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12" name="Shape 9"/>
          <p:cNvSpPr/>
          <p:nvPr/>
        </p:nvSpPr>
        <p:spPr>
          <a:xfrm>
            <a:off x="3785616" y="2103120"/>
            <a:ext cx="713232" cy="713232"/>
          </a:xfrm>
          <a:prstGeom prst="ellipse">
            <a:avLst/>
          </a:prstGeom>
          <a:solidFill>
            <a:srgbClr val="0D9488"/>
          </a:solidFill>
          <a:ln/>
          <a:effectLst>
            <a:outerShdw blurRad="76200" dist="25400" dir="5400000" algn="bl" rotWithShape="0">
              <a:srgbClr val="0F172A">
                <a:alpha val="15000"/>
              </a:srgbClr>
            </a:outerShdw>
          </a:effectLst>
        </p:spPr>
        <p:txBody>
          <a:bodyPr/>
          <a:lstStyle/>
          <a:p>
            <a:endParaRPr lang="fr-FR"/>
          </a:p>
        </p:txBody>
      </p:sp>
      <p:pic>
        <p:nvPicPr>
          <p:cNvPr id="13" name="Image 1" descr="preencoded.png"/>
          <p:cNvPicPr>
            <a:picLocks noChangeAspect="1"/>
          </p:cNvPicPr>
          <p:nvPr/>
        </p:nvPicPr>
        <p:blipFill>
          <a:blip r:embed="rId4"/>
          <a:stretch>
            <a:fillRect/>
          </a:stretch>
        </p:blipFill>
        <p:spPr>
          <a:xfrm>
            <a:off x="3978189" y="2295693"/>
            <a:ext cx="328087" cy="328087"/>
          </a:xfrm>
          <a:prstGeom prst="rect">
            <a:avLst/>
          </a:prstGeom>
        </p:spPr>
      </p:pic>
      <p:sp>
        <p:nvSpPr>
          <p:cNvPr id="14" name="Text 10"/>
          <p:cNvSpPr/>
          <p:nvPr/>
        </p:nvSpPr>
        <p:spPr>
          <a:xfrm>
            <a:off x="5312664" y="2057400"/>
            <a:ext cx="64008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02</a:t>
            </a:r>
            <a:endParaRPr lang="en-US" sz="3000" dirty="0"/>
          </a:p>
        </p:txBody>
      </p:sp>
      <p:sp>
        <p:nvSpPr>
          <p:cNvPr id="15" name="Text 11"/>
          <p:cNvSpPr/>
          <p:nvPr/>
        </p:nvSpPr>
        <p:spPr>
          <a:xfrm>
            <a:off x="3785616" y="3017520"/>
            <a:ext cx="2167128" cy="685800"/>
          </a:xfrm>
          <a:prstGeom prst="rect">
            <a:avLst/>
          </a:prstGeom>
          <a:noFill/>
          <a:ln/>
        </p:spPr>
        <p:txBody>
          <a:bodyPr wrap="square" lIns="0" tIns="0" rIns="0" bIns="0" rtlCol="0" anchor="ctr"/>
          <a:lstStyle/>
          <a:p>
            <a:pPr marL="0" indent="0">
              <a:lnSpc>
                <a:spcPct val="95000"/>
              </a:lnSpc>
              <a:buNone/>
            </a:pPr>
            <a:r>
              <a:rPr lang="en-US" sz="1550" b="1" dirty="0">
                <a:solidFill>
                  <a:srgbClr val="0F172A"/>
                </a:solidFill>
                <a:latin typeface="Calibri" pitchFamily="34" charset="0"/>
                <a:ea typeface="Calibri" pitchFamily="34" charset="-122"/>
                <a:cs typeface="Calibri" pitchFamily="34" charset="-120"/>
              </a:rPr>
              <a:t>4 algorithmes testés</a:t>
            </a:r>
            <a:endParaRPr lang="en-US" sz="1550" dirty="0"/>
          </a:p>
        </p:txBody>
      </p:sp>
      <p:sp>
        <p:nvSpPr>
          <p:cNvPr id="16" name="Text 12"/>
          <p:cNvSpPr/>
          <p:nvPr/>
        </p:nvSpPr>
        <p:spPr>
          <a:xfrm>
            <a:off x="3785616" y="3657600"/>
            <a:ext cx="2167128" cy="109728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K-Means · Agglomerative · GMM · DBSCAN, balayage de k = 3 à 6</a:t>
            </a:r>
            <a:endParaRPr lang="en-US" sz="1200" dirty="0"/>
          </a:p>
        </p:txBody>
      </p:sp>
      <p:sp>
        <p:nvSpPr>
          <p:cNvPr id="17" name="Text 13"/>
          <p:cNvSpPr/>
          <p:nvPr/>
        </p:nvSpPr>
        <p:spPr>
          <a:xfrm>
            <a:off x="6144768" y="2971800"/>
            <a:ext cx="310896" cy="731520"/>
          </a:xfrm>
          <a:prstGeom prst="rect">
            <a:avLst/>
          </a:prstGeom>
          <a:noFill/>
          <a:ln/>
        </p:spPr>
        <p:txBody>
          <a:bodyPr wrap="square" lIns="0" tIns="0" rIns="0" bIns="0" rtlCol="0" anchor="ctr"/>
          <a:lstStyle/>
          <a:p>
            <a:pPr marL="0" indent="0" algn="ctr">
              <a:buNone/>
            </a:pPr>
            <a:r>
              <a:rPr lang="en-US" sz="3000" b="1" dirty="0">
                <a:solidFill>
                  <a:srgbClr val="7C3AED"/>
                </a:solidFill>
                <a:latin typeface="Calibri" pitchFamily="34" charset="0"/>
                <a:ea typeface="Calibri" pitchFamily="34" charset="-122"/>
                <a:cs typeface="Calibri" pitchFamily="34" charset="-120"/>
              </a:rPr>
              <a:t>›</a:t>
            </a:r>
            <a:endParaRPr lang="en-US" sz="3000" dirty="0"/>
          </a:p>
        </p:txBody>
      </p:sp>
      <p:sp>
        <p:nvSpPr>
          <p:cNvPr id="18" name="Shape 14"/>
          <p:cNvSpPr/>
          <p:nvPr/>
        </p:nvSpPr>
        <p:spPr>
          <a:xfrm>
            <a:off x="6455664" y="1828800"/>
            <a:ext cx="2670048" cy="3017520"/>
          </a:xfrm>
          <a:prstGeom prst="roundRect">
            <a:avLst>
              <a:gd name="adj" fmla="val 2740"/>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19" name="Shape 15"/>
          <p:cNvSpPr/>
          <p:nvPr/>
        </p:nvSpPr>
        <p:spPr>
          <a:xfrm>
            <a:off x="6729984" y="2103120"/>
            <a:ext cx="713232" cy="713232"/>
          </a:xfrm>
          <a:prstGeom prst="ellipse">
            <a:avLst/>
          </a:prstGeom>
          <a:solidFill>
            <a:srgbClr val="F59E0B"/>
          </a:solidFill>
          <a:ln/>
          <a:effectLst>
            <a:outerShdw blurRad="76200" dist="25400" dir="5400000" algn="bl" rotWithShape="0">
              <a:srgbClr val="0F172A">
                <a:alpha val="15000"/>
              </a:srgbClr>
            </a:outerShdw>
          </a:effectLst>
        </p:spPr>
        <p:txBody>
          <a:bodyPr/>
          <a:lstStyle/>
          <a:p>
            <a:endParaRPr lang="fr-FR"/>
          </a:p>
        </p:txBody>
      </p:sp>
      <p:pic>
        <p:nvPicPr>
          <p:cNvPr id="20" name="Image 2" descr="preencoded.png"/>
          <p:cNvPicPr>
            <a:picLocks noChangeAspect="1"/>
          </p:cNvPicPr>
          <p:nvPr/>
        </p:nvPicPr>
        <p:blipFill>
          <a:blip r:embed="rId5"/>
          <a:stretch>
            <a:fillRect/>
          </a:stretch>
        </p:blipFill>
        <p:spPr>
          <a:xfrm>
            <a:off x="6922557" y="2295693"/>
            <a:ext cx="328087" cy="328087"/>
          </a:xfrm>
          <a:prstGeom prst="rect">
            <a:avLst/>
          </a:prstGeom>
        </p:spPr>
      </p:pic>
      <p:sp>
        <p:nvSpPr>
          <p:cNvPr id="21" name="Text 16"/>
          <p:cNvSpPr/>
          <p:nvPr/>
        </p:nvSpPr>
        <p:spPr>
          <a:xfrm>
            <a:off x="8257032" y="2057400"/>
            <a:ext cx="64008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03</a:t>
            </a:r>
            <a:endParaRPr lang="en-US" sz="3000" dirty="0"/>
          </a:p>
        </p:txBody>
      </p:sp>
      <p:sp>
        <p:nvSpPr>
          <p:cNvPr id="22" name="Text 17"/>
          <p:cNvSpPr/>
          <p:nvPr/>
        </p:nvSpPr>
        <p:spPr>
          <a:xfrm>
            <a:off x="6729984" y="3017520"/>
            <a:ext cx="2167128" cy="685800"/>
          </a:xfrm>
          <a:prstGeom prst="rect">
            <a:avLst/>
          </a:prstGeom>
          <a:noFill/>
          <a:ln/>
        </p:spPr>
        <p:txBody>
          <a:bodyPr wrap="square" lIns="0" tIns="0" rIns="0" bIns="0" rtlCol="0" anchor="ctr"/>
          <a:lstStyle/>
          <a:p>
            <a:pPr marL="0" indent="0">
              <a:lnSpc>
                <a:spcPct val="95000"/>
              </a:lnSpc>
              <a:buNone/>
            </a:pPr>
            <a:r>
              <a:rPr lang="en-US" sz="1550" b="1" dirty="0">
                <a:solidFill>
                  <a:srgbClr val="0F172A"/>
                </a:solidFill>
                <a:latin typeface="Calibri" pitchFamily="34" charset="0"/>
                <a:ea typeface="Calibri" pitchFamily="34" charset="-122"/>
                <a:cs typeface="Calibri" pitchFamily="34" charset="-120"/>
              </a:rPr>
              <a:t>Évaluation</a:t>
            </a:r>
            <a:endParaRPr lang="en-US" sz="1550" dirty="0"/>
          </a:p>
        </p:txBody>
      </p:sp>
      <p:sp>
        <p:nvSpPr>
          <p:cNvPr id="23" name="Text 18"/>
          <p:cNvSpPr/>
          <p:nvPr/>
        </p:nvSpPr>
        <p:spPr>
          <a:xfrm>
            <a:off x="6729984" y="3657600"/>
            <a:ext cx="2167128" cy="109728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Silhouette + Davies-Bouldin, croisés avec la lisibilité métier des profils</a:t>
            </a:r>
            <a:endParaRPr lang="en-US" sz="1200" dirty="0"/>
          </a:p>
        </p:txBody>
      </p:sp>
      <p:sp>
        <p:nvSpPr>
          <p:cNvPr id="24" name="Text 19"/>
          <p:cNvSpPr/>
          <p:nvPr/>
        </p:nvSpPr>
        <p:spPr>
          <a:xfrm>
            <a:off x="9089136" y="2971800"/>
            <a:ext cx="310896" cy="731520"/>
          </a:xfrm>
          <a:prstGeom prst="rect">
            <a:avLst/>
          </a:prstGeom>
          <a:noFill/>
          <a:ln/>
        </p:spPr>
        <p:txBody>
          <a:bodyPr wrap="square" lIns="0" tIns="0" rIns="0" bIns="0" rtlCol="0" anchor="ctr"/>
          <a:lstStyle/>
          <a:p>
            <a:pPr marL="0" indent="0" algn="ctr">
              <a:buNone/>
            </a:pPr>
            <a:r>
              <a:rPr lang="en-US" sz="3000" b="1" dirty="0">
                <a:solidFill>
                  <a:srgbClr val="7C3AED"/>
                </a:solidFill>
                <a:latin typeface="Calibri" pitchFamily="34" charset="0"/>
                <a:ea typeface="Calibri" pitchFamily="34" charset="-122"/>
                <a:cs typeface="Calibri" pitchFamily="34" charset="-120"/>
              </a:rPr>
              <a:t>›</a:t>
            </a:r>
            <a:endParaRPr lang="en-US" sz="3000" dirty="0"/>
          </a:p>
        </p:txBody>
      </p:sp>
      <p:sp>
        <p:nvSpPr>
          <p:cNvPr id="25" name="Shape 20"/>
          <p:cNvSpPr/>
          <p:nvPr/>
        </p:nvSpPr>
        <p:spPr>
          <a:xfrm>
            <a:off x="9400032" y="1828800"/>
            <a:ext cx="2670048" cy="3017520"/>
          </a:xfrm>
          <a:prstGeom prst="roundRect">
            <a:avLst>
              <a:gd name="adj" fmla="val 2740"/>
            </a:avLst>
          </a:prstGeom>
          <a:solidFill>
            <a:srgbClr val="F1F5F9"/>
          </a:solidFill>
          <a:ln/>
          <a:effectLst>
            <a:outerShdw blurRad="76200" dist="25400" dir="5400000" algn="bl" rotWithShape="0">
              <a:srgbClr val="0F172A">
                <a:alpha val="10000"/>
              </a:srgbClr>
            </a:outerShdw>
          </a:effectLst>
        </p:spPr>
        <p:txBody>
          <a:bodyPr/>
          <a:lstStyle/>
          <a:p>
            <a:endParaRPr lang="fr-FR"/>
          </a:p>
        </p:txBody>
      </p:sp>
      <p:sp>
        <p:nvSpPr>
          <p:cNvPr id="26" name="Shape 21"/>
          <p:cNvSpPr/>
          <p:nvPr/>
        </p:nvSpPr>
        <p:spPr>
          <a:xfrm>
            <a:off x="9674352" y="2103120"/>
            <a:ext cx="713232" cy="713232"/>
          </a:xfrm>
          <a:prstGeom prst="ellipse">
            <a:avLst/>
          </a:prstGeom>
          <a:solidFill>
            <a:srgbClr val="059669"/>
          </a:solidFill>
          <a:ln/>
          <a:effectLst>
            <a:outerShdw blurRad="76200" dist="25400" dir="5400000" algn="bl" rotWithShape="0">
              <a:srgbClr val="0F172A">
                <a:alpha val="15000"/>
              </a:srgbClr>
            </a:outerShdw>
          </a:effectLst>
        </p:spPr>
        <p:txBody>
          <a:bodyPr/>
          <a:lstStyle/>
          <a:p>
            <a:endParaRPr lang="fr-FR"/>
          </a:p>
        </p:txBody>
      </p:sp>
      <p:pic>
        <p:nvPicPr>
          <p:cNvPr id="27" name="Image 3" descr="preencoded.png"/>
          <p:cNvPicPr>
            <a:picLocks noChangeAspect="1"/>
          </p:cNvPicPr>
          <p:nvPr/>
        </p:nvPicPr>
        <p:blipFill>
          <a:blip r:embed="rId6"/>
          <a:stretch>
            <a:fillRect/>
          </a:stretch>
        </p:blipFill>
        <p:spPr>
          <a:xfrm>
            <a:off x="9866925" y="2295693"/>
            <a:ext cx="328087" cy="328087"/>
          </a:xfrm>
          <a:prstGeom prst="rect">
            <a:avLst/>
          </a:prstGeom>
        </p:spPr>
      </p:pic>
      <p:sp>
        <p:nvSpPr>
          <p:cNvPr id="28" name="Text 22"/>
          <p:cNvSpPr/>
          <p:nvPr/>
        </p:nvSpPr>
        <p:spPr>
          <a:xfrm>
            <a:off x="11201400" y="2057400"/>
            <a:ext cx="64008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04</a:t>
            </a:r>
            <a:endParaRPr lang="en-US" sz="3000" dirty="0"/>
          </a:p>
        </p:txBody>
      </p:sp>
      <p:sp>
        <p:nvSpPr>
          <p:cNvPr id="29" name="Text 23"/>
          <p:cNvSpPr/>
          <p:nvPr/>
        </p:nvSpPr>
        <p:spPr>
          <a:xfrm>
            <a:off x="9674352" y="3017520"/>
            <a:ext cx="2167128" cy="685800"/>
          </a:xfrm>
          <a:prstGeom prst="rect">
            <a:avLst/>
          </a:prstGeom>
          <a:noFill/>
          <a:ln/>
        </p:spPr>
        <p:txBody>
          <a:bodyPr wrap="square" lIns="0" tIns="0" rIns="0" bIns="0" rtlCol="0" anchor="ctr"/>
          <a:lstStyle/>
          <a:p>
            <a:pPr marL="0" indent="0">
              <a:lnSpc>
                <a:spcPct val="95000"/>
              </a:lnSpc>
              <a:buNone/>
            </a:pPr>
            <a:r>
              <a:rPr lang="en-US" sz="1550" b="1" dirty="0">
                <a:solidFill>
                  <a:srgbClr val="0F172A"/>
                </a:solidFill>
                <a:latin typeface="Calibri" pitchFamily="34" charset="0"/>
                <a:ea typeface="Calibri" pitchFamily="34" charset="-122"/>
                <a:cs typeface="Calibri" pitchFamily="34" charset="-120"/>
              </a:rPr>
              <a:t>Modèle retenu : GMM, k = 4</a:t>
            </a:r>
            <a:endParaRPr lang="en-US" sz="1550" dirty="0"/>
          </a:p>
        </p:txBody>
      </p:sp>
      <p:sp>
        <p:nvSpPr>
          <p:cNvPr id="30" name="Text 24"/>
          <p:cNvSpPr/>
          <p:nvPr/>
        </p:nvSpPr>
        <p:spPr>
          <a:xfrm>
            <a:off x="9674352" y="3657600"/>
            <a:ext cx="2167128" cy="1097280"/>
          </a:xfrm>
          <a:prstGeom prst="rect">
            <a:avLst/>
          </a:prstGeom>
          <a:noFill/>
          <a:ln/>
        </p:spPr>
        <p:txBody>
          <a:bodyPr wrap="square" lIns="0" tIns="0" rIns="0" bIns="0" rtlCol="0" anchor="ctr"/>
          <a:lstStyle/>
          <a:p>
            <a:pPr marL="0" indent="0">
              <a:lnSpc>
                <a:spcPct val="105000"/>
              </a:lnSpc>
              <a:buNone/>
            </a:pPr>
            <a:r>
              <a:rPr lang="en-US" sz="1200" dirty="0">
                <a:solidFill>
                  <a:srgbClr val="64748B"/>
                </a:solidFill>
                <a:latin typeface="Calibri" pitchFamily="34" charset="0"/>
                <a:ea typeface="Calibri" pitchFamily="34" charset="-122"/>
                <a:cs typeface="Calibri" pitchFamily="34" charset="-120"/>
              </a:rPr>
              <a:t>DBSCAN écarté (91 % de bruit). GMM offre les profils les plus actionnables</a:t>
            </a:r>
            <a:endParaRPr lang="en-US" sz="1200" dirty="0"/>
          </a:p>
        </p:txBody>
      </p:sp>
      <p:sp>
        <p:nvSpPr>
          <p:cNvPr id="31" name="Shape 25"/>
          <p:cNvSpPr/>
          <p:nvPr/>
        </p:nvSpPr>
        <p:spPr>
          <a:xfrm>
            <a:off x="502920" y="5120640"/>
            <a:ext cx="11183112" cy="566928"/>
          </a:xfrm>
          <a:prstGeom prst="roundRect">
            <a:avLst>
              <a:gd name="adj" fmla="val 9677"/>
            </a:avLst>
          </a:prstGeom>
          <a:solidFill>
            <a:srgbClr val="F3E8FF"/>
          </a:solidFill>
          <a:ln/>
        </p:spPr>
        <p:txBody>
          <a:bodyPr/>
          <a:lstStyle/>
          <a:p>
            <a:endParaRPr lang="fr-FR"/>
          </a:p>
        </p:txBody>
      </p:sp>
      <p:sp>
        <p:nvSpPr>
          <p:cNvPr id="32" name="Text 26"/>
          <p:cNvSpPr/>
          <p:nvPr/>
        </p:nvSpPr>
        <p:spPr>
          <a:xfrm>
            <a:off x="713232" y="5120640"/>
            <a:ext cx="10771632" cy="566928"/>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À retenir   </a:t>
            </a:r>
            <a:r>
              <a:rPr lang="en-US" sz="1300" dirty="0">
                <a:solidFill>
                  <a:srgbClr val="1E293B"/>
                </a:solidFill>
                <a:latin typeface="Calibri" pitchFamily="34" charset="0"/>
                <a:ea typeface="Calibri" pitchFamily="34" charset="-122"/>
                <a:cs typeface="Calibri" pitchFamily="34" charset="-120"/>
              </a:rPr>
              <a:t>Un bon clustering n'est pas le plus « mathématiquement pur », mais celui que le marketing peut activer dès demain.</a:t>
            </a:r>
            <a:endParaRPr lang="en-US" sz="1300" dirty="0"/>
          </a:p>
        </p:txBody>
      </p:sp>
      <p:sp>
        <p:nvSpPr>
          <p:cNvPr id="33" name="Text 27"/>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34" name="Text 28"/>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SEGMENTATION — PROFILS</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Quatre personas, quatre stratégies CRM distinctes</a:t>
            </a:r>
            <a:endParaRPr lang="en-US" sz="2500" dirty="0"/>
          </a:p>
        </p:txBody>
      </p:sp>
      <p:sp>
        <p:nvSpPr>
          <p:cNvPr id="4" name="Shape 2"/>
          <p:cNvSpPr/>
          <p:nvPr/>
        </p:nvSpPr>
        <p:spPr>
          <a:xfrm>
            <a:off x="502920" y="1645920"/>
            <a:ext cx="2697480" cy="3703320"/>
          </a:xfrm>
          <a:prstGeom prst="roundRect">
            <a:avLst>
              <a:gd name="adj" fmla="val 2712"/>
            </a:avLst>
          </a:prstGeom>
          <a:solidFill>
            <a:srgbClr val="FFFFFF"/>
          </a:solidFill>
          <a:ln w="12700">
            <a:solidFill>
              <a:srgbClr val="E2E8F0"/>
            </a:solidFill>
            <a:prstDash val="solid"/>
          </a:ln>
          <a:effectLst>
            <a:outerShdw blurRad="88900" dist="38100" dir="5400000" algn="bl" rotWithShape="0">
              <a:srgbClr val="0F172A">
                <a:alpha val="12000"/>
              </a:srgbClr>
            </a:outerShdw>
          </a:effectLst>
        </p:spPr>
        <p:txBody>
          <a:bodyPr/>
          <a:lstStyle/>
          <a:p>
            <a:endParaRPr lang="fr-FR"/>
          </a:p>
        </p:txBody>
      </p:sp>
      <p:sp>
        <p:nvSpPr>
          <p:cNvPr id="5" name="Shape 3"/>
          <p:cNvSpPr/>
          <p:nvPr/>
        </p:nvSpPr>
        <p:spPr>
          <a:xfrm>
            <a:off x="1431036" y="1883664"/>
            <a:ext cx="841248" cy="841248"/>
          </a:xfrm>
          <a:prstGeom prst="ellipse">
            <a:avLst/>
          </a:prstGeom>
          <a:solidFill>
            <a:srgbClr val="64748B"/>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1623060" y="2075688"/>
            <a:ext cx="457200" cy="457200"/>
          </a:xfrm>
          <a:prstGeom prst="rect">
            <a:avLst/>
          </a:prstGeom>
        </p:spPr>
      </p:pic>
      <p:sp>
        <p:nvSpPr>
          <p:cNvPr id="7" name="Text 4"/>
          <p:cNvSpPr/>
          <p:nvPr/>
        </p:nvSpPr>
        <p:spPr>
          <a:xfrm>
            <a:off x="612648" y="2816352"/>
            <a:ext cx="2478024" cy="347472"/>
          </a:xfrm>
          <a:prstGeom prst="rect">
            <a:avLst/>
          </a:prstGeom>
          <a:noFill/>
          <a:ln/>
        </p:spPr>
        <p:txBody>
          <a:bodyPr wrap="square" lIns="0" tIns="0" rIns="0" bIns="0"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Dormants</a:t>
            </a:r>
            <a:endParaRPr lang="en-US" sz="1500" dirty="0"/>
          </a:p>
        </p:txBody>
      </p:sp>
      <p:sp>
        <p:nvSpPr>
          <p:cNvPr id="8" name="Text 5"/>
          <p:cNvSpPr/>
          <p:nvPr/>
        </p:nvSpPr>
        <p:spPr>
          <a:xfrm>
            <a:off x="612648" y="3163824"/>
            <a:ext cx="2478024" cy="274320"/>
          </a:xfrm>
          <a:prstGeom prst="rect">
            <a:avLst/>
          </a:prstGeom>
          <a:noFill/>
          <a:ln/>
        </p:spPr>
        <p:txBody>
          <a:bodyPr wrap="square" lIns="0" tIns="0" rIns="0" bIns="0" rtlCol="0" anchor="ctr"/>
          <a:lstStyle/>
          <a:p>
            <a:pPr marL="0" indent="0" algn="ctr">
              <a:buNone/>
            </a:pPr>
            <a:r>
              <a:rPr lang="en-US" sz="1150" b="1" dirty="0">
                <a:solidFill>
                  <a:srgbClr val="64748B"/>
                </a:solidFill>
                <a:latin typeface="Calibri" pitchFamily="34" charset="0"/>
                <a:ea typeface="Calibri" pitchFamily="34" charset="-122"/>
                <a:cs typeface="Calibri" pitchFamily="34" charset="-120"/>
              </a:rPr>
              <a:t>1 132 clients · 50,5 %</a:t>
            </a:r>
            <a:endParaRPr lang="en-US" sz="1150" dirty="0"/>
          </a:p>
        </p:txBody>
      </p:sp>
      <p:sp>
        <p:nvSpPr>
          <p:cNvPr id="9" name="Text 6"/>
          <p:cNvSpPr/>
          <p:nvPr/>
        </p:nvSpPr>
        <p:spPr>
          <a:xfrm>
            <a:off x="685800" y="3474720"/>
            <a:ext cx="2331720" cy="914400"/>
          </a:xfrm>
          <a:prstGeom prst="rect">
            <a:avLst/>
          </a:prstGeom>
          <a:noFill/>
          <a:ln/>
        </p:spPr>
        <p:txBody>
          <a:bodyPr wrap="square" lIns="0" tIns="0" rIns="0" bIns="0" rtlCol="0" anchor="ctr"/>
          <a:lstStyle/>
          <a:p>
            <a:pPr marL="0" indent="0" algn="ctr">
              <a:lnSpc>
                <a:spcPct val="102000"/>
              </a:lnSpc>
              <a:buNone/>
            </a:pPr>
            <a:r>
              <a:rPr lang="en-US" sz="1050" dirty="0">
                <a:solidFill>
                  <a:srgbClr val="64748B"/>
                </a:solidFill>
                <a:latin typeface="Calibri" pitchFamily="34" charset="0"/>
                <a:ea typeface="Calibri" pitchFamily="34" charset="-122"/>
                <a:cs typeface="Calibri" pitchFamily="34" charset="-120"/>
              </a:rPr>
              <a:t>Désengagés plus que pauvres : dépense ~124 €, acceptation campagnes 0,15.</a:t>
            </a:r>
            <a:endParaRPr lang="en-US" sz="1050" dirty="0"/>
          </a:p>
        </p:txBody>
      </p:sp>
      <p:sp>
        <p:nvSpPr>
          <p:cNvPr id="10" name="Shape 7"/>
          <p:cNvSpPr/>
          <p:nvPr/>
        </p:nvSpPr>
        <p:spPr>
          <a:xfrm>
            <a:off x="868680" y="4407408"/>
            <a:ext cx="1965960" cy="0"/>
          </a:xfrm>
          <a:prstGeom prst="line">
            <a:avLst/>
          </a:prstGeom>
          <a:noFill/>
          <a:ln w="12700">
            <a:solidFill>
              <a:srgbClr val="E2E8F0"/>
            </a:solidFill>
            <a:prstDash val="solid"/>
          </a:ln>
        </p:spPr>
        <p:txBody>
          <a:bodyPr/>
          <a:lstStyle/>
          <a:p>
            <a:endParaRPr lang="fr-FR"/>
          </a:p>
        </p:txBody>
      </p:sp>
      <p:sp>
        <p:nvSpPr>
          <p:cNvPr id="11" name="Text 8"/>
          <p:cNvSpPr/>
          <p:nvPr/>
        </p:nvSpPr>
        <p:spPr>
          <a:xfrm>
            <a:off x="685800" y="4480560"/>
            <a:ext cx="2331720" cy="822960"/>
          </a:xfrm>
          <a:prstGeom prst="rect">
            <a:avLst/>
          </a:prstGeom>
          <a:noFill/>
          <a:ln/>
        </p:spPr>
        <p:txBody>
          <a:bodyPr wrap="square" lIns="0" tIns="0" rIns="0" bIns="0" rtlCol="0" anchor="t"/>
          <a:lstStyle/>
          <a:p>
            <a:pPr marL="0" indent="0" algn="ctr">
              <a:lnSpc>
                <a:spcPct val="102000"/>
              </a:lnSpc>
              <a:buNone/>
            </a:pPr>
            <a:r>
              <a:rPr lang="en-US" sz="1000" b="1" dirty="0">
                <a:solidFill>
                  <a:srgbClr val="64748B"/>
                </a:solidFill>
                <a:latin typeface="Calibri" pitchFamily="34" charset="0"/>
                <a:ea typeface="Calibri" pitchFamily="34" charset="-122"/>
                <a:cs typeface="Calibri" pitchFamily="34" charset="-120"/>
              </a:rPr>
              <a:t>CRM  </a:t>
            </a:r>
            <a:r>
              <a:rPr lang="en-US" sz="1000" dirty="0">
                <a:solidFill>
                  <a:srgbClr val="1E293B"/>
                </a:solidFill>
                <a:latin typeface="Calibri" pitchFamily="34" charset="0"/>
                <a:ea typeface="Calibri" pitchFamily="34" charset="-122"/>
                <a:cs typeface="Calibri" pitchFamily="34" charset="-120"/>
              </a:rPr>
              <a:t>Réactivation à faible coût : campagnes massives, peu de personnalisation.</a:t>
            </a:r>
            <a:endParaRPr lang="en-US" sz="1000" dirty="0"/>
          </a:p>
        </p:txBody>
      </p:sp>
      <p:sp>
        <p:nvSpPr>
          <p:cNvPr id="12" name="Shape 9"/>
          <p:cNvSpPr/>
          <p:nvPr/>
        </p:nvSpPr>
        <p:spPr>
          <a:xfrm>
            <a:off x="3319272" y="1645920"/>
            <a:ext cx="2697480" cy="3703320"/>
          </a:xfrm>
          <a:prstGeom prst="roundRect">
            <a:avLst>
              <a:gd name="adj" fmla="val 2712"/>
            </a:avLst>
          </a:prstGeom>
          <a:solidFill>
            <a:srgbClr val="FFFFFF"/>
          </a:solidFill>
          <a:ln w="12700">
            <a:solidFill>
              <a:srgbClr val="E2E8F0"/>
            </a:solidFill>
            <a:prstDash val="solid"/>
          </a:ln>
          <a:effectLst>
            <a:outerShdw blurRad="88900" dist="38100" dir="5400000" algn="bl" rotWithShape="0">
              <a:srgbClr val="0F172A">
                <a:alpha val="12000"/>
              </a:srgbClr>
            </a:outerShdw>
          </a:effectLst>
        </p:spPr>
        <p:txBody>
          <a:bodyPr/>
          <a:lstStyle/>
          <a:p>
            <a:endParaRPr lang="fr-FR"/>
          </a:p>
        </p:txBody>
      </p:sp>
      <p:sp>
        <p:nvSpPr>
          <p:cNvPr id="13" name="Shape 10"/>
          <p:cNvSpPr/>
          <p:nvPr/>
        </p:nvSpPr>
        <p:spPr>
          <a:xfrm>
            <a:off x="4247388" y="1883664"/>
            <a:ext cx="841248" cy="841248"/>
          </a:xfrm>
          <a:prstGeom prst="ellipse">
            <a:avLst/>
          </a:prstGeom>
          <a:solidFill>
            <a:srgbClr val="F59E0B"/>
          </a:solidFill>
          <a:ln/>
        </p:spPr>
        <p:txBody>
          <a:bodyPr/>
          <a:lstStyle/>
          <a:p>
            <a:endParaRPr lang="fr-FR"/>
          </a:p>
        </p:txBody>
      </p:sp>
      <p:pic>
        <p:nvPicPr>
          <p:cNvPr id="14" name="Image 1" descr="preencoded.png"/>
          <p:cNvPicPr>
            <a:picLocks noChangeAspect="1"/>
          </p:cNvPicPr>
          <p:nvPr/>
        </p:nvPicPr>
        <p:blipFill>
          <a:blip r:embed="rId4"/>
          <a:stretch>
            <a:fillRect/>
          </a:stretch>
        </p:blipFill>
        <p:spPr>
          <a:xfrm>
            <a:off x="4439412" y="2075688"/>
            <a:ext cx="457200" cy="457200"/>
          </a:xfrm>
          <a:prstGeom prst="rect">
            <a:avLst/>
          </a:prstGeom>
        </p:spPr>
      </p:pic>
      <p:sp>
        <p:nvSpPr>
          <p:cNvPr id="15" name="Text 11"/>
          <p:cNvSpPr/>
          <p:nvPr/>
        </p:nvSpPr>
        <p:spPr>
          <a:xfrm>
            <a:off x="3429000" y="2816352"/>
            <a:ext cx="2478024" cy="347472"/>
          </a:xfrm>
          <a:prstGeom prst="rect">
            <a:avLst/>
          </a:prstGeom>
          <a:noFill/>
          <a:ln/>
        </p:spPr>
        <p:txBody>
          <a:bodyPr wrap="square" lIns="0" tIns="0" rIns="0" bIns="0"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Chasseurs de promos</a:t>
            </a:r>
            <a:endParaRPr lang="en-US" sz="1500" dirty="0"/>
          </a:p>
        </p:txBody>
      </p:sp>
      <p:sp>
        <p:nvSpPr>
          <p:cNvPr id="16" name="Text 12"/>
          <p:cNvSpPr/>
          <p:nvPr/>
        </p:nvSpPr>
        <p:spPr>
          <a:xfrm>
            <a:off x="3429000" y="3163824"/>
            <a:ext cx="2478024" cy="274320"/>
          </a:xfrm>
          <a:prstGeom prst="rect">
            <a:avLst/>
          </a:prstGeom>
          <a:noFill/>
          <a:ln/>
        </p:spPr>
        <p:txBody>
          <a:bodyPr wrap="square" lIns="0" tIns="0" rIns="0" bIns="0" rtlCol="0" anchor="ctr"/>
          <a:lstStyle/>
          <a:p>
            <a:pPr marL="0" indent="0" algn="ctr">
              <a:buNone/>
            </a:pPr>
            <a:r>
              <a:rPr lang="en-US" sz="1150" b="1" dirty="0">
                <a:solidFill>
                  <a:srgbClr val="F59E0B"/>
                </a:solidFill>
                <a:latin typeface="Calibri" pitchFamily="34" charset="0"/>
                <a:ea typeface="Calibri" pitchFamily="34" charset="-122"/>
                <a:cs typeface="Calibri" pitchFamily="34" charset="-120"/>
              </a:rPr>
              <a:t>42 clients · 1,9 %</a:t>
            </a:r>
            <a:endParaRPr lang="en-US" sz="1150" dirty="0"/>
          </a:p>
        </p:txBody>
      </p:sp>
      <p:sp>
        <p:nvSpPr>
          <p:cNvPr id="17" name="Text 13"/>
          <p:cNvSpPr/>
          <p:nvPr/>
        </p:nvSpPr>
        <p:spPr>
          <a:xfrm>
            <a:off x="3502152" y="3474720"/>
            <a:ext cx="2331720" cy="914400"/>
          </a:xfrm>
          <a:prstGeom prst="rect">
            <a:avLst/>
          </a:prstGeom>
          <a:noFill/>
          <a:ln/>
        </p:spPr>
        <p:txBody>
          <a:bodyPr wrap="square" lIns="0" tIns="0" rIns="0" bIns="0" rtlCol="0" anchor="ctr"/>
          <a:lstStyle/>
          <a:p>
            <a:pPr marL="0" indent="0" algn="ctr">
              <a:lnSpc>
                <a:spcPct val="102000"/>
              </a:lnSpc>
              <a:buNone/>
            </a:pPr>
            <a:r>
              <a:rPr lang="en-US" sz="1050" dirty="0">
                <a:solidFill>
                  <a:srgbClr val="64748B"/>
                </a:solidFill>
                <a:latin typeface="Calibri" pitchFamily="34" charset="0"/>
                <a:ea typeface="Calibri" pitchFamily="34" charset="-122"/>
                <a:cs typeface="Calibri" pitchFamily="34" charset="-120"/>
              </a:rPr>
              <a:t>Hyper-réactifs (0,86), canal web dominant, âge moyen 62 ans.</a:t>
            </a:r>
            <a:endParaRPr lang="en-US" sz="1050" dirty="0"/>
          </a:p>
        </p:txBody>
      </p:sp>
      <p:sp>
        <p:nvSpPr>
          <p:cNvPr id="18" name="Shape 14"/>
          <p:cNvSpPr/>
          <p:nvPr/>
        </p:nvSpPr>
        <p:spPr>
          <a:xfrm>
            <a:off x="3685032" y="4407408"/>
            <a:ext cx="1965960" cy="0"/>
          </a:xfrm>
          <a:prstGeom prst="line">
            <a:avLst/>
          </a:prstGeom>
          <a:noFill/>
          <a:ln w="12700">
            <a:solidFill>
              <a:srgbClr val="E2E8F0"/>
            </a:solidFill>
            <a:prstDash val="solid"/>
          </a:ln>
        </p:spPr>
        <p:txBody>
          <a:bodyPr/>
          <a:lstStyle/>
          <a:p>
            <a:endParaRPr lang="fr-FR"/>
          </a:p>
        </p:txBody>
      </p:sp>
      <p:sp>
        <p:nvSpPr>
          <p:cNvPr id="19" name="Text 15"/>
          <p:cNvSpPr/>
          <p:nvPr/>
        </p:nvSpPr>
        <p:spPr>
          <a:xfrm>
            <a:off x="3502152" y="4480560"/>
            <a:ext cx="2331720" cy="822960"/>
          </a:xfrm>
          <a:prstGeom prst="rect">
            <a:avLst/>
          </a:prstGeom>
          <a:noFill/>
          <a:ln/>
        </p:spPr>
        <p:txBody>
          <a:bodyPr wrap="square" lIns="0" tIns="0" rIns="0" bIns="0" rtlCol="0" anchor="t"/>
          <a:lstStyle/>
          <a:p>
            <a:pPr marL="0" indent="0" algn="ctr">
              <a:lnSpc>
                <a:spcPct val="102000"/>
              </a:lnSpc>
              <a:buNone/>
            </a:pPr>
            <a:r>
              <a:rPr lang="en-US" sz="1000" b="1" dirty="0">
                <a:solidFill>
                  <a:srgbClr val="F59E0B"/>
                </a:solidFill>
                <a:latin typeface="Calibri" pitchFamily="34" charset="0"/>
                <a:ea typeface="Calibri" pitchFamily="34" charset="-122"/>
                <a:cs typeface="Calibri" pitchFamily="34" charset="-120"/>
              </a:rPr>
              <a:t>CRM  </a:t>
            </a:r>
            <a:r>
              <a:rPr lang="en-US" sz="1000" dirty="0">
                <a:solidFill>
                  <a:srgbClr val="1E293B"/>
                </a:solidFill>
                <a:latin typeface="Calibri" pitchFamily="34" charset="0"/>
                <a:ea typeface="Calibri" pitchFamily="34" charset="-122"/>
                <a:cs typeface="Calibri" pitchFamily="34" charset="-120"/>
              </a:rPr>
              <a:t>Coupons web ciblés ; test A/B documenté avant industrialisation.</a:t>
            </a:r>
            <a:endParaRPr lang="en-US" sz="1000" dirty="0"/>
          </a:p>
        </p:txBody>
      </p:sp>
      <p:sp>
        <p:nvSpPr>
          <p:cNvPr id="20" name="Shape 16"/>
          <p:cNvSpPr/>
          <p:nvPr/>
        </p:nvSpPr>
        <p:spPr>
          <a:xfrm>
            <a:off x="6135624" y="1645920"/>
            <a:ext cx="2697480" cy="3703320"/>
          </a:xfrm>
          <a:prstGeom prst="roundRect">
            <a:avLst>
              <a:gd name="adj" fmla="val 2712"/>
            </a:avLst>
          </a:prstGeom>
          <a:solidFill>
            <a:srgbClr val="FFFFFF"/>
          </a:solidFill>
          <a:ln w="12700">
            <a:solidFill>
              <a:srgbClr val="E2E8F0"/>
            </a:solidFill>
            <a:prstDash val="solid"/>
          </a:ln>
          <a:effectLst>
            <a:outerShdw blurRad="88900" dist="38100" dir="5400000" algn="bl" rotWithShape="0">
              <a:srgbClr val="0F172A">
                <a:alpha val="12000"/>
              </a:srgbClr>
            </a:outerShdw>
          </a:effectLst>
        </p:spPr>
        <p:txBody>
          <a:bodyPr/>
          <a:lstStyle/>
          <a:p>
            <a:endParaRPr lang="fr-FR"/>
          </a:p>
        </p:txBody>
      </p:sp>
      <p:sp>
        <p:nvSpPr>
          <p:cNvPr id="21" name="Shape 17"/>
          <p:cNvSpPr/>
          <p:nvPr/>
        </p:nvSpPr>
        <p:spPr>
          <a:xfrm>
            <a:off x="7063740" y="1883664"/>
            <a:ext cx="841248" cy="841248"/>
          </a:xfrm>
          <a:prstGeom prst="ellipse">
            <a:avLst/>
          </a:prstGeom>
          <a:solidFill>
            <a:srgbClr val="7C3AED"/>
          </a:solidFill>
          <a:ln/>
        </p:spPr>
        <p:txBody>
          <a:bodyPr/>
          <a:lstStyle/>
          <a:p>
            <a:endParaRPr lang="fr-FR"/>
          </a:p>
        </p:txBody>
      </p:sp>
      <p:pic>
        <p:nvPicPr>
          <p:cNvPr id="22" name="Image 2" descr="preencoded.png"/>
          <p:cNvPicPr>
            <a:picLocks noChangeAspect="1"/>
          </p:cNvPicPr>
          <p:nvPr/>
        </p:nvPicPr>
        <p:blipFill>
          <a:blip r:embed="rId5"/>
          <a:stretch>
            <a:fillRect/>
          </a:stretch>
        </p:blipFill>
        <p:spPr>
          <a:xfrm>
            <a:off x="7255764" y="2075688"/>
            <a:ext cx="457200" cy="457200"/>
          </a:xfrm>
          <a:prstGeom prst="rect">
            <a:avLst/>
          </a:prstGeom>
        </p:spPr>
      </p:pic>
      <p:sp>
        <p:nvSpPr>
          <p:cNvPr id="23" name="Text 18"/>
          <p:cNvSpPr/>
          <p:nvPr/>
        </p:nvSpPr>
        <p:spPr>
          <a:xfrm>
            <a:off x="6245352" y="2816352"/>
            <a:ext cx="2478024" cy="347472"/>
          </a:xfrm>
          <a:prstGeom prst="rect">
            <a:avLst/>
          </a:prstGeom>
          <a:noFill/>
          <a:ln/>
        </p:spPr>
        <p:txBody>
          <a:bodyPr wrap="square" lIns="0" tIns="0" rIns="0" bIns="0"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Premium ultra-engagés</a:t>
            </a:r>
            <a:endParaRPr lang="en-US" sz="1500" dirty="0"/>
          </a:p>
        </p:txBody>
      </p:sp>
      <p:sp>
        <p:nvSpPr>
          <p:cNvPr id="24" name="Text 19"/>
          <p:cNvSpPr/>
          <p:nvPr/>
        </p:nvSpPr>
        <p:spPr>
          <a:xfrm>
            <a:off x="6245352" y="3163824"/>
            <a:ext cx="2478024" cy="274320"/>
          </a:xfrm>
          <a:prstGeom prst="rect">
            <a:avLst/>
          </a:prstGeom>
          <a:noFill/>
          <a:ln/>
        </p:spPr>
        <p:txBody>
          <a:bodyPr wrap="square" lIns="0" tIns="0" rIns="0" bIns="0" rtlCol="0" anchor="ctr"/>
          <a:lstStyle/>
          <a:p>
            <a:pPr marL="0" indent="0" algn="ctr">
              <a:buNone/>
            </a:pPr>
            <a:r>
              <a:rPr lang="en-US" sz="1150" b="1" dirty="0">
                <a:solidFill>
                  <a:srgbClr val="7C3AED"/>
                </a:solidFill>
                <a:latin typeface="Calibri" pitchFamily="34" charset="0"/>
                <a:ea typeface="Calibri" pitchFamily="34" charset="-122"/>
                <a:cs typeface="Calibri" pitchFamily="34" charset="-120"/>
              </a:rPr>
              <a:t>175 clients · 7,8 %</a:t>
            </a:r>
            <a:endParaRPr lang="en-US" sz="1150" dirty="0"/>
          </a:p>
        </p:txBody>
      </p:sp>
      <p:sp>
        <p:nvSpPr>
          <p:cNvPr id="25" name="Text 20"/>
          <p:cNvSpPr/>
          <p:nvPr/>
        </p:nvSpPr>
        <p:spPr>
          <a:xfrm>
            <a:off x="6318504" y="3474720"/>
            <a:ext cx="2331720" cy="914400"/>
          </a:xfrm>
          <a:prstGeom prst="rect">
            <a:avLst/>
          </a:prstGeom>
          <a:noFill/>
          <a:ln/>
        </p:spPr>
        <p:txBody>
          <a:bodyPr wrap="square" lIns="0" tIns="0" rIns="0" bIns="0" rtlCol="0" anchor="ctr"/>
          <a:lstStyle/>
          <a:p>
            <a:pPr marL="0" indent="0" algn="ctr">
              <a:lnSpc>
                <a:spcPct val="102000"/>
              </a:lnSpc>
              <a:buNone/>
            </a:pPr>
            <a:r>
              <a:rPr lang="en-US" sz="1050" dirty="0">
                <a:solidFill>
                  <a:srgbClr val="64748B"/>
                </a:solidFill>
                <a:latin typeface="Calibri" pitchFamily="34" charset="0"/>
                <a:ea typeface="Calibri" pitchFamily="34" charset="-122"/>
                <a:cs typeface="Calibri" pitchFamily="34" charset="-120"/>
              </a:rPr>
              <a:t>Cœur de valeur : dépense ~1 584 € (×12), acceptation campagnes 2,58.</a:t>
            </a:r>
            <a:endParaRPr lang="en-US" sz="1050" dirty="0"/>
          </a:p>
        </p:txBody>
      </p:sp>
      <p:sp>
        <p:nvSpPr>
          <p:cNvPr id="26" name="Shape 21"/>
          <p:cNvSpPr/>
          <p:nvPr/>
        </p:nvSpPr>
        <p:spPr>
          <a:xfrm>
            <a:off x="6501384" y="4407408"/>
            <a:ext cx="1965960" cy="0"/>
          </a:xfrm>
          <a:prstGeom prst="line">
            <a:avLst/>
          </a:prstGeom>
          <a:noFill/>
          <a:ln w="12700">
            <a:solidFill>
              <a:srgbClr val="E2E8F0"/>
            </a:solidFill>
            <a:prstDash val="solid"/>
          </a:ln>
        </p:spPr>
        <p:txBody>
          <a:bodyPr/>
          <a:lstStyle/>
          <a:p>
            <a:endParaRPr lang="fr-FR"/>
          </a:p>
        </p:txBody>
      </p:sp>
      <p:sp>
        <p:nvSpPr>
          <p:cNvPr id="27" name="Text 22"/>
          <p:cNvSpPr/>
          <p:nvPr/>
        </p:nvSpPr>
        <p:spPr>
          <a:xfrm>
            <a:off x="6318504" y="4480560"/>
            <a:ext cx="2331720" cy="822960"/>
          </a:xfrm>
          <a:prstGeom prst="rect">
            <a:avLst/>
          </a:prstGeom>
          <a:noFill/>
          <a:ln/>
        </p:spPr>
        <p:txBody>
          <a:bodyPr wrap="square" lIns="0" tIns="0" rIns="0" bIns="0" rtlCol="0" anchor="t"/>
          <a:lstStyle/>
          <a:p>
            <a:pPr marL="0" indent="0" algn="ctr">
              <a:lnSpc>
                <a:spcPct val="102000"/>
              </a:lnSpc>
              <a:buNone/>
            </a:pPr>
            <a:r>
              <a:rPr lang="en-US" sz="1000" b="1" dirty="0">
                <a:solidFill>
                  <a:srgbClr val="7C3AED"/>
                </a:solidFill>
                <a:latin typeface="Calibri" pitchFamily="34" charset="0"/>
                <a:ea typeface="Calibri" pitchFamily="34" charset="-122"/>
                <a:cs typeface="Calibri" pitchFamily="34" charset="-120"/>
              </a:rPr>
              <a:t>CRM  </a:t>
            </a:r>
            <a:r>
              <a:rPr lang="en-US" sz="1000" dirty="0">
                <a:solidFill>
                  <a:srgbClr val="1E293B"/>
                </a:solidFill>
                <a:latin typeface="Calibri" pitchFamily="34" charset="0"/>
                <a:ea typeface="Calibri" pitchFamily="34" charset="-122"/>
                <a:cs typeface="Calibri" pitchFamily="34" charset="-120"/>
              </a:rPr>
              <a:t>Programme VIP, avant-premières ; éviter les promos agressives.</a:t>
            </a:r>
            <a:endParaRPr lang="en-US" sz="1000" dirty="0"/>
          </a:p>
        </p:txBody>
      </p:sp>
      <p:sp>
        <p:nvSpPr>
          <p:cNvPr id="28" name="Shape 23"/>
          <p:cNvSpPr/>
          <p:nvPr/>
        </p:nvSpPr>
        <p:spPr>
          <a:xfrm>
            <a:off x="8951976" y="1645920"/>
            <a:ext cx="2697480" cy="3703320"/>
          </a:xfrm>
          <a:prstGeom prst="roundRect">
            <a:avLst>
              <a:gd name="adj" fmla="val 2712"/>
            </a:avLst>
          </a:prstGeom>
          <a:solidFill>
            <a:srgbClr val="FFFFFF"/>
          </a:solidFill>
          <a:ln w="12700">
            <a:solidFill>
              <a:srgbClr val="E2E8F0"/>
            </a:solidFill>
            <a:prstDash val="solid"/>
          </a:ln>
          <a:effectLst>
            <a:outerShdw blurRad="88900" dist="38100" dir="5400000" algn="bl" rotWithShape="0">
              <a:srgbClr val="0F172A">
                <a:alpha val="12000"/>
              </a:srgbClr>
            </a:outerShdw>
          </a:effectLst>
        </p:spPr>
        <p:txBody>
          <a:bodyPr/>
          <a:lstStyle/>
          <a:p>
            <a:endParaRPr lang="fr-FR"/>
          </a:p>
        </p:txBody>
      </p:sp>
      <p:sp>
        <p:nvSpPr>
          <p:cNvPr id="29" name="Shape 24"/>
          <p:cNvSpPr/>
          <p:nvPr/>
        </p:nvSpPr>
        <p:spPr>
          <a:xfrm>
            <a:off x="9880092" y="1883664"/>
            <a:ext cx="841248" cy="841248"/>
          </a:xfrm>
          <a:prstGeom prst="ellipse">
            <a:avLst/>
          </a:prstGeom>
          <a:solidFill>
            <a:srgbClr val="059669"/>
          </a:solidFill>
          <a:ln/>
        </p:spPr>
        <p:txBody>
          <a:bodyPr/>
          <a:lstStyle/>
          <a:p>
            <a:endParaRPr lang="fr-FR"/>
          </a:p>
        </p:txBody>
      </p:sp>
      <p:pic>
        <p:nvPicPr>
          <p:cNvPr id="30" name="Image 3" descr="preencoded.png"/>
          <p:cNvPicPr>
            <a:picLocks noChangeAspect="1"/>
          </p:cNvPicPr>
          <p:nvPr/>
        </p:nvPicPr>
        <p:blipFill>
          <a:blip r:embed="rId6"/>
          <a:stretch>
            <a:fillRect/>
          </a:stretch>
        </p:blipFill>
        <p:spPr>
          <a:xfrm>
            <a:off x="10072116" y="2075688"/>
            <a:ext cx="457200" cy="457200"/>
          </a:xfrm>
          <a:prstGeom prst="rect">
            <a:avLst/>
          </a:prstGeom>
        </p:spPr>
      </p:pic>
      <p:sp>
        <p:nvSpPr>
          <p:cNvPr id="31" name="Text 25"/>
          <p:cNvSpPr/>
          <p:nvPr/>
        </p:nvSpPr>
        <p:spPr>
          <a:xfrm>
            <a:off x="9061704" y="2816352"/>
            <a:ext cx="2478024" cy="347472"/>
          </a:xfrm>
          <a:prstGeom prst="rect">
            <a:avLst/>
          </a:prstGeom>
          <a:noFill/>
          <a:ln/>
        </p:spPr>
        <p:txBody>
          <a:bodyPr wrap="square" lIns="0" tIns="0" rIns="0" bIns="0"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Fidèles à forte valeur</a:t>
            </a:r>
            <a:endParaRPr lang="en-US" sz="1500" dirty="0"/>
          </a:p>
        </p:txBody>
      </p:sp>
      <p:sp>
        <p:nvSpPr>
          <p:cNvPr id="32" name="Text 26"/>
          <p:cNvSpPr/>
          <p:nvPr/>
        </p:nvSpPr>
        <p:spPr>
          <a:xfrm>
            <a:off x="9061704" y="3163824"/>
            <a:ext cx="2478024" cy="274320"/>
          </a:xfrm>
          <a:prstGeom prst="rect">
            <a:avLst/>
          </a:prstGeom>
          <a:noFill/>
          <a:ln/>
        </p:spPr>
        <p:txBody>
          <a:bodyPr wrap="square" lIns="0" tIns="0" rIns="0" bIns="0" rtlCol="0" anchor="ctr"/>
          <a:lstStyle/>
          <a:p>
            <a:pPr marL="0" indent="0" algn="ctr">
              <a:buNone/>
            </a:pPr>
            <a:r>
              <a:rPr lang="en-US" sz="1150" b="1" dirty="0">
                <a:solidFill>
                  <a:srgbClr val="059669"/>
                </a:solidFill>
                <a:latin typeface="Calibri" pitchFamily="34" charset="0"/>
                <a:ea typeface="Calibri" pitchFamily="34" charset="-122"/>
                <a:cs typeface="Calibri" pitchFamily="34" charset="-120"/>
              </a:rPr>
              <a:t>891 clients · 39,8 %</a:t>
            </a:r>
            <a:endParaRPr lang="en-US" sz="1150" dirty="0"/>
          </a:p>
        </p:txBody>
      </p:sp>
      <p:sp>
        <p:nvSpPr>
          <p:cNvPr id="33" name="Text 27"/>
          <p:cNvSpPr/>
          <p:nvPr/>
        </p:nvSpPr>
        <p:spPr>
          <a:xfrm>
            <a:off x="9134856" y="3474720"/>
            <a:ext cx="2331720" cy="914400"/>
          </a:xfrm>
          <a:prstGeom prst="rect">
            <a:avLst/>
          </a:prstGeom>
          <a:noFill/>
          <a:ln/>
        </p:spPr>
        <p:txBody>
          <a:bodyPr wrap="square" lIns="0" tIns="0" rIns="0" bIns="0" rtlCol="0" anchor="ctr"/>
          <a:lstStyle/>
          <a:p>
            <a:pPr marL="0" indent="0" algn="ctr">
              <a:lnSpc>
                <a:spcPct val="102000"/>
              </a:lnSpc>
              <a:buNone/>
            </a:pPr>
            <a:r>
              <a:rPr lang="en-US" sz="1050" dirty="0">
                <a:solidFill>
                  <a:srgbClr val="64748B"/>
                </a:solidFill>
                <a:latin typeface="Calibri" pitchFamily="34" charset="0"/>
                <a:ea typeface="Calibri" pitchFamily="34" charset="-122"/>
                <a:cs typeface="Calibri" pitchFamily="34" charset="-120"/>
              </a:rPr>
              <a:t>Massif et rentable : dépense ~1 033 €, mais peu réactif (0,38).</a:t>
            </a:r>
            <a:endParaRPr lang="en-US" sz="1050" dirty="0"/>
          </a:p>
        </p:txBody>
      </p:sp>
      <p:sp>
        <p:nvSpPr>
          <p:cNvPr id="34" name="Shape 28"/>
          <p:cNvSpPr/>
          <p:nvPr/>
        </p:nvSpPr>
        <p:spPr>
          <a:xfrm>
            <a:off x="9317736" y="4407408"/>
            <a:ext cx="1965960" cy="0"/>
          </a:xfrm>
          <a:prstGeom prst="line">
            <a:avLst/>
          </a:prstGeom>
          <a:noFill/>
          <a:ln w="12700">
            <a:solidFill>
              <a:srgbClr val="E2E8F0"/>
            </a:solidFill>
            <a:prstDash val="solid"/>
          </a:ln>
        </p:spPr>
        <p:txBody>
          <a:bodyPr/>
          <a:lstStyle/>
          <a:p>
            <a:endParaRPr lang="fr-FR"/>
          </a:p>
        </p:txBody>
      </p:sp>
      <p:sp>
        <p:nvSpPr>
          <p:cNvPr id="35" name="Text 29"/>
          <p:cNvSpPr/>
          <p:nvPr/>
        </p:nvSpPr>
        <p:spPr>
          <a:xfrm>
            <a:off x="9134856" y="4480560"/>
            <a:ext cx="2331720" cy="822960"/>
          </a:xfrm>
          <a:prstGeom prst="rect">
            <a:avLst/>
          </a:prstGeom>
          <a:noFill/>
          <a:ln/>
        </p:spPr>
        <p:txBody>
          <a:bodyPr wrap="square" lIns="0" tIns="0" rIns="0" bIns="0" rtlCol="0" anchor="t"/>
          <a:lstStyle/>
          <a:p>
            <a:pPr marL="0" indent="0" algn="ctr">
              <a:lnSpc>
                <a:spcPct val="102000"/>
              </a:lnSpc>
              <a:buNone/>
            </a:pPr>
            <a:r>
              <a:rPr lang="en-US" sz="1000" b="1" dirty="0">
                <a:solidFill>
                  <a:srgbClr val="059669"/>
                </a:solidFill>
                <a:latin typeface="Calibri" pitchFamily="34" charset="0"/>
                <a:ea typeface="Calibri" pitchFamily="34" charset="-122"/>
                <a:cs typeface="Calibri" pitchFamily="34" charset="-120"/>
              </a:rPr>
              <a:t>CRM  </a:t>
            </a:r>
            <a:r>
              <a:rPr lang="en-US" sz="1000" dirty="0">
                <a:solidFill>
                  <a:srgbClr val="1E293B"/>
                </a:solidFill>
                <a:latin typeface="Calibri" pitchFamily="34" charset="0"/>
                <a:ea typeface="Calibri" pitchFamily="34" charset="-122"/>
                <a:cs typeface="Calibri" pitchFamily="34" charset="-120"/>
              </a:rPr>
              <a:t>Cross-sell omnicanal ; ne pas sur-solliciter en promotions.</a:t>
            </a:r>
            <a:endParaRPr lang="en-US" sz="1000" dirty="0"/>
          </a:p>
        </p:txBody>
      </p:sp>
      <p:sp>
        <p:nvSpPr>
          <p:cNvPr id="36" name="Shape 30"/>
          <p:cNvSpPr/>
          <p:nvPr/>
        </p:nvSpPr>
        <p:spPr>
          <a:xfrm>
            <a:off x="502920" y="5577840"/>
            <a:ext cx="11183112" cy="566928"/>
          </a:xfrm>
          <a:prstGeom prst="roundRect">
            <a:avLst>
              <a:gd name="adj" fmla="val 9677"/>
            </a:avLst>
          </a:prstGeom>
          <a:solidFill>
            <a:srgbClr val="F3E8FF"/>
          </a:solidFill>
          <a:ln/>
        </p:spPr>
        <p:txBody>
          <a:bodyPr/>
          <a:lstStyle/>
          <a:p>
            <a:endParaRPr lang="fr-FR"/>
          </a:p>
        </p:txBody>
      </p:sp>
      <p:sp>
        <p:nvSpPr>
          <p:cNvPr id="37" name="Text 31"/>
          <p:cNvSpPr/>
          <p:nvPr/>
        </p:nvSpPr>
        <p:spPr>
          <a:xfrm>
            <a:off x="713232" y="5577840"/>
            <a:ext cx="10771632" cy="566928"/>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À retenir   </a:t>
            </a:r>
            <a:r>
              <a:rPr lang="en-US" sz="1300" dirty="0">
                <a:solidFill>
                  <a:srgbClr val="1E293B"/>
                </a:solidFill>
                <a:latin typeface="Calibri" pitchFamily="34" charset="0"/>
                <a:ea typeface="Calibri" pitchFamily="34" charset="-122"/>
                <a:cs typeface="Calibri" pitchFamily="34" charset="-120"/>
              </a:rPr>
              <a:t>Chaque cluster déclenche une action marketing différente — la segmentation devient un plan d'action, pas un graphique.</a:t>
            </a:r>
            <a:endParaRPr lang="en-US" sz="1300" dirty="0"/>
          </a:p>
        </p:txBody>
      </p:sp>
      <p:sp>
        <p:nvSpPr>
          <p:cNvPr id="38" name="Text 32"/>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39" name="Text 33"/>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SEGMENTATION — VALIDATION</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Des segments contrastés et exploitables, malgré une silhouette modérée</a:t>
            </a:r>
            <a:endParaRPr lang="en-US" sz="2500" dirty="0"/>
          </a:p>
        </p:txBody>
      </p:sp>
      <p:sp>
        <p:nvSpPr>
          <p:cNvPr id="4" name="Text 2"/>
          <p:cNvSpPr/>
          <p:nvPr/>
        </p:nvSpPr>
        <p:spPr>
          <a:xfrm>
            <a:off x="502920" y="1645920"/>
            <a:ext cx="54864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RÉPARTITION DES CLIENTS</a:t>
            </a:r>
            <a:endParaRPr lang="en-US" sz="1100" dirty="0"/>
          </a:p>
        </p:txBody>
      </p:sp>
      <p:graphicFrame>
        <p:nvGraphicFramePr>
          <p:cNvPr id="5" name="Chart 0"/>
          <p:cNvGraphicFramePr/>
          <p:nvPr/>
        </p:nvGraphicFramePr>
        <p:xfrm>
          <a:off x="457200" y="1874520"/>
          <a:ext cx="539496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126480" y="1645920"/>
            <a:ext cx="54864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QUALITÉ &amp; INTERPRÉTATION</a:t>
            </a:r>
            <a:endParaRPr lang="en-US" sz="1100" dirty="0"/>
          </a:p>
        </p:txBody>
      </p:sp>
      <p:sp>
        <p:nvSpPr>
          <p:cNvPr id="7" name="Shape 4"/>
          <p:cNvSpPr/>
          <p:nvPr/>
        </p:nvSpPr>
        <p:spPr>
          <a:xfrm>
            <a:off x="6126480" y="1920240"/>
            <a:ext cx="5577840" cy="804672"/>
          </a:xfrm>
          <a:prstGeom prst="roundRect">
            <a:avLst>
              <a:gd name="adj" fmla="val 6818"/>
            </a:avLst>
          </a:prstGeom>
          <a:solidFill>
            <a:srgbClr val="F1F5F9"/>
          </a:solidFill>
          <a:ln/>
        </p:spPr>
        <p:txBody>
          <a:bodyPr/>
          <a:lstStyle/>
          <a:p>
            <a:endParaRPr lang="fr-FR"/>
          </a:p>
        </p:txBody>
      </p:sp>
      <p:sp>
        <p:nvSpPr>
          <p:cNvPr id="8" name="Text 5"/>
          <p:cNvSpPr/>
          <p:nvPr/>
        </p:nvSpPr>
        <p:spPr>
          <a:xfrm>
            <a:off x="6309360" y="1975104"/>
            <a:ext cx="1417320" cy="676656"/>
          </a:xfrm>
          <a:prstGeom prst="rect">
            <a:avLst/>
          </a:prstGeom>
          <a:noFill/>
          <a:ln/>
        </p:spPr>
        <p:txBody>
          <a:bodyPr wrap="square" lIns="0" tIns="0" rIns="0" bIns="0" rtlCol="0" anchor="ctr"/>
          <a:lstStyle/>
          <a:p>
            <a:pPr marL="0" indent="0" algn="l">
              <a:buNone/>
            </a:pPr>
            <a:r>
              <a:rPr lang="en-US" sz="2400" b="1" dirty="0">
                <a:solidFill>
                  <a:srgbClr val="7C3AED"/>
                </a:solidFill>
                <a:latin typeface="Calibri" pitchFamily="34" charset="0"/>
                <a:ea typeface="Calibri" pitchFamily="34" charset="-122"/>
                <a:cs typeface="Calibri" pitchFamily="34" charset="-120"/>
              </a:rPr>
              <a:t>0,21</a:t>
            </a:r>
            <a:endParaRPr lang="en-US" sz="2400" dirty="0"/>
          </a:p>
        </p:txBody>
      </p:sp>
      <p:sp>
        <p:nvSpPr>
          <p:cNvPr id="9" name="Text 6"/>
          <p:cNvSpPr/>
          <p:nvPr/>
        </p:nvSpPr>
        <p:spPr>
          <a:xfrm>
            <a:off x="7772400" y="1956816"/>
            <a:ext cx="3794760" cy="731520"/>
          </a:xfrm>
          <a:prstGeom prst="rect">
            <a:avLst/>
          </a:prstGeom>
          <a:noFill/>
          <a:ln/>
        </p:spPr>
        <p:txBody>
          <a:bodyPr wrap="square" lIns="0" tIns="0" rIns="0" bIns="0" rtlCol="0" anchor="ctr"/>
          <a:lstStyle/>
          <a:p>
            <a:pPr marL="0" indent="0">
              <a:lnSpc>
                <a:spcPct val="100000"/>
              </a:lnSpc>
              <a:buNone/>
            </a:pPr>
            <a:r>
              <a:rPr lang="en-US" sz="1300" b="1" dirty="0">
                <a:solidFill>
                  <a:srgbClr val="0F172A"/>
                </a:solidFill>
                <a:latin typeface="Calibri" pitchFamily="34" charset="0"/>
                <a:ea typeface="Calibri" pitchFamily="34" charset="-122"/>
                <a:cs typeface="Calibri" pitchFamily="34" charset="-120"/>
              </a:rPr>
              <a:t>Silhouette</a:t>
            </a:r>
            <a:endParaRPr lang="en-US" sz="1300" dirty="0"/>
          </a:p>
          <a:p>
            <a:pPr marL="0" indent="0">
              <a:lnSpc>
                <a:spcPct val="100000"/>
              </a:lnSpc>
              <a:buNone/>
            </a:pPr>
            <a:r>
              <a:rPr lang="en-US" sz="1050" dirty="0">
                <a:solidFill>
                  <a:srgbClr val="64748B"/>
                </a:solidFill>
                <a:latin typeface="Calibri" pitchFamily="34" charset="0"/>
                <a:ea typeface="Calibri" pitchFamily="34" charset="-122"/>
                <a:cs typeface="Calibri" pitchFamily="34" charset="-120"/>
              </a:rPr>
              <a:t>séparation modérée — normale sur un continuum client</a:t>
            </a:r>
            <a:endParaRPr lang="en-US" sz="1300" dirty="0"/>
          </a:p>
        </p:txBody>
      </p:sp>
      <p:sp>
        <p:nvSpPr>
          <p:cNvPr id="10" name="Shape 7"/>
          <p:cNvSpPr/>
          <p:nvPr/>
        </p:nvSpPr>
        <p:spPr>
          <a:xfrm>
            <a:off x="6126480" y="2834640"/>
            <a:ext cx="5577840" cy="804672"/>
          </a:xfrm>
          <a:prstGeom prst="roundRect">
            <a:avLst>
              <a:gd name="adj" fmla="val 6818"/>
            </a:avLst>
          </a:prstGeom>
          <a:solidFill>
            <a:srgbClr val="F1F5F9"/>
          </a:solidFill>
          <a:ln/>
        </p:spPr>
        <p:txBody>
          <a:bodyPr/>
          <a:lstStyle/>
          <a:p>
            <a:endParaRPr lang="fr-FR"/>
          </a:p>
        </p:txBody>
      </p:sp>
      <p:sp>
        <p:nvSpPr>
          <p:cNvPr id="11" name="Text 8"/>
          <p:cNvSpPr/>
          <p:nvPr/>
        </p:nvSpPr>
        <p:spPr>
          <a:xfrm>
            <a:off x="6309360" y="2889504"/>
            <a:ext cx="1417320" cy="676656"/>
          </a:xfrm>
          <a:prstGeom prst="rect">
            <a:avLst/>
          </a:prstGeom>
          <a:noFill/>
          <a:ln/>
        </p:spPr>
        <p:txBody>
          <a:bodyPr wrap="square" lIns="0" tIns="0" rIns="0" bIns="0" rtlCol="0" anchor="ctr"/>
          <a:lstStyle/>
          <a:p>
            <a:pPr marL="0" indent="0" algn="l">
              <a:buNone/>
            </a:pPr>
            <a:r>
              <a:rPr lang="en-US" sz="2400" b="1" dirty="0">
                <a:solidFill>
                  <a:srgbClr val="7C3AED"/>
                </a:solidFill>
                <a:latin typeface="Calibri" pitchFamily="34" charset="0"/>
                <a:ea typeface="Calibri" pitchFamily="34" charset="-122"/>
                <a:cs typeface="Calibri" pitchFamily="34" charset="-120"/>
              </a:rPr>
              <a:t>2,42</a:t>
            </a:r>
            <a:endParaRPr lang="en-US" sz="2400" dirty="0"/>
          </a:p>
        </p:txBody>
      </p:sp>
      <p:sp>
        <p:nvSpPr>
          <p:cNvPr id="12" name="Text 9"/>
          <p:cNvSpPr/>
          <p:nvPr/>
        </p:nvSpPr>
        <p:spPr>
          <a:xfrm>
            <a:off x="7772400" y="2871216"/>
            <a:ext cx="3794760" cy="731520"/>
          </a:xfrm>
          <a:prstGeom prst="rect">
            <a:avLst/>
          </a:prstGeom>
          <a:noFill/>
          <a:ln/>
        </p:spPr>
        <p:txBody>
          <a:bodyPr wrap="square" lIns="0" tIns="0" rIns="0" bIns="0" rtlCol="0" anchor="ctr"/>
          <a:lstStyle/>
          <a:p>
            <a:pPr marL="0" indent="0">
              <a:lnSpc>
                <a:spcPct val="100000"/>
              </a:lnSpc>
              <a:buNone/>
            </a:pPr>
            <a:r>
              <a:rPr lang="en-US" sz="1300" b="1" dirty="0">
                <a:solidFill>
                  <a:srgbClr val="0F172A"/>
                </a:solidFill>
                <a:latin typeface="Calibri" pitchFamily="34" charset="0"/>
                <a:ea typeface="Calibri" pitchFamily="34" charset="-122"/>
                <a:cs typeface="Calibri" pitchFamily="34" charset="-120"/>
              </a:rPr>
              <a:t>Davies-Bouldin</a:t>
            </a:r>
            <a:endParaRPr lang="en-US" sz="1300" dirty="0"/>
          </a:p>
          <a:p>
            <a:pPr marL="0" indent="0">
              <a:lnSpc>
                <a:spcPct val="100000"/>
              </a:lnSpc>
              <a:buNone/>
            </a:pPr>
            <a:r>
              <a:rPr lang="en-US" sz="1050" dirty="0">
                <a:solidFill>
                  <a:srgbClr val="64748B"/>
                </a:solidFill>
                <a:latin typeface="Calibri" pitchFamily="34" charset="0"/>
                <a:ea typeface="Calibri" pitchFamily="34" charset="-122"/>
                <a:cs typeface="Calibri" pitchFamily="34" charset="-120"/>
              </a:rPr>
              <a:t>clusters pas parfaitement compacts</a:t>
            </a:r>
            <a:endParaRPr lang="en-US" sz="1300" dirty="0"/>
          </a:p>
        </p:txBody>
      </p:sp>
      <p:sp>
        <p:nvSpPr>
          <p:cNvPr id="13" name="Shape 10"/>
          <p:cNvSpPr/>
          <p:nvPr/>
        </p:nvSpPr>
        <p:spPr>
          <a:xfrm>
            <a:off x="6126480" y="3749040"/>
            <a:ext cx="5577840" cy="804672"/>
          </a:xfrm>
          <a:prstGeom prst="roundRect">
            <a:avLst>
              <a:gd name="adj" fmla="val 6818"/>
            </a:avLst>
          </a:prstGeom>
          <a:solidFill>
            <a:srgbClr val="F1F5F9"/>
          </a:solidFill>
          <a:ln/>
        </p:spPr>
        <p:txBody>
          <a:bodyPr/>
          <a:lstStyle/>
          <a:p>
            <a:endParaRPr lang="fr-FR"/>
          </a:p>
        </p:txBody>
      </p:sp>
      <p:sp>
        <p:nvSpPr>
          <p:cNvPr id="14" name="Text 11"/>
          <p:cNvSpPr/>
          <p:nvPr/>
        </p:nvSpPr>
        <p:spPr>
          <a:xfrm>
            <a:off x="6309360" y="3803904"/>
            <a:ext cx="1417320" cy="676656"/>
          </a:xfrm>
          <a:prstGeom prst="rect">
            <a:avLst/>
          </a:prstGeom>
          <a:noFill/>
          <a:ln/>
        </p:spPr>
        <p:txBody>
          <a:bodyPr wrap="square" lIns="0" tIns="0" rIns="0" bIns="0" rtlCol="0" anchor="ctr"/>
          <a:lstStyle/>
          <a:p>
            <a:pPr marL="0" indent="0" algn="l">
              <a:buNone/>
            </a:pPr>
            <a:r>
              <a:rPr lang="en-US" sz="2400" b="1" dirty="0">
                <a:solidFill>
                  <a:srgbClr val="7C3AED"/>
                </a:solidFill>
                <a:latin typeface="Calibri" pitchFamily="34" charset="0"/>
                <a:ea typeface="Calibri" pitchFamily="34" charset="-122"/>
                <a:cs typeface="Calibri" pitchFamily="34" charset="-120"/>
              </a:rPr>
              <a:t>305</a:t>
            </a:r>
            <a:endParaRPr lang="en-US" sz="2400" dirty="0"/>
          </a:p>
        </p:txBody>
      </p:sp>
      <p:sp>
        <p:nvSpPr>
          <p:cNvPr id="15" name="Text 12"/>
          <p:cNvSpPr/>
          <p:nvPr/>
        </p:nvSpPr>
        <p:spPr>
          <a:xfrm>
            <a:off x="7772400" y="3785616"/>
            <a:ext cx="3794760" cy="731520"/>
          </a:xfrm>
          <a:prstGeom prst="rect">
            <a:avLst/>
          </a:prstGeom>
          <a:noFill/>
          <a:ln/>
        </p:spPr>
        <p:txBody>
          <a:bodyPr wrap="square" lIns="0" tIns="0" rIns="0" bIns="0" rtlCol="0" anchor="ctr"/>
          <a:lstStyle/>
          <a:p>
            <a:pPr marL="0" indent="0">
              <a:lnSpc>
                <a:spcPct val="100000"/>
              </a:lnSpc>
              <a:buNone/>
            </a:pPr>
            <a:r>
              <a:rPr lang="en-US" sz="1300" b="1" dirty="0">
                <a:solidFill>
                  <a:srgbClr val="0F172A"/>
                </a:solidFill>
                <a:latin typeface="Calibri" pitchFamily="34" charset="0"/>
                <a:ea typeface="Calibri" pitchFamily="34" charset="-122"/>
                <a:cs typeface="Calibri" pitchFamily="34" charset="-120"/>
              </a:rPr>
              <a:t>Calinski-Harabasz</a:t>
            </a:r>
            <a:endParaRPr lang="en-US" sz="1300" dirty="0"/>
          </a:p>
          <a:p>
            <a:pPr marL="0" indent="0">
              <a:lnSpc>
                <a:spcPct val="100000"/>
              </a:lnSpc>
              <a:buNone/>
            </a:pPr>
            <a:r>
              <a:rPr lang="en-US" sz="1050" dirty="0">
                <a:solidFill>
                  <a:srgbClr val="64748B"/>
                </a:solidFill>
                <a:latin typeface="Calibri" pitchFamily="34" charset="0"/>
                <a:ea typeface="Calibri" pitchFamily="34" charset="-122"/>
                <a:cs typeface="Calibri" pitchFamily="34" charset="-120"/>
              </a:rPr>
              <a:t>structure globale bien présente</a:t>
            </a:r>
            <a:endParaRPr lang="en-US" sz="1300" dirty="0"/>
          </a:p>
        </p:txBody>
      </p:sp>
      <p:sp>
        <p:nvSpPr>
          <p:cNvPr id="16" name="Shape 13"/>
          <p:cNvSpPr/>
          <p:nvPr/>
        </p:nvSpPr>
        <p:spPr>
          <a:xfrm>
            <a:off x="6126480" y="4663440"/>
            <a:ext cx="5577840" cy="804672"/>
          </a:xfrm>
          <a:prstGeom prst="roundRect">
            <a:avLst>
              <a:gd name="adj" fmla="val 6818"/>
            </a:avLst>
          </a:prstGeom>
          <a:solidFill>
            <a:srgbClr val="F1F5F9"/>
          </a:solidFill>
          <a:ln/>
        </p:spPr>
        <p:txBody>
          <a:bodyPr/>
          <a:lstStyle/>
          <a:p>
            <a:endParaRPr lang="fr-FR"/>
          </a:p>
        </p:txBody>
      </p:sp>
      <p:sp>
        <p:nvSpPr>
          <p:cNvPr id="17" name="Text 14"/>
          <p:cNvSpPr/>
          <p:nvPr/>
        </p:nvSpPr>
        <p:spPr>
          <a:xfrm>
            <a:off x="6309360" y="4718304"/>
            <a:ext cx="1417320" cy="676656"/>
          </a:xfrm>
          <a:prstGeom prst="rect">
            <a:avLst/>
          </a:prstGeom>
          <a:noFill/>
          <a:ln/>
        </p:spPr>
        <p:txBody>
          <a:bodyPr wrap="square" lIns="0" tIns="0" rIns="0" bIns="0" rtlCol="0" anchor="ctr"/>
          <a:lstStyle/>
          <a:p>
            <a:pPr marL="0" indent="0" algn="l">
              <a:buNone/>
            </a:pPr>
            <a:r>
              <a:rPr lang="en-US" sz="2400" b="1" dirty="0">
                <a:solidFill>
                  <a:srgbClr val="7C3AED"/>
                </a:solidFill>
                <a:latin typeface="Calibri" pitchFamily="34" charset="0"/>
                <a:ea typeface="Calibri" pitchFamily="34" charset="-122"/>
                <a:cs typeface="Calibri" pitchFamily="34" charset="-120"/>
              </a:rPr>
              <a:t>k = 4</a:t>
            </a:r>
            <a:endParaRPr lang="en-US" sz="2400" dirty="0"/>
          </a:p>
        </p:txBody>
      </p:sp>
      <p:sp>
        <p:nvSpPr>
          <p:cNvPr id="18" name="Text 15"/>
          <p:cNvSpPr/>
          <p:nvPr/>
        </p:nvSpPr>
        <p:spPr>
          <a:xfrm>
            <a:off x="7772400" y="4700016"/>
            <a:ext cx="3794760" cy="731520"/>
          </a:xfrm>
          <a:prstGeom prst="rect">
            <a:avLst/>
          </a:prstGeom>
          <a:noFill/>
          <a:ln/>
        </p:spPr>
        <p:txBody>
          <a:bodyPr wrap="square" lIns="0" tIns="0" rIns="0" bIns="0" rtlCol="0" anchor="ctr"/>
          <a:lstStyle/>
          <a:p>
            <a:pPr marL="0" indent="0">
              <a:lnSpc>
                <a:spcPct val="100000"/>
              </a:lnSpc>
              <a:buNone/>
            </a:pPr>
            <a:r>
              <a:rPr lang="en-US" sz="1300" b="1" dirty="0">
                <a:solidFill>
                  <a:srgbClr val="0F172A"/>
                </a:solidFill>
                <a:latin typeface="Calibri" pitchFamily="34" charset="0"/>
                <a:ea typeface="Calibri" pitchFamily="34" charset="-122"/>
                <a:cs typeface="Calibri" pitchFamily="34" charset="-120"/>
              </a:rPr>
              <a:t>Composantes GMM</a:t>
            </a:r>
            <a:endParaRPr lang="en-US" sz="1300" dirty="0"/>
          </a:p>
          <a:p>
            <a:pPr marL="0" indent="0">
              <a:lnSpc>
                <a:spcPct val="100000"/>
              </a:lnSpc>
              <a:buNone/>
            </a:pPr>
            <a:r>
              <a:rPr lang="en-US" sz="1050" dirty="0">
                <a:solidFill>
                  <a:srgbClr val="64748B"/>
                </a:solidFill>
                <a:latin typeface="Calibri" pitchFamily="34" charset="0"/>
                <a:ea typeface="Calibri" pitchFamily="34" charset="-122"/>
                <a:cs typeface="Calibri" pitchFamily="34" charset="-120"/>
              </a:rPr>
              <a:t>confirmé par la méthode du coude (Elbow)</a:t>
            </a:r>
            <a:endParaRPr lang="en-US" sz="1300" dirty="0"/>
          </a:p>
        </p:txBody>
      </p:sp>
      <p:sp>
        <p:nvSpPr>
          <p:cNvPr id="19" name="Shape 16"/>
          <p:cNvSpPr/>
          <p:nvPr/>
        </p:nvSpPr>
        <p:spPr>
          <a:xfrm>
            <a:off x="502920" y="5577840"/>
            <a:ext cx="11183112" cy="566928"/>
          </a:xfrm>
          <a:prstGeom prst="roundRect">
            <a:avLst>
              <a:gd name="adj" fmla="val 9677"/>
            </a:avLst>
          </a:prstGeom>
          <a:solidFill>
            <a:srgbClr val="F3E8FF"/>
          </a:solidFill>
          <a:ln/>
        </p:spPr>
        <p:txBody>
          <a:bodyPr/>
          <a:lstStyle/>
          <a:p>
            <a:endParaRPr lang="fr-FR"/>
          </a:p>
        </p:txBody>
      </p:sp>
      <p:sp>
        <p:nvSpPr>
          <p:cNvPr id="20" name="Text 17"/>
          <p:cNvSpPr/>
          <p:nvPr/>
        </p:nvSpPr>
        <p:spPr>
          <a:xfrm>
            <a:off x="713232" y="5577840"/>
            <a:ext cx="10771632" cy="566928"/>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À retenir   </a:t>
            </a:r>
            <a:r>
              <a:rPr lang="en-US" sz="1300" dirty="0">
                <a:solidFill>
                  <a:srgbClr val="1E293B"/>
                </a:solidFill>
                <a:latin typeface="Calibri" pitchFamily="34" charset="0"/>
                <a:ea typeface="Calibri" pitchFamily="34" charset="-122"/>
                <a:cs typeface="Calibri" pitchFamily="34" charset="-120"/>
              </a:rPr>
              <a:t>La projection PCA confirme des groupes distincts ; on assume une cohésion modérée, normale sur des comportements clients réels.</a:t>
            </a:r>
            <a:endParaRPr lang="en-US" sz="1300" dirty="0"/>
          </a:p>
        </p:txBody>
      </p:sp>
      <p:sp>
        <p:nvSpPr>
          <p:cNvPr id="21" name="Text 18"/>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22" name="Text 19"/>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SEGMENTATION — LECTURE STRATÉGIQUE</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Deux axes indépendants : la valeur ne prédit pas la réactivité aux campagnes</a:t>
            </a:r>
            <a:endParaRPr lang="en-US" sz="2500" dirty="0"/>
          </a:p>
        </p:txBody>
      </p:sp>
      <p:sp>
        <p:nvSpPr>
          <p:cNvPr id="4" name="Shape 2"/>
          <p:cNvSpPr/>
          <p:nvPr/>
        </p:nvSpPr>
        <p:spPr>
          <a:xfrm>
            <a:off x="1554480" y="1828800"/>
            <a:ext cx="5212080" cy="4023360"/>
          </a:xfrm>
          <a:prstGeom prst="rect">
            <a:avLst/>
          </a:prstGeom>
          <a:solidFill>
            <a:srgbClr val="F1F5F9"/>
          </a:solidFill>
          <a:ln w="12700">
            <a:solidFill>
              <a:srgbClr val="E2E8F0"/>
            </a:solidFill>
            <a:prstDash val="solid"/>
          </a:ln>
        </p:spPr>
        <p:txBody>
          <a:bodyPr/>
          <a:lstStyle/>
          <a:p>
            <a:endParaRPr lang="fr-FR"/>
          </a:p>
        </p:txBody>
      </p:sp>
      <p:sp>
        <p:nvSpPr>
          <p:cNvPr id="5" name="Shape 3"/>
          <p:cNvSpPr/>
          <p:nvPr/>
        </p:nvSpPr>
        <p:spPr>
          <a:xfrm>
            <a:off x="4160520" y="1828800"/>
            <a:ext cx="0" cy="4023360"/>
          </a:xfrm>
          <a:prstGeom prst="line">
            <a:avLst/>
          </a:prstGeom>
          <a:noFill/>
          <a:ln w="12700">
            <a:solidFill>
              <a:srgbClr val="64748B"/>
            </a:solidFill>
            <a:prstDash val="dash"/>
          </a:ln>
        </p:spPr>
        <p:txBody>
          <a:bodyPr/>
          <a:lstStyle/>
          <a:p>
            <a:endParaRPr lang="fr-FR"/>
          </a:p>
        </p:txBody>
      </p:sp>
      <p:sp>
        <p:nvSpPr>
          <p:cNvPr id="6" name="Shape 4"/>
          <p:cNvSpPr/>
          <p:nvPr/>
        </p:nvSpPr>
        <p:spPr>
          <a:xfrm>
            <a:off x="1554480" y="3840480"/>
            <a:ext cx="5212080" cy="0"/>
          </a:xfrm>
          <a:prstGeom prst="line">
            <a:avLst/>
          </a:prstGeom>
          <a:noFill/>
          <a:ln w="12700">
            <a:solidFill>
              <a:srgbClr val="64748B"/>
            </a:solidFill>
            <a:prstDash val="dash"/>
          </a:ln>
        </p:spPr>
        <p:txBody>
          <a:bodyPr/>
          <a:lstStyle/>
          <a:p>
            <a:endParaRPr lang="fr-FR"/>
          </a:p>
        </p:txBody>
      </p:sp>
      <p:sp>
        <p:nvSpPr>
          <p:cNvPr id="7" name="Text 5"/>
          <p:cNvSpPr/>
          <p:nvPr/>
        </p:nvSpPr>
        <p:spPr>
          <a:xfrm>
            <a:off x="1554480" y="5925312"/>
            <a:ext cx="5212080" cy="274320"/>
          </a:xfrm>
          <a:prstGeom prst="rect">
            <a:avLst/>
          </a:prstGeom>
          <a:noFill/>
          <a:ln/>
        </p:spPr>
        <p:txBody>
          <a:bodyPr wrap="square" lIns="0" tIns="0" rIns="0" bIns="0" rtlCol="0" anchor="ctr"/>
          <a:lstStyle/>
          <a:p>
            <a:pPr marL="0" indent="0" algn="ctr">
              <a:buNone/>
            </a:pPr>
            <a:r>
              <a:rPr lang="en-US" sz="1150" b="1" dirty="0">
                <a:solidFill>
                  <a:srgbClr val="64748B"/>
                </a:solidFill>
                <a:latin typeface="Calibri" pitchFamily="34" charset="0"/>
                <a:ea typeface="Calibri" pitchFamily="34" charset="-122"/>
                <a:cs typeface="Calibri" pitchFamily="34" charset="-120"/>
              </a:rPr>
              <a:t>Réactivité aux campagnes →</a:t>
            </a:r>
            <a:endParaRPr lang="en-US" sz="1150" dirty="0"/>
          </a:p>
        </p:txBody>
      </p:sp>
      <p:sp>
        <p:nvSpPr>
          <p:cNvPr id="8" name="Text 6"/>
          <p:cNvSpPr/>
          <p:nvPr/>
        </p:nvSpPr>
        <p:spPr>
          <a:xfrm rot="16200000">
            <a:off x="182880" y="3703320"/>
            <a:ext cx="1188720" cy="274320"/>
          </a:xfrm>
          <a:prstGeom prst="rect">
            <a:avLst/>
          </a:prstGeom>
          <a:noFill/>
          <a:ln/>
        </p:spPr>
        <p:txBody>
          <a:bodyPr wrap="square" lIns="0" tIns="0" rIns="0" bIns="0" rtlCol="0" anchor="ctr"/>
          <a:lstStyle/>
          <a:p>
            <a:pPr marL="0" indent="0" algn="ctr">
              <a:buNone/>
            </a:pPr>
            <a:r>
              <a:rPr lang="en-US" sz="1150" b="1" dirty="0">
                <a:solidFill>
                  <a:srgbClr val="64748B"/>
                </a:solidFill>
                <a:latin typeface="Calibri" pitchFamily="34" charset="0"/>
                <a:ea typeface="Calibri" pitchFamily="34" charset="-122"/>
                <a:cs typeface="Calibri" pitchFamily="34" charset="-120"/>
              </a:rPr>
              <a:t>Valeur / dépense →</a:t>
            </a:r>
            <a:endParaRPr lang="en-US" sz="1150" dirty="0"/>
          </a:p>
        </p:txBody>
      </p:sp>
      <p:sp>
        <p:nvSpPr>
          <p:cNvPr id="9" name="Shape 7"/>
          <p:cNvSpPr/>
          <p:nvPr/>
        </p:nvSpPr>
        <p:spPr>
          <a:xfrm>
            <a:off x="4886554" y="2373782"/>
            <a:ext cx="841248" cy="841248"/>
          </a:xfrm>
          <a:prstGeom prst="ellipse">
            <a:avLst/>
          </a:prstGeom>
          <a:solidFill>
            <a:srgbClr val="7C3AED">
              <a:alpha val="88000"/>
            </a:srgbClr>
          </a:solidFill>
          <a:ln w="19050">
            <a:solidFill>
              <a:srgbClr val="FFFFFF"/>
            </a:solidFill>
            <a:prstDash val="solid"/>
          </a:ln>
          <a:effectLst>
            <a:outerShdw blurRad="63500" dist="25400" dir="5400000" algn="bl" rotWithShape="0">
              <a:srgbClr val="0F172A">
                <a:alpha val="15000"/>
              </a:srgbClr>
            </a:outerShdw>
          </a:effectLst>
        </p:spPr>
        <p:txBody>
          <a:bodyPr/>
          <a:lstStyle/>
          <a:p>
            <a:endParaRPr lang="fr-FR"/>
          </a:p>
        </p:txBody>
      </p:sp>
      <p:sp>
        <p:nvSpPr>
          <p:cNvPr id="10" name="Text 8"/>
          <p:cNvSpPr/>
          <p:nvPr/>
        </p:nvSpPr>
        <p:spPr>
          <a:xfrm>
            <a:off x="4438498" y="2474366"/>
            <a:ext cx="1737360" cy="640080"/>
          </a:xfrm>
          <a:prstGeom prst="rect">
            <a:avLst/>
          </a:prstGeom>
          <a:noFill/>
          <a:ln/>
        </p:spPr>
        <p:txBody>
          <a:bodyPr wrap="square" lIns="0" tIns="0" rIns="0" bIns="0" rtlCol="0" anchor="ctr"/>
          <a:lstStyle/>
          <a:p>
            <a:pPr marL="0" indent="0" algn="ctr">
              <a:lnSpc>
                <a:spcPct val="90000"/>
              </a:lnSpc>
              <a:buNone/>
            </a:pPr>
            <a:r>
              <a:rPr lang="en-US" sz="900" b="1" dirty="0">
                <a:solidFill>
                  <a:srgbClr val="FFFFFF"/>
                </a:solidFill>
                <a:latin typeface="Calibri" pitchFamily="34" charset="0"/>
                <a:ea typeface="Calibri" pitchFamily="34" charset="-122"/>
                <a:cs typeface="Calibri" pitchFamily="34" charset="-120"/>
              </a:rPr>
              <a:t>Premium</a:t>
            </a:r>
            <a:endParaRPr lang="en-US" sz="900" dirty="0"/>
          </a:p>
          <a:p>
            <a:pPr marL="0" indent="0" algn="ctr">
              <a:lnSpc>
                <a:spcPct val="90000"/>
              </a:lnSpc>
              <a:buNone/>
            </a:pPr>
            <a:r>
              <a:rPr lang="en-US" sz="900" b="1" dirty="0">
                <a:solidFill>
                  <a:srgbClr val="FFFFFF"/>
                </a:solidFill>
                <a:latin typeface="Calibri" pitchFamily="34" charset="0"/>
                <a:ea typeface="Calibri" pitchFamily="34" charset="-122"/>
                <a:cs typeface="Calibri" pitchFamily="34" charset="-120"/>
              </a:rPr>
              <a:t>ultra-engagés</a:t>
            </a:r>
            <a:endParaRPr lang="en-US" sz="900" dirty="0"/>
          </a:p>
        </p:txBody>
      </p:sp>
      <p:sp>
        <p:nvSpPr>
          <p:cNvPr id="11" name="Shape 9"/>
          <p:cNvSpPr/>
          <p:nvPr/>
        </p:nvSpPr>
        <p:spPr>
          <a:xfrm>
            <a:off x="2442362" y="2464308"/>
            <a:ext cx="1143000" cy="1143000"/>
          </a:xfrm>
          <a:prstGeom prst="ellipse">
            <a:avLst/>
          </a:prstGeom>
          <a:solidFill>
            <a:srgbClr val="059669">
              <a:alpha val="88000"/>
            </a:srgbClr>
          </a:solidFill>
          <a:ln w="19050">
            <a:solidFill>
              <a:srgbClr val="FFFFFF"/>
            </a:solidFill>
            <a:prstDash val="solid"/>
          </a:ln>
          <a:effectLst>
            <a:outerShdw blurRad="63500" dist="25400" dir="5400000" algn="bl" rotWithShape="0">
              <a:srgbClr val="0F172A">
                <a:alpha val="15000"/>
              </a:srgbClr>
            </a:outerShdw>
          </a:effectLst>
        </p:spPr>
        <p:txBody>
          <a:bodyPr/>
          <a:lstStyle/>
          <a:p>
            <a:endParaRPr lang="fr-FR"/>
          </a:p>
        </p:txBody>
      </p:sp>
      <p:sp>
        <p:nvSpPr>
          <p:cNvPr id="12" name="Text 10"/>
          <p:cNvSpPr/>
          <p:nvPr/>
        </p:nvSpPr>
        <p:spPr>
          <a:xfrm>
            <a:off x="2145182" y="2715768"/>
            <a:ext cx="1737360" cy="640080"/>
          </a:xfrm>
          <a:prstGeom prst="rect">
            <a:avLst/>
          </a:prstGeom>
          <a:noFill/>
          <a:ln/>
        </p:spPr>
        <p:txBody>
          <a:bodyPr wrap="square" lIns="0" tIns="0" rIns="0" bIns="0" rtlCol="0" anchor="ctr"/>
          <a:lstStyle/>
          <a:p>
            <a:pPr marL="0" indent="0" algn="ctr">
              <a:lnSpc>
                <a:spcPct val="90000"/>
              </a:lnSpc>
              <a:buNone/>
            </a:pPr>
            <a:r>
              <a:rPr lang="en-US" sz="900" b="1" dirty="0">
                <a:solidFill>
                  <a:srgbClr val="FFFFFF"/>
                </a:solidFill>
                <a:latin typeface="Calibri" pitchFamily="34" charset="0"/>
                <a:ea typeface="Calibri" pitchFamily="34" charset="-122"/>
                <a:cs typeface="Calibri" pitchFamily="34" charset="-120"/>
              </a:rPr>
              <a:t>Fidèles</a:t>
            </a:r>
            <a:endParaRPr lang="en-US" sz="900" dirty="0"/>
          </a:p>
          <a:p>
            <a:pPr marL="0" indent="0" algn="ctr">
              <a:lnSpc>
                <a:spcPct val="90000"/>
              </a:lnSpc>
              <a:buNone/>
            </a:pPr>
            <a:r>
              <a:rPr lang="en-US" sz="900" b="1" dirty="0">
                <a:solidFill>
                  <a:srgbClr val="FFFFFF"/>
                </a:solidFill>
                <a:latin typeface="Calibri" pitchFamily="34" charset="0"/>
                <a:ea typeface="Calibri" pitchFamily="34" charset="-122"/>
                <a:cs typeface="Calibri" pitchFamily="34" charset="-120"/>
              </a:rPr>
              <a:t>forte valeur</a:t>
            </a:r>
            <a:endParaRPr lang="en-US" sz="900" dirty="0"/>
          </a:p>
        </p:txBody>
      </p:sp>
      <p:sp>
        <p:nvSpPr>
          <p:cNvPr id="13" name="Shape 11"/>
          <p:cNvSpPr/>
          <p:nvPr/>
        </p:nvSpPr>
        <p:spPr>
          <a:xfrm>
            <a:off x="5140757" y="4350715"/>
            <a:ext cx="749808" cy="749808"/>
          </a:xfrm>
          <a:prstGeom prst="ellipse">
            <a:avLst/>
          </a:prstGeom>
          <a:solidFill>
            <a:srgbClr val="F59E0B">
              <a:alpha val="88000"/>
            </a:srgbClr>
          </a:solidFill>
          <a:ln w="19050">
            <a:solidFill>
              <a:srgbClr val="FFFFFF"/>
            </a:solidFill>
            <a:prstDash val="solid"/>
          </a:ln>
          <a:effectLst>
            <a:outerShdw blurRad="63500" dist="25400" dir="5400000" algn="bl" rotWithShape="0">
              <a:srgbClr val="0F172A">
                <a:alpha val="15000"/>
              </a:srgbClr>
            </a:outerShdw>
          </a:effectLst>
        </p:spPr>
        <p:txBody>
          <a:bodyPr/>
          <a:lstStyle/>
          <a:p>
            <a:endParaRPr lang="fr-FR"/>
          </a:p>
        </p:txBody>
      </p:sp>
      <p:sp>
        <p:nvSpPr>
          <p:cNvPr id="14" name="Text 12"/>
          <p:cNvSpPr/>
          <p:nvPr/>
        </p:nvSpPr>
        <p:spPr>
          <a:xfrm>
            <a:off x="4646981" y="4405579"/>
            <a:ext cx="1737360" cy="640080"/>
          </a:xfrm>
          <a:prstGeom prst="rect">
            <a:avLst/>
          </a:prstGeom>
          <a:noFill/>
          <a:ln/>
        </p:spPr>
        <p:txBody>
          <a:bodyPr wrap="square" lIns="0" tIns="0" rIns="0" bIns="0" rtlCol="0" anchor="ctr"/>
          <a:lstStyle/>
          <a:p>
            <a:pPr marL="0" indent="0" algn="ctr">
              <a:lnSpc>
                <a:spcPct val="90000"/>
              </a:lnSpc>
              <a:buNone/>
            </a:pPr>
            <a:r>
              <a:rPr lang="en-US" sz="900" b="1" dirty="0">
                <a:solidFill>
                  <a:srgbClr val="FFFFFF"/>
                </a:solidFill>
                <a:latin typeface="Calibri" pitchFamily="34" charset="0"/>
                <a:ea typeface="Calibri" pitchFamily="34" charset="-122"/>
                <a:cs typeface="Calibri" pitchFamily="34" charset="-120"/>
              </a:rPr>
              <a:t>Chasseurs</a:t>
            </a:r>
            <a:endParaRPr lang="en-US" sz="900" dirty="0"/>
          </a:p>
          <a:p>
            <a:pPr marL="0" indent="0" algn="ctr">
              <a:lnSpc>
                <a:spcPct val="90000"/>
              </a:lnSpc>
              <a:buNone/>
            </a:pPr>
            <a:r>
              <a:rPr lang="en-US" sz="900" b="1" dirty="0">
                <a:solidFill>
                  <a:srgbClr val="FFFFFF"/>
                </a:solidFill>
                <a:latin typeface="Calibri" pitchFamily="34" charset="0"/>
                <a:ea typeface="Calibri" pitchFamily="34" charset="-122"/>
                <a:cs typeface="Calibri" pitchFamily="34" charset="-120"/>
              </a:rPr>
              <a:t>de promos</a:t>
            </a:r>
            <a:endParaRPr lang="en-US" sz="900" dirty="0"/>
          </a:p>
        </p:txBody>
      </p:sp>
      <p:sp>
        <p:nvSpPr>
          <p:cNvPr id="15" name="Shape 13"/>
          <p:cNvSpPr/>
          <p:nvPr/>
        </p:nvSpPr>
        <p:spPr>
          <a:xfrm>
            <a:off x="2188159" y="4349801"/>
            <a:ext cx="1234440" cy="1234440"/>
          </a:xfrm>
          <a:prstGeom prst="ellipse">
            <a:avLst/>
          </a:prstGeom>
          <a:solidFill>
            <a:srgbClr val="64748B">
              <a:alpha val="88000"/>
            </a:srgbClr>
          </a:solidFill>
          <a:ln w="19050">
            <a:solidFill>
              <a:srgbClr val="FFFFFF"/>
            </a:solidFill>
            <a:prstDash val="solid"/>
          </a:ln>
          <a:effectLst>
            <a:outerShdw blurRad="63500" dist="25400" dir="5400000" algn="bl" rotWithShape="0">
              <a:srgbClr val="0F172A">
                <a:alpha val="15000"/>
              </a:srgbClr>
            </a:outerShdw>
          </a:effectLst>
        </p:spPr>
        <p:txBody>
          <a:bodyPr/>
          <a:lstStyle/>
          <a:p>
            <a:endParaRPr lang="fr-FR"/>
          </a:p>
        </p:txBody>
      </p:sp>
      <p:sp>
        <p:nvSpPr>
          <p:cNvPr id="16" name="Text 14"/>
          <p:cNvSpPr/>
          <p:nvPr/>
        </p:nvSpPr>
        <p:spPr>
          <a:xfrm>
            <a:off x="1936699" y="4646981"/>
            <a:ext cx="1737360" cy="640080"/>
          </a:xfrm>
          <a:prstGeom prst="rect">
            <a:avLst/>
          </a:prstGeom>
          <a:noFill/>
          <a:ln/>
        </p:spPr>
        <p:txBody>
          <a:bodyPr wrap="square" lIns="0" tIns="0" rIns="0" bIns="0" rtlCol="0" anchor="ctr"/>
          <a:lstStyle/>
          <a:p>
            <a:pPr marL="0" indent="0" algn="ctr">
              <a:lnSpc>
                <a:spcPct val="90000"/>
              </a:lnSpc>
              <a:buNone/>
            </a:pPr>
            <a:r>
              <a:rPr lang="en-US" sz="900" b="1" dirty="0">
                <a:solidFill>
                  <a:srgbClr val="FFFFFF"/>
                </a:solidFill>
                <a:latin typeface="Calibri" pitchFamily="34" charset="0"/>
                <a:ea typeface="Calibri" pitchFamily="34" charset="-122"/>
                <a:cs typeface="Calibri" pitchFamily="34" charset="-120"/>
              </a:rPr>
              <a:t>Dormants</a:t>
            </a:r>
            <a:endParaRPr lang="en-US" sz="900" dirty="0"/>
          </a:p>
        </p:txBody>
      </p:sp>
      <p:sp>
        <p:nvSpPr>
          <p:cNvPr id="17" name="Text 15"/>
          <p:cNvSpPr/>
          <p:nvPr/>
        </p:nvSpPr>
        <p:spPr>
          <a:xfrm>
            <a:off x="7178040" y="1828800"/>
            <a:ext cx="45720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CE QUE RÉVÈLE LA CARTE</a:t>
            </a:r>
            <a:endParaRPr lang="en-US" sz="1100" dirty="0"/>
          </a:p>
        </p:txBody>
      </p:sp>
      <p:sp>
        <p:nvSpPr>
          <p:cNvPr id="18" name="Shape 16"/>
          <p:cNvSpPr/>
          <p:nvPr/>
        </p:nvSpPr>
        <p:spPr>
          <a:xfrm>
            <a:off x="7178040" y="2212848"/>
            <a:ext cx="164592" cy="164592"/>
          </a:xfrm>
          <a:prstGeom prst="ellipse">
            <a:avLst/>
          </a:prstGeom>
          <a:solidFill>
            <a:srgbClr val="7C3AED"/>
          </a:solidFill>
          <a:ln/>
        </p:spPr>
        <p:txBody>
          <a:bodyPr/>
          <a:lstStyle/>
          <a:p>
            <a:endParaRPr lang="fr-FR"/>
          </a:p>
        </p:txBody>
      </p:sp>
      <p:sp>
        <p:nvSpPr>
          <p:cNvPr id="19" name="Text 17"/>
          <p:cNvSpPr/>
          <p:nvPr/>
        </p:nvSpPr>
        <p:spPr>
          <a:xfrm>
            <a:off x="7479792" y="2121408"/>
            <a:ext cx="420624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Valeur ≠ réactivité</a:t>
            </a:r>
            <a:endParaRPr lang="en-US" sz="1400" dirty="0"/>
          </a:p>
        </p:txBody>
      </p:sp>
      <p:sp>
        <p:nvSpPr>
          <p:cNvPr id="20" name="Text 18"/>
          <p:cNvSpPr/>
          <p:nvPr/>
        </p:nvSpPr>
        <p:spPr>
          <a:xfrm>
            <a:off x="7479792" y="2450592"/>
            <a:ext cx="4251960" cy="868680"/>
          </a:xfrm>
          <a:prstGeom prst="rect">
            <a:avLst/>
          </a:prstGeom>
          <a:noFill/>
          <a:ln/>
        </p:spPr>
        <p:txBody>
          <a:bodyPr wrap="square" lIns="0" tIns="0" rIns="0" bIns="0" rtlCol="0" anchor="ctr"/>
          <a:lstStyle/>
          <a:p>
            <a:pPr marL="0" indent="0">
              <a:lnSpc>
                <a:spcPct val="105000"/>
              </a:lnSpc>
              <a:buNone/>
            </a:pPr>
            <a:r>
              <a:rPr lang="en-US" sz="1150" dirty="0">
                <a:solidFill>
                  <a:srgbClr val="64748B"/>
                </a:solidFill>
                <a:latin typeface="Calibri" pitchFamily="34" charset="0"/>
                <a:ea typeface="Calibri" pitchFamily="34" charset="-122"/>
                <a:cs typeface="Calibri" pitchFamily="34" charset="-120"/>
              </a:rPr>
              <a:t>Le Premium (cluster 2) est riche ET réactif ; les Fidèles (cluster 3) sont riches mais peu réactifs aux promos.</a:t>
            </a:r>
            <a:endParaRPr lang="en-US" sz="1150" dirty="0"/>
          </a:p>
        </p:txBody>
      </p:sp>
      <p:sp>
        <p:nvSpPr>
          <p:cNvPr id="21" name="Shape 19"/>
          <p:cNvSpPr/>
          <p:nvPr/>
        </p:nvSpPr>
        <p:spPr>
          <a:xfrm>
            <a:off x="7178040" y="3447288"/>
            <a:ext cx="164592" cy="164592"/>
          </a:xfrm>
          <a:prstGeom prst="ellipse">
            <a:avLst/>
          </a:prstGeom>
          <a:solidFill>
            <a:srgbClr val="059669"/>
          </a:solidFill>
          <a:ln/>
        </p:spPr>
        <p:txBody>
          <a:bodyPr/>
          <a:lstStyle/>
          <a:p>
            <a:endParaRPr lang="fr-FR"/>
          </a:p>
        </p:txBody>
      </p:sp>
      <p:sp>
        <p:nvSpPr>
          <p:cNvPr id="22" name="Text 20"/>
          <p:cNvSpPr/>
          <p:nvPr/>
        </p:nvSpPr>
        <p:spPr>
          <a:xfrm>
            <a:off x="7479792" y="3355848"/>
            <a:ext cx="420624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Ne pas sur-solliciter les Fidèles</a:t>
            </a:r>
            <a:endParaRPr lang="en-US" sz="1400" dirty="0"/>
          </a:p>
        </p:txBody>
      </p:sp>
      <p:sp>
        <p:nvSpPr>
          <p:cNvPr id="23" name="Text 21"/>
          <p:cNvSpPr/>
          <p:nvPr/>
        </p:nvSpPr>
        <p:spPr>
          <a:xfrm>
            <a:off x="7479792" y="3685032"/>
            <a:ext cx="4251960" cy="868680"/>
          </a:xfrm>
          <a:prstGeom prst="rect">
            <a:avLst/>
          </a:prstGeom>
          <a:noFill/>
          <a:ln/>
        </p:spPr>
        <p:txBody>
          <a:bodyPr wrap="square" lIns="0" tIns="0" rIns="0" bIns="0" rtlCol="0" anchor="ctr"/>
          <a:lstStyle/>
          <a:p>
            <a:pPr marL="0" indent="0">
              <a:lnSpc>
                <a:spcPct val="105000"/>
              </a:lnSpc>
              <a:buNone/>
            </a:pPr>
            <a:r>
              <a:rPr lang="en-US" sz="1150" dirty="0">
                <a:solidFill>
                  <a:srgbClr val="64748B"/>
                </a:solidFill>
                <a:latin typeface="Calibri" pitchFamily="34" charset="0"/>
                <a:ea typeface="Calibri" pitchFamily="34" charset="-122"/>
                <a:cs typeface="Calibri" pitchFamily="34" charset="-120"/>
              </a:rPr>
              <a:t>Les bombarder de promotions = ROI faible et risque de lassitude.</a:t>
            </a:r>
            <a:endParaRPr lang="en-US" sz="1150" dirty="0"/>
          </a:p>
        </p:txBody>
      </p:sp>
      <p:sp>
        <p:nvSpPr>
          <p:cNvPr id="24" name="Shape 22"/>
          <p:cNvSpPr/>
          <p:nvPr/>
        </p:nvSpPr>
        <p:spPr>
          <a:xfrm>
            <a:off x="7178040" y="4681728"/>
            <a:ext cx="164592" cy="164592"/>
          </a:xfrm>
          <a:prstGeom prst="ellipse">
            <a:avLst/>
          </a:prstGeom>
          <a:solidFill>
            <a:srgbClr val="F59E0B"/>
          </a:solidFill>
          <a:ln/>
        </p:spPr>
        <p:txBody>
          <a:bodyPr/>
          <a:lstStyle/>
          <a:p>
            <a:endParaRPr lang="fr-FR"/>
          </a:p>
        </p:txBody>
      </p:sp>
      <p:sp>
        <p:nvSpPr>
          <p:cNvPr id="25" name="Text 23"/>
          <p:cNvSpPr/>
          <p:nvPr/>
        </p:nvSpPr>
        <p:spPr>
          <a:xfrm>
            <a:off x="7479792" y="4590288"/>
            <a:ext cx="4206240" cy="32004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Concentrer les promos</a:t>
            </a:r>
            <a:endParaRPr lang="en-US" sz="1400" dirty="0"/>
          </a:p>
        </p:txBody>
      </p:sp>
      <p:sp>
        <p:nvSpPr>
          <p:cNvPr id="26" name="Text 24"/>
          <p:cNvSpPr/>
          <p:nvPr/>
        </p:nvSpPr>
        <p:spPr>
          <a:xfrm>
            <a:off x="7479792" y="4919472"/>
            <a:ext cx="4251960" cy="868680"/>
          </a:xfrm>
          <a:prstGeom prst="rect">
            <a:avLst/>
          </a:prstGeom>
          <a:noFill/>
          <a:ln/>
        </p:spPr>
        <p:txBody>
          <a:bodyPr wrap="square" lIns="0" tIns="0" rIns="0" bIns="0" rtlCol="0" anchor="ctr"/>
          <a:lstStyle/>
          <a:p>
            <a:pPr marL="0" indent="0">
              <a:lnSpc>
                <a:spcPct val="105000"/>
              </a:lnSpc>
              <a:buNone/>
            </a:pPr>
            <a:r>
              <a:rPr lang="en-US" sz="1150" dirty="0">
                <a:solidFill>
                  <a:srgbClr val="64748B"/>
                </a:solidFill>
                <a:latin typeface="Calibri" pitchFamily="34" charset="0"/>
                <a:ea typeface="Calibri" pitchFamily="34" charset="-122"/>
                <a:cs typeface="Calibri" pitchFamily="34" charset="-120"/>
              </a:rPr>
              <a:t>Sur les segments réellement sensibles : Chasseurs de promos et réactivation des Dormants.</a:t>
            </a:r>
            <a:endParaRPr lang="en-US" sz="1150" dirty="0"/>
          </a:p>
        </p:txBody>
      </p:sp>
      <p:sp>
        <p:nvSpPr>
          <p:cNvPr id="27" name="Text 25"/>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28" name="Text 26"/>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60A5FA"/>
                </a:solidFill>
                <a:latin typeface="Calibri" pitchFamily="34" charset="0"/>
                <a:ea typeface="Calibri" pitchFamily="34" charset="-122"/>
                <a:cs typeface="Calibri" pitchFamily="34" charset="-120"/>
              </a:rPr>
              <a:t>LE PRODUIT EN ACTION</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FFFFFF"/>
                </a:solidFill>
                <a:latin typeface="Calibri" pitchFamily="34" charset="0"/>
                <a:ea typeface="Calibri" pitchFamily="34" charset="-122"/>
                <a:cs typeface="Calibri" pitchFamily="34" charset="-120"/>
              </a:rPr>
              <a:t>Du clic à la décision : le parcours d'une transaction en temps réel</a:t>
            </a:r>
            <a:endParaRPr lang="en-US" sz="2500" dirty="0"/>
          </a:p>
        </p:txBody>
      </p:sp>
      <p:sp>
        <p:nvSpPr>
          <p:cNvPr id="4" name="Shape 2"/>
          <p:cNvSpPr/>
          <p:nvPr/>
        </p:nvSpPr>
        <p:spPr>
          <a:xfrm>
            <a:off x="490576" y="2148840"/>
            <a:ext cx="1993392" cy="2194560"/>
          </a:xfrm>
          <a:prstGeom prst="roundRect">
            <a:avLst>
              <a:gd name="adj" fmla="val 3670"/>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5" name="Shape 3"/>
          <p:cNvSpPr/>
          <p:nvPr/>
        </p:nvSpPr>
        <p:spPr>
          <a:xfrm>
            <a:off x="1103224" y="2423160"/>
            <a:ext cx="768096" cy="768096"/>
          </a:xfrm>
          <a:prstGeom prst="ellipse">
            <a:avLst/>
          </a:prstGeom>
          <a:solidFill>
            <a:srgbClr val="2563EB"/>
          </a:solidFill>
          <a:ln/>
          <a:effectLst>
            <a:outerShdw blurRad="76200" dist="25400" dir="5400000" algn="bl" rotWithShape="0">
              <a:srgbClr val="0F172A">
                <a:alpha val="15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1310610" y="2630546"/>
            <a:ext cx="353324" cy="353324"/>
          </a:xfrm>
          <a:prstGeom prst="rect">
            <a:avLst/>
          </a:prstGeom>
        </p:spPr>
      </p:pic>
      <p:sp>
        <p:nvSpPr>
          <p:cNvPr id="7" name="Text 4"/>
          <p:cNvSpPr/>
          <p:nvPr/>
        </p:nvSpPr>
        <p:spPr>
          <a:xfrm>
            <a:off x="490576" y="3291840"/>
            <a:ext cx="1993392" cy="36576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Transaction</a:t>
            </a:r>
            <a:endParaRPr lang="en-US" sz="1450" dirty="0"/>
          </a:p>
        </p:txBody>
      </p:sp>
      <p:sp>
        <p:nvSpPr>
          <p:cNvPr id="8" name="Text 5"/>
          <p:cNvSpPr/>
          <p:nvPr/>
        </p:nvSpPr>
        <p:spPr>
          <a:xfrm>
            <a:off x="582016" y="3657600"/>
            <a:ext cx="1810512" cy="548640"/>
          </a:xfrm>
          <a:prstGeom prst="rect">
            <a:avLst/>
          </a:prstGeom>
          <a:noFill/>
          <a:ln/>
        </p:spPr>
        <p:txBody>
          <a:bodyPr wrap="square" lIns="0" tIns="0" rIns="0" bIns="0" rtlCol="0" anchor="ctr"/>
          <a:lstStyle/>
          <a:p>
            <a:pPr marL="0" indent="0" algn="ctr">
              <a:lnSpc>
                <a:spcPct val="100000"/>
              </a:lnSpc>
              <a:buNone/>
            </a:pPr>
            <a:r>
              <a:rPr lang="en-US" sz="1150" dirty="0">
                <a:solidFill>
                  <a:srgbClr val="E2E8F0"/>
                </a:solidFill>
                <a:latin typeface="Calibri" pitchFamily="34" charset="0"/>
                <a:ea typeface="Calibri" pitchFamily="34" charset="-122"/>
                <a:cs typeface="Calibri" pitchFamily="34" charset="-120"/>
              </a:rPr>
              <a:t>Un paiement arrive</a:t>
            </a:r>
            <a:endParaRPr lang="en-US" sz="1150" dirty="0"/>
          </a:p>
        </p:txBody>
      </p:sp>
      <p:pic>
        <p:nvPicPr>
          <p:cNvPr id="9" name="Image 1" descr="preencoded.png"/>
          <p:cNvPicPr>
            <a:picLocks noChangeAspect="1"/>
          </p:cNvPicPr>
          <p:nvPr/>
        </p:nvPicPr>
        <p:blipFill>
          <a:blip r:embed="rId4"/>
          <a:stretch>
            <a:fillRect/>
          </a:stretch>
        </p:blipFill>
        <p:spPr>
          <a:xfrm>
            <a:off x="2483968" y="3099816"/>
            <a:ext cx="301752" cy="301752"/>
          </a:xfrm>
          <a:prstGeom prst="rect">
            <a:avLst/>
          </a:prstGeom>
        </p:spPr>
      </p:pic>
      <p:sp>
        <p:nvSpPr>
          <p:cNvPr id="10" name="Shape 6"/>
          <p:cNvSpPr/>
          <p:nvPr/>
        </p:nvSpPr>
        <p:spPr>
          <a:xfrm>
            <a:off x="2794864" y="2148840"/>
            <a:ext cx="1993392" cy="2194560"/>
          </a:xfrm>
          <a:prstGeom prst="roundRect">
            <a:avLst>
              <a:gd name="adj" fmla="val 3670"/>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11" name="Shape 7"/>
          <p:cNvSpPr/>
          <p:nvPr/>
        </p:nvSpPr>
        <p:spPr>
          <a:xfrm>
            <a:off x="3407512" y="2423160"/>
            <a:ext cx="768096" cy="768096"/>
          </a:xfrm>
          <a:prstGeom prst="ellipse">
            <a:avLst/>
          </a:prstGeom>
          <a:solidFill>
            <a:srgbClr val="0D9488"/>
          </a:solidFill>
          <a:ln/>
          <a:effectLst>
            <a:outerShdw blurRad="76200" dist="25400" dir="5400000" algn="bl" rotWithShape="0">
              <a:srgbClr val="0F172A">
                <a:alpha val="15000"/>
              </a:srgbClr>
            </a:outerShdw>
          </a:effectLst>
        </p:spPr>
        <p:txBody>
          <a:bodyPr/>
          <a:lstStyle/>
          <a:p>
            <a:endParaRPr lang="fr-FR"/>
          </a:p>
        </p:txBody>
      </p:sp>
      <p:pic>
        <p:nvPicPr>
          <p:cNvPr id="12" name="Image 2" descr="preencoded.png"/>
          <p:cNvPicPr>
            <a:picLocks noChangeAspect="1"/>
          </p:cNvPicPr>
          <p:nvPr/>
        </p:nvPicPr>
        <p:blipFill>
          <a:blip r:embed="rId5"/>
          <a:stretch>
            <a:fillRect/>
          </a:stretch>
        </p:blipFill>
        <p:spPr>
          <a:xfrm>
            <a:off x="3614898" y="2630546"/>
            <a:ext cx="353324" cy="353324"/>
          </a:xfrm>
          <a:prstGeom prst="rect">
            <a:avLst/>
          </a:prstGeom>
        </p:spPr>
      </p:pic>
      <p:sp>
        <p:nvSpPr>
          <p:cNvPr id="13" name="Text 8"/>
          <p:cNvSpPr/>
          <p:nvPr/>
        </p:nvSpPr>
        <p:spPr>
          <a:xfrm>
            <a:off x="2794864" y="3291840"/>
            <a:ext cx="1993392" cy="36576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API FastAPI</a:t>
            </a:r>
            <a:endParaRPr lang="en-US" sz="1450" dirty="0"/>
          </a:p>
        </p:txBody>
      </p:sp>
      <p:sp>
        <p:nvSpPr>
          <p:cNvPr id="14" name="Text 9"/>
          <p:cNvSpPr/>
          <p:nvPr/>
        </p:nvSpPr>
        <p:spPr>
          <a:xfrm>
            <a:off x="2886304" y="3657600"/>
            <a:ext cx="1810512" cy="548640"/>
          </a:xfrm>
          <a:prstGeom prst="rect">
            <a:avLst/>
          </a:prstGeom>
          <a:noFill/>
          <a:ln/>
        </p:spPr>
        <p:txBody>
          <a:bodyPr wrap="square" lIns="0" tIns="0" rIns="0" bIns="0" rtlCol="0" anchor="ctr"/>
          <a:lstStyle/>
          <a:p>
            <a:pPr marL="0" indent="0" algn="ctr">
              <a:lnSpc>
                <a:spcPct val="100000"/>
              </a:lnSpc>
              <a:buNone/>
            </a:pPr>
            <a:r>
              <a:rPr lang="en-US" sz="1150" dirty="0">
                <a:solidFill>
                  <a:srgbClr val="E2E8F0"/>
                </a:solidFill>
                <a:latin typeface="Calibri" pitchFamily="34" charset="0"/>
                <a:ea typeface="Calibri" pitchFamily="34" charset="-122"/>
                <a:cs typeface="Calibri" pitchFamily="34" charset="-120"/>
              </a:rPr>
              <a:t>Requête /predict/fraud</a:t>
            </a:r>
            <a:endParaRPr lang="en-US" sz="1150" dirty="0"/>
          </a:p>
        </p:txBody>
      </p:sp>
      <p:pic>
        <p:nvPicPr>
          <p:cNvPr id="15" name="Image 3" descr="preencoded.png"/>
          <p:cNvPicPr>
            <a:picLocks noChangeAspect="1"/>
          </p:cNvPicPr>
          <p:nvPr/>
        </p:nvPicPr>
        <p:blipFill>
          <a:blip r:embed="rId4"/>
          <a:stretch>
            <a:fillRect/>
          </a:stretch>
        </p:blipFill>
        <p:spPr>
          <a:xfrm>
            <a:off x="4788256" y="3099816"/>
            <a:ext cx="301752" cy="301752"/>
          </a:xfrm>
          <a:prstGeom prst="rect">
            <a:avLst/>
          </a:prstGeom>
        </p:spPr>
      </p:pic>
      <p:sp>
        <p:nvSpPr>
          <p:cNvPr id="16" name="Shape 10"/>
          <p:cNvSpPr/>
          <p:nvPr/>
        </p:nvSpPr>
        <p:spPr>
          <a:xfrm>
            <a:off x="5099152" y="2148840"/>
            <a:ext cx="1993392" cy="2194560"/>
          </a:xfrm>
          <a:prstGeom prst="roundRect">
            <a:avLst>
              <a:gd name="adj" fmla="val 3670"/>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17" name="Shape 11"/>
          <p:cNvSpPr/>
          <p:nvPr/>
        </p:nvSpPr>
        <p:spPr>
          <a:xfrm>
            <a:off x="5711800" y="2423160"/>
            <a:ext cx="768096" cy="768096"/>
          </a:xfrm>
          <a:prstGeom prst="ellipse">
            <a:avLst/>
          </a:prstGeom>
          <a:solidFill>
            <a:srgbClr val="7C3AED"/>
          </a:solidFill>
          <a:ln/>
          <a:effectLst>
            <a:outerShdw blurRad="76200" dist="25400" dir="5400000" algn="bl" rotWithShape="0">
              <a:srgbClr val="0F172A">
                <a:alpha val="15000"/>
              </a:srgbClr>
            </a:outerShdw>
          </a:effectLst>
        </p:spPr>
        <p:txBody>
          <a:bodyPr/>
          <a:lstStyle/>
          <a:p>
            <a:endParaRPr lang="fr-FR"/>
          </a:p>
        </p:txBody>
      </p:sp>
      <p:pic>
        <p:nvPicPr>
          <p:cNvPr id="18" name="Image 4" descr="preencoded.png"/>
          <p:cNvPicPr>
            <a:picLocks noChangeAspect="1"/>
          </p:cNvPicPr>
          <p:nvPr/>
        </p:nvPicPr>
        <p:blipFill>
          <a:blip r:embed="rId6"/>
          <a:stretch>
            <a:fillRect/>
          </a:stretch>
        </p:blipFill>
        <p:spPr>
          <a:xfrm>
            <a:off x="5919186" y="2630546"/>
            <a:ext cx="353324" cy="353324"/>
          </a:xfrm>
          <a:prstGeom prst="rect">
            <a:avLst/>
          </a:prstGeom>
        </p:spPr>
      </p:pic>
      <p:sp>
        <p:nvSpPr>
          <p:cNvPr id="19" name="Text 12"/>
          <p:cNvSpPr/>
          <p:nvPr/>
        </p:nvSpPr>
        <p:spPr>
          <a:xfrm>
            <a:off x="5099152" y="3291840"/>
            <a:ext cx="1993392" cy="36576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Modèle XGBoost</a:t>
            </a:r>
            <a:endParaRPr lang="en-US" sz="1450" dirty="0"/>
          </a:p>
        </p:txBody>
      </p:sp>
      <p:sp>
        <p:nvSpPr>
          <p:cNvPr id="20" name="Text 13"/>
          <p:cNvSpPr/>
          <p:nvPr/>
        </p:nvSpPr>
        <p:spPr>
          <a:xfrm>
            <a:off x="5190592" y="3657600"/>
            <a:ext cx="1810512" cy="548640"/>
          </a:xfrm>
          <a:prstGeom prst="rect">
            <a:avLst/>
          </a:prstGeom>
          <a:noFill/>
          <a:ln/>
        </p:spPr>
        <p:txBody>
          <a:bodyPr wrap="square" lIns="0" tIns="0" rIns="0" bIns="0" rtlCol="0" anchor="ctr"/>
          <a:lstStyle/>
          <a:p>
            <a:pPr marL="0" indent="0" algn="ctr">
              <a:lnSpc>
                <a:spcPct val="100000"/>
              </a:lnSpc>
              <a:buNone/>
            </a:pPr>
            <a:r>
              <a:rPr lang="en-US" sz="1150" dirty="0">
                <a:solidFill>
                  <a:srgbClr val="E2E8F0"/>
                </a:solidFill>
                <a:latin typeface="Calibri" pitchFamily="34" charset="0"/>
                <a:ea typeface="Calibri" pitchFamily="34" charset="-122"/>
                <a:cs typeface="Calibri" pitchFamily="34" charset="-120"/>
              </a:rPr>
              <a:t>Score + seuil 0,67</a:t>
            </a:r>
            <a:endParaRPr lang="en-US" sz="1150" dirty="0"/>
          </a:p>
        </p:txBody>
      </p:sp>
      <p:pic>
        <p:nvPicPr>
          <p:cNvPr id="21" name="Image 5" descr="preencoded.png"/>
          <p:cNvPicPr>
            <a:picLocks noChangeAspect="1"/>
          </p:cNvPicPr>
          <p:nvPr/>
        </p:nvPicPr>
        <p:blipFill>
          <a:blip r:embed="rId4"/>
          <a:stretch>
            <a:fillRect/>
          </a:stretch>
        </p:blipFill>
        <p:spPr>
          <a:xfrm>
            <a:off x="7092544" y="3099816"/>
            <a:ext cx="301752" cy="301752"/>
          </a:xfrm>
          <a:prstGeom prst="rect">
            <a:avLst/>
          </a:prstGeom>
        </p:spPr>
      </p:pic>
      <p:sp>
        <p:nvSpPr>
          <p:cNvPr id="22" name="Shape 14"/>
          <p:cNvSpPr/>
          <p:nvPr/>
        </p:nvSpPr>
        <p:spPr>
          <a:xfrm>
            <a:off x="7403440" y="2148840"/>
            <a:ext cx="1993392" cy="2194560"/>
          </a:xfrm>
          <a:prstGeom prst="roundRect">
            <a:avLst>
              <a:gd name="adj" fmla="val 3670"/>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23" name="Shape 15"/>
          <p:cNvSpPr/>
          <p:nvPr/>
        </p:nvSpPr>
        <p:spPr>
          <a:xfrm>
            <a:off x="8016088" y="2423160"/>
            <a:ext cx="768096" cy="768096"/>
          </a:xfrm>
          <a:prstGeom prst="ellipse">
            <a:avLst/>
          </a:prstGeom>
          <a:solidFill>
            <a:srgbClr val="F59E0B"/>
          </a:solidFill>
          <a:ln/>
          <a:effectLst>
            <a:outerShdw blurRad="76200" dist="25400" dir="5400000" algn="bl" rotWithShape="0">
              <a:srgbClr val="0F172A">
                <a:alpha val="15000"/>
              </a:srgbClr>
            </a:outerShdw>
          </a:effectLst>
        </p:spPr>
        <p:txBody>
          <a:bodyPr/>
          <a:lstStyle/>
          <a:p>
            <a:endParaRPr lang="fr-FR"/>
          </a:p>
        </p:txBody>
      </p:sp>
      <p:pic>
        <p:nvPicPr>
          <p:cNvPr id="24" name="Image 6" descr="preencoded.png"/>
          <p:cNvPicPr>
            <a:picLocks noChangeAspect="1"/>
          </p:cNvPicPr>
          <p:nvPr/>
        </p:nvPicPr>
        <p:blipFill>
          <a:blip r:embed="rId7"/>
          <a:stretch>
            <a:fillRect/>
          </a:stretch>
        </p:blipFill>
        <p:spPr>
          <a:xfrm>
            <a:off x="8223474" y="2630546"/>
            <a:ext cx="353324" cy="353324"/>
          </a:xfrm>
          <a:prstGeom prst="rect">
            <a:avLst/>
          </a:prstGeom>
        </p:spPr>
      </p:pic>
      <p:sp>
        <p:nvSpPr>
          <p:cNvPr id="25" name="Text 16"/>
          <p:cNvSpPr/>
          <p:nvPr/>
        </p:nvSpPr>
        <p:spPr>
          <a:xfrm>
            <a:off x="7403440" y="3291840"/>
            <a:ext cx="1993392" cy="36576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Décision fraude</a:t>
            </a:r>
            <a:endParaRPr lang="en-US" sz="1450" dirty="0"/>
          </a:p>
        </p:txBody>
      </p:sp>
      <p:sp>
        <p:nvSpPr>
          <p:cNvPr id="26" name="Text 17"/>
          <p:cNvSpPr/>
          <p:nvPr/>
        </p:nvSpPr>
        <p:spPr>
          <a:xfrm>
            <a:off x="7494880" y="3657600"/>
            <a:ext cx="1810512" cy="548640"/>
          </a:xfrm>
          <a:prstGeom prst="rect">
            <a:avLst/>
          </a:prstGeom>
          <a:noFill/>
          <a:ln/>
        </p:spPr>
        <p:txBody>
          <a:bodyPr wrap="square" lIns="0" tIns="0" rIns="0" bIns="0" rtlCol="0" anchor="ctr"/>
          <a:lstStyle/>
          <a:p>
            <a:pPr marL="0" indent="0" algn="ctr">
              <a:lnSpc>
                <a:spcPct val="100000"/>
              </a:lnSpc>
              <a:buNone/>
            </a:pPr>
            <a:r>
              <a:rPr lang="en-US" sz="1150" dirty="0">
                <a:solidFill>
                  <a:srgbClr val="E2E8F0"/>
                </a:solidFill>
                <a:latin typeface="Calibri" pitchFamily="34" charset="0"/>
                <a:ea typeface="Calibri" pitchFamily="34" charset="-122"/>
                <a:cs typeface="Calibri" pitchFamily="34" charset="-120"/>
              </a:rPr>
              <a:t>Valider / bloquer</a:t>
            </a:r>
            <a:endParaRPr lang="en-US" sz="1150" dirty="0"/>
          </a:p>
        </p:txBody>
      </p:sp>
      <p:pic>
        <p:nvPicPr>
          <p:cNvPr id="27" name="Image 7" descr="preencoded.png"/>
          <p:cNvPicPr>
            <a:picLocks noChangeAspect="1"/>
          </p:cNvPicPr>
          <p:nvPr/>
        </p:nvPicPr>
        <p:blipFill>
          <a:blip r:embed="rId4"/>
          <a:stretch>
            <a:fillRect/>
          </a:stretch>
        </p:blipFill>
        <p:spPr>
          <a:xfrm>
            <a:off x="9396832" y="3099816"/>
            <a:ext cx="301752" cy="301752"/>
          </a:xfrm>
          <a:prstGeom prst="rect">
            <a:avLst/>
          </a:prstGeom>
        </p:spPr>
      </p:pic>
      <p:sp>
        <p:nvSpPr>
          <p:cNvPr id="28" name="Shape 18"/>
          <p:cNvSpPr/>
          <p:nvPr/>
        </p:nvSpPr>
        <p:spPr>
          <a:xfrm>
            <a:off x="9707728" y="2148840"/>
            <a:ext cx="1993392" cy="2194560"/>
          </a:xfrm>
          <a:prstGeom prst="roundRect">
            <a:avLst>
              <a:gd name="adj" fmla="val 3670"/>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29" name="Shape 19"/>
          <p:cNvSpPr/>
          <p:nvPr/>
        </p:nvSpPr>
        <p:spPr>
          <a:xfrm>
            <a:off x="10320376" y="2423160"/>
            <a:ext cx="768096" cy="768096"/>
          </a:xfrm>
          <a:prstGeom prst="ellipse">
            <a:avLst/>
          </a:prstGeom>
          <a:solidFill>
            <a:srgbClr val="059669"/>
          </a:solidFill>
          <a:ln/>
          <a:effectLst>
            <a:outerShdw blurRad="76200" dist="25400" dir="5400000" algn="bl" rotWithShape="0">
              <a:srgbClr val="0F172A">
                <a:alpha val="15000"/>
              </a:srgbClr>
            </a:outerShdw>
          </a:effectLst>
        </p:spPr>
        <p:txBody>
          <a:bodyPr/>
          <a:lstStyle/>
          <a:p>
            <a:endParaRPr lang="fr-FR"/>
          </a:p>
        </p:txBody>
      </p:sp>
      <p:pic>
        <p:nvPicPr>
          <p:cNvPr id="30" name="Image 8" descr="preencoded.png"/>
          <p:cNvPicPr>
            <a:picLocks noChangeAspect="1"/>
          </p:cNvPicPr>
          <p:nvPr/>
        </p:nvPicPr>
        <p:blipFill>
          <a:blip r:embed="rId8"/>
          <a:stretch>
            <a:fillRect/>
          </a:stretch>
        </p:blipFill>
        <p:spPr>
          <a:xfrm>
            <a:off x="10527762" y="2630546"/>
            <a:ext cx="353324" cy="353324"/>
          </a:xfrm>
          <a:prstGeom prst="rect">
            <a:avLst/>
          </a:prstGeom>
        </p:spPr>
      </p:pic>
      <p:sp>
        <p:nvSpPr>
          <p:cNvPr id="31" name="Text 20"/>
          <p:cNvSpPr/>
          <p:nvPr/>
        </p:nvSpPr>
        <p:spPr>
          <a:xfrm>
            <a:off x="9707728" y="3291840"/>
            <a:ext cx="1993392" cy="36576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Dashboard</a:t>
            </a:r>
            <a:endParaRPr lang="en-US" sz="1450" dirty="0"/>
          </a:p>
        </p:txBody>
      </p:sp>
      <p:sp>
        <p:nvSpPr>
          <p:cNvPr id="32" name="Text 21"/>
          <p:cNvSpPr/>
          <p:nvPr/>
        </p:nvSpPr>
        <p:spPr>
          <a:xfrm>
            <a:off x="9799168" y="3657600"/>
            <a:ext cx="1810512" cy="548640"/>
          </a:xfrm>
          <a:prstGeom prst="rect">
            <a:avLst/>
          </a:prstGeom>
          <a:noFill/>
          <a:ln/>
        </p:spPr>
        <p:txBody>
          <a:bodyPr wrap="square" lIns="0" tIns="0" rIns="0" bIns="0" rtlCol="0" anchor="ctr"/>
          <a:lstStyle/>
          <a:p>
            <a:pPr marL="0" indent="0" algn="ctr">
              <a:lnSpc>
                <a:spcPct val="100000"/>
              </a:lnSpc>
              <a:buNone/>
            </a:pPr>
            <a:r>
              <a:rPr lang="en-US" sz="1150" dirty="0">
                <a:solidFill>
                  <a:srgbClr val="E2E8F0"/>
                </a:solidFill>
                <a:latin typeface="Calibri" pitchFamily="34" charset="0"/>
                <a:ea typeface="Calibri" pitchFamily="34" charset="-122"/>
                <a:cs typeface="Calibri" pitchFamily="34" charset="-120"/>
              </a:rPr>
              <a:t>Suivi &amp; alertes</a:t>
            </a:r>
            <a:endParaRPr lang="en-US" sz="1150" dirty="0"/>
          </a:p>
        </p:txBody>
      </p:sp>
      <p:sp>
        <p:nvSpPr>
          <p:cNvPr id="33" name="Shape 22"/>
          <p:cNvSpPr/>
          <p:nvPr/>
        </p:nvSpPr>
        <p:spPr>
          <a:xfrm>
            <a:off x="1463040" y="4800600"/>
            <a:ext cx="4572000" cy="1005840"/>
          </a:xfrm>
          <a:prstGeom prst="roundRect">
            <a:avLst>
              <a:gd name="adj" fmla="val 6364"/>
            </a:avLst>
          </a:prstGeom>
          <a:solidFill>
            <a:srgbClr val="16233B"/>
          </a:solidFill>
          <a:ln/>
        </p:spPr>
        <p:txBody>
          <a:bodyPr/>
          <a:lstStyle/>
          <a:p>
            <a:endParaRPr lang="fr-FR"/>
          </a:p>
        </p:txBody>
      </p:sp>
      <p:sp>
        <p:nvSpPr>
          <p:cNvPr id="34" name="Text 23"/>
          <p:cNvSpPr/>
          <p:nvPr/>
        </p:nvSpPr>
        <p:spPr>
          <a:xfrm>
            <a:off x="1691640" y="4800600"/>
            <a:ext cx="4206240" cy="1005840"/>
          </a:xfrm>
          <a:prstGeom prst="rect">
            <a:avLst/>
          </a:prstGeom>
          <a:noFill/>
          <a:ln/>
        </p:spPr>
        <p:txBody>
          <a:bodyPr wrap="square" lIns="0" tIns="0" rIns="0" bIns="0" rtlCol="0" anchor="ctr"/>
          <a:lstStyle/>
          <a:p>
            <a:pPr marL="0" indent="0">
              <a:buNone/>
            </a:pPr>
            <a:r>
              <a:rPr lang="en-US" sz="1400" b="1" dirty="0">
                <a:solidFill>
                  <a:srgbClr val="60A5FA"/>
                </a:solidFill>
                <a:latin typeface="Courier New" pitchFamily="34" charset="0"/>
                <a:ea typeface="Courier New" pitchFamily="34" charset="-122"/>
                <a:cs typeface="Courier New" pitchFamily="34" charset="-120"/>
              </a:rPr>
              <a:t>POST /predict/fraud</a:t>
            </a:r>
            <a:endParaRPr lang="en-US" sz="1400" dirty="0"/>
          </a:p>
          <a:p>
            <a:pPr marL="0" indent="0">
              <a:buNone/>
            </a:pPr>
            <a:r>
              <a:rPr lang="en-US" sz="1150" dirty="0">
                <a:solidFill>
                  <a:srgbClr val="E2E8F0"/>
                </a:solidFill>
                <a:latin typeface="Courier New" pitchFamily="34" charset="0"/>
                <a:ea typeface="Courier New" pitchFamily="34" charset="-122"/>
                <a:cs typeface="Courier New" pitchFamily="34" charset="-120"/>
              </a:rPr>
              <a:t>Renvoie un score de risque et une décision</a:t>
            </a:r>
            <a:endParaRPr lang="en-US" sz="1400" dirty="0"/>
          </a:p>
        </p:txBody>
      </p:sp>
      <p:sp>
        <p:nvSpPr>
          <p:cNvPr id="35" name="Shape 24"/>
          <p:cNvSpPr/>
          <p:nvPr/>
        </p:nvSpPr>
        <p:spPr>
          <a:xfrm>
            <a:off x="6172200" y="4800600"/>
            <a:ext cx="4572000" cy="1005840"/>
          </a:xfrm>
          <a:prstGeom prst="roundRect">
            <a:avLst>
              <a:gd name="adj" fmla="val 6364"/>
            </a:avLst>
          </a:prstGeom>
          <a:solidFill>
            <a:srgbClr val="16233B"/>
          </a:solidFill>
          <a:ln/>
        </p:spPr>
        <p:txBody>
          <a:bodyPr/>
          <a:lstStyle/>
          <a:p>
            <a:endParaRPr lang="fr-FR"/>
          </a:p>
        </p:txBody>
      </p:sp>
      <p:sp>
        <p:nvSpPr>
          <p:cNvPr id="36" name="Text 25"/>
          <p:cNvSpPr/>
          <p:nvPr/>
        </p:nvSpPr>
        <p:spPr>
          <a:xfrm>
            <a:off x="6400800" y="4800600"/>
            <a:ext cx="4206240" cy="1005840"/>
          </a:xfrm>
          <a:prstGeom prst="rect">
            <a:avLst/>
          </a:prstGeom>
          <a:noFill/>
          <a:ln/>
        </p:spPr>
        <p:txBody>
          <a:bodyPr wrap="square" lIns="0" tIns="0" rIns="0" bIns="0" rtlCol="0" anchor="ctr"/>
          <a:lstStyle/>
          <a:p>
            <a:pPr marL="0" indent="0">
              <a:buNone/>
            </a:pPr>
            <a:r>
              <a:rPr lang="en-US" sz="1400" b="1" dirty="0">
                <a:solidFill>
                  <a:srgbClr val="60A5FA"/>
                </a:solidFill>
                <a:latin typeface="Courier New" pitchFamily="34" charset="0"/>
                <a:ea typeface="Courier New" pitchFamily="34" charset="-122"/>
                <a:cs typeface="Courier New" pitchFamily="34" charset="-120"/>
              </a:rPr>
              <a:t>POST /predict/segment</a:t>
            </a:r>
            <a:endParaRPr lang="en-US" sz="1400" dirty="0"/>
          </a:p>
          <a:p>
            <a:pPr marL="0" indent="0">
              <a:buNone/>
            </a:pPr>
            <a:r>
              <a:rPr lang="en-US" sz="1150" dirty="0">
                <a:solidFill>
                  <a:srgbClr val="E2E8F0"/>
                </a:solidFill>
                <a:latin typeface="Courier New" pitchFamily="34" charset="0"/>
                <a:ea typeface="Courier New" pitchFamily="34" charset="-122"/>
                <a:cs typeface="Courier New" pitchFamily="34" charset="-120"/>
              </a:rPr>
              <a:t>Renvoie le segment client et l'action CRM</a:t>
            </a:r>
            <a:endParaRPr lang="en-US" sz="1400" dirty="0"/>
          </a:p>
        </p:txBody>
      </p:sp>
      <p:sp>
        <p:nvSpPr>
          <p:cNvPr id="37" name="Text 26"/>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38" name="Text 27"/>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INDUSTRIALISATION</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Une architecture pensée pour la production, pas pour le notebook</a:t>
            </a:r>
            <a:endParaRPr lang="en-US" sz="2500" dirty="0"/>
          </a:p>
        </p:txBody>
      </p:sp>
      <p:sp>
        <p:nvSpPr>
          <p:cNvPr id="4" name="Shape 2"/>
          <p:cNvSpPr/>
          <p:nvPr/>
        </p:nvSpPr>
        <p:spPr>
          <a:xfrm>
            <a:off x="640080" y="1627632"/>
            <a:ext cx="6583680" cy="768096"/>
          </a:xfrm>
          <a:prstGeom prst="roundRect">
            <a:avLst>
              <a:gd name="adj" fmla="val 714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5" name="Shape 3"/>
          <p:cNvSpPr/>
          <p:nvPr/>
        </p:nvSpPr>
        <p:spPr>
          <a:xfrm>
            <a:off x="822960" y="1746504"/>
            <a:ext cx="530352" cy="530352"/>
          </a:xfrm>
          <a:prstGeom prst="ellipse">
            <a:avLst/>
          </a:prstGeom>
          <a:solidFill>
            <a:srgbClr val="2563EB"/>
          </a:solidFill>
          <a:ln/>
          <a:effectLst>
            <a:outerShdw blurRad="76200" dist="25400" dir="5400000" algn="bl" rotWithShape="0">
              <a:srgbClr val="0F172A">
                <a:alpha val="15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966155" y="1889699"/>
            <a:ext cx="243962" cy="243962"/>
          </a:xfrm>
          <a:prstGeom prst="rect">
            <a:avLst/>
          </a:prstGeom>
        </p:spPr>
      </p:pic>
      <p:sp>
        <p:nvSpPr>
          <p:cNvPr id="7" name="Text 4"/>
          <p:cNvSpPr/>
          <p:nvPr/>
        </p:nvSpPr>
        <p:spPr>
          <a:xfrm>
            <a:off x="1554480" y="1719072"/>
            <a:ext cx="2194560" cy="585216"/>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Client</a:t>
            </a:r>
            <a:endParaRPr lang="en-US" sz="1500" dirty="0"/>
          </a:p>
        </p:txBody>
      </p:sp>
      <p:sp>
        <p:nvSpPr>
          <p:cNvPr id="8" name="Text 5"/>
          <p:cNvSpPr/>
          <p:nvPr/>
        </p:nvSpPr>
        <p:spPr>
          <a:xfrm>
            <a:off x="3657600" y="1719072"/>
            <a:ext cx="3429000" cy="585216"/>
          </a:xfrm>
          <a:prstGeom prst="rect">
            <a:avLst/>
          </a:prstGeom>
          <a:noFill/>
          <a:ln/>
        </p:spPr>
        <p:txBody>
          <a:bodyPr wrap="square" lIns="0" tIns="0" rIns="0" bIns="0" rtlCol="0" anchor="ctr"/>
          <a:lstStyle/>
          <a:p>
            <a:pPr marL="0" indent="0">
              <a:lnSpc>
                <a:spcPct val="98000"/>
              </a:lnSpc>
              <a:buNone/>
            </a:pPr>
            <a:r>
              <a:rPr lang="en-US" sz="1150" dirty="0">
                <a:solidFill>
                  <a:srgbClr val="64748B"/>
                </a:solidFill>
                <a:latin typeface="Calibri" pitchFamily="34" charset="0"/>
                <a:ea typeface="Calibri" pitchFamily="34" charset="-122"/>
                <a:cs typeface="Calibri" pitchFamily="34" charset="-120"/>
              </a:rPr>
              <a:t>Système appelant / interface utilisateur</a:t>
            </a:r>
            <a:endParaRPr lang="en-US" sz="1150" dirty="0"/>
          </a:p>
        </p:txBody>
      </p:sp>
      <p:sp>
        <p:nvSpPr>
          <p:cNvPr id="9" name="Text 6"/>
          <p:cNvSpPr/>
          <p:nvPr/>
        </p:nvSpPr>
        <p:spPr>
          <a:xfrm>
            <a:off x="3749040" y="2377440"/>
            <a:ext cx="365760" cy="237744"/>
          </a:xfrm>
          <a:prstGeom prst="rect">
            <a:avLst/>
          </a:prstGeom>
          <a:noFill/>
          <a:ln/>
        </p:spPr>
        <p:txBody>
          <a:bodyPr wrap="square" lIns="0" tIns="0" rIns="0" bIns="0" rtlCol="0" anchor="ctr"/>
          <a:lstStyle/>
          <a:p>
            <a:pPr marL="0" indent="0" algn="ctr">
              <a:buNone/>
            </a:pPr>
            <a:r>
              <a:rPr lang="en-US" sz="1100" dirty="0">
                <a:solidFill>
                  <a:srgbClr val="60A5FA"/>
                </a:solidFill>
                <a:latin typeface="Calibri" pitchFamily="34" charset="0"/>
                <a:ea typeface="Calibri" pitchFamily="34" charset="-122"/>
                <a:cs typeface="Calibri" pitchFamily="34" charset="-120"/>
              </a:rPr>
              <a:t>▼</a:t>
            </a:r>
            <a:endParaRPr lang="en-US" sz="1100" dirty="0"/>
          </a:p>
        </p:txBody>
      </p:sp>
      <p:sp>
        <p:nvSpPr>
          <p:cNvPr id="10" name="Shape 7"/>
          <p:cNvSpPr/>
          <p:nvPr/>
        </p:nvSpPr>
        <p:spPr>
          <a:xfrm>
            <a:off x="640080" y="2596896"/>
            <a:ext cx="6583680" cy="768096"/>
          </a:xfrm>
          <a:prstGeom prst="roundRect">
            <a:avLst>
              <a:gd name="adj" fmla="val 714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11" name="Shape 8"/>
          <p:cNvSpPr/>
          <p:nvPr/>
        </p:nvSpPr>
        <p:spPr>
          <a:xfrm>
            <a:off x="822960" y="2715768"/>
            <a:ext cx="530352" cy="530352"/>
          </a:xfrm>
          <a:prstGeom prst="ellipse">
            <a:avLst/>
          </a:prstGeom>
          <a:solidFill>
            <a:srgbClr val="0D9488"/>
          </a:solidFill>
          <a:ln/>
          <a:effectLst>
            <a:outerShdw blurRad="76200" dist="25400" dir="5400000" algn="bl" rotWithShape="0">
              <a:srgbClr val="0F172A">
                <a:alpha val="15000"/>
              </a:srgbClr>
            </a:outerShdw>
          </a:effectLst>
        </p:spPr>
        <p:txBody>
          <a:bodyPr/>
          <a:lstStyle/>
          <a:p>
            <a:endParaRPr lang="fr-FR"/>
          </a:p>
        </p:txBody>
      </p:sp>
      <p:pic>
        <p:nvPicPr>
          <p:cNvPr id="12" name="Image 1" descr="preencoded.png"/>
          <p:cNvPicPr>
            <a:picLocks noChangeAspect="1"/>
          </p:cNvPicPr>
          <p:nvPr/>
        </p:nvPicPr>
        <p:blipFill>
          <a:blip r:embed="rId4"/>
          <a:stretch>
            <a:fillRect/>
          </a:stretch>
        </p:blipFill>
        <p:spPr>
          <a:xfrm>
            <a:off x="966155" y="2858963"/>
            <a:ext cx="243962" cy="243962"/>
          </a:xfrm>
          <a:prstGeom prst="rect">
            <a:avLst/>
          </a:prstGeom>
        </p:spPr>
      </p:pic>
      <p:sp>
        <p:nvSpPr>
          <p:cNvPr id="13" name="Text 9"/>
          <p:cNvSpPr/>
          <p:nvPr/>
        </p:nvSpPr>
        <p:spPr>
          <a:xfrm>
            <a:off x="1554480" y="2688336"/>
            <a:ext cx="2194560" cy="585216"/>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API FastAPI</a:t>
            </a:r>
            <a:endParaRPr lang="en-US" sz="1500" dirty="0"/>
          </a:p>
        </p:txBody>
      </p:sp>
      <p:sp>
        <p:nvSpPr>
          <p:cNvPr id="14" name="Text 10"/>
          <p:cNvSpPr/>
          <p:nvPr/>
        </p:nvSpPr>
        <p:spPr>
          <a:xfrm>
            <a:off x="3657600" y="2688336"/>
            <a:ext cx="3429000" cy="585216"/>
          </a:xfrm>
          <a:prstGeom prst="rect">
            <a:avLst/>
          </a:prstGeom>
          <a:noFill/>
          <a:ln/>
        </p:spPr>
        <p:txBody>
          <a:bodyPr wrap="square" lIns="0" tIns="0" rIns="0" bIns="0" rtlCol="0" anchor="ctr"/>
          <a:lstStyle/>
          <a:p>
            <a:pPr marL="0" indent="0">
              <a:lnSpc>
                <a:spcPct val="98000"/>
              </a:lnSpc>
              <a:buNone/>
            </a:pPr>
            <a:r>
              <a:rPr lang="en-US" sz="1150" dirty="0">
                <a:solidFill>
                  <a:srgbClr val="64748B"/>
                </a:solidFill>
                <a:latin typeface="Calibri" pitchFamily="34" charset="0"/>
                <a:ea typeface="Calibri" pitchFamily="34" charset="-122"/>
                <a:cs typeface="Calibri" pitchFamily="34" charset="-120"/>
              </a:rPr>
              <a:t>Endpoints /predict/fraud et /predict/segment, validation des entrées</a:t>
            </a:r>
            <a:endParaRPr lang="en-US" sz="1150" dirty="0"/>
          </a:p>
        </p:txBody>
      </p:sp>
      <p:sp>
        <p:nvSpPr>
          <p:cNvPr id="15" name="Text 11"/>
          <p:cNvSpPr/>
          <p:nvPr/>
        </p:nvSpPr>
        <p:spPr>
          <a:xfrm>
            <a:off x="3749040" y="3346704"/>
            <a:ext cx="365760" cy="237744"/>
          </a:xfrm>
          <a:prstGeom prst="rect">
            <a:avLst/>
          </a:prstGeom>
          <a:noFill/>
          <a:ln/>
        </p:spPr>
        <p:txBody>
          <a:bodyPr wrap="square" lIns="0" tIns="0" rIns="0" bIns="0" rtlCol="0" anchor="ctr"/>
          <a:lstStyle/>
          <a:p>
            <a:pPr marL="0" indent="0" algn="ctr">
              <a:buNone/>
            </a:pPr>
            <a:r>
              <a:rPr lang="en-US" sz="1100" dirty="0">
                <a:solidFill>
                  <a:srgbClr val="60A5FA"/>
                </a:solidFill>
                <a:latin typeface="Calibri" pitchFamily="34" charset="0"/>
                <a:ea typeface="Calibri" pitchFamily="34" charset="-122"/>
                <a:cs typeface="Calibri" pitchFamily="34" charset="-120"/>
              </a:rPr>
              <a:t>▼</a:t>
            </a:r>
            <a:endParaRPr lang="en-US" sz="1100" dirty="0"/>
          </a:p>
        </p:txBody>
      </p:sp>
      <p:sp>
        <p:nvSpPr>
          <p:cNvPr id="16" name="Shape 12"/>
          <p:cNvSpPr/>
          <p:nvPr/>
        </p:nvSpPr>
        <p:spPr>
          <a:xfrm>
            <a:off x="640080" y="3566160"/>
            <a:ext cx="6583680" cy="768096"/>
          </a:xfrm>
          <a:prstGeom prst="roundRect">
            <a:avLst>
              <a:gd name="adj" fmla="val 714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17" name="Shape 13"/>
          <p:cNvSpPr/>
          <p:nvPr/>
        </p:nvSpPr>
        <p:spPr>
          <a:xfrm>
            <a:off x="822960" y="3685032"/>
            <a:ext cx="530352" cy="530352"/>
          </a:xfrm>
          <a:prstGeom prst="ellipse">
            <a:avLst/>
          </a:prstGeom>
          <a:solidFill>
            <a:srgbClr val="7C3AED"/>
          </a:solidFill>
          <a:ln/>
          <a:effectLst>
            <a:outerShdw blurRad="76200" dist="25400" dir="5400000" algn="bl" rotWithShape="0">
              <a:srgbClr val="0F172A">
                <a:alpha val="15000"/>
              </a:srgbClr>
            </a:outerShdw>
          </a:effectLst>
        </p:spPr>
        <p:txBody>
          <a:bodyPr/>
          <a:lstStyle/>
          <a:p>
            <a:endParaRPr lang="fr-FR"/>
          </a:p>
        </p:txBody>
      </p:sp>
      <p:pic>
        <p:nvPicPr>
          <p:cNvPr id="18" name="Image 2" descr="preencoded.png"/>
          <p:cNvPicPr>
            <a:picLocks noChangeAspect="1"/>
          </p:cNvPicPr>
          <p:nvPr/>
        </p:nvPicPr>
        <p:blipFill>
          <a:blip r:embed="rId5"/>
          <a:stretch>
            <a:fillRect/>
          </a:stretch>
        </p:blipFill>
        <p:spPr>
          <a:xfrm>
            <a:off x="966155" y="3828227"/>
            <a:ext cx="243962" cy="243962"/>
          </a:xfrm>
          <a:prstGeom prst="rect">
            <a:avLst/>
          </a:prstGeom>
        </p:spPr>
      </p:pic>
      <p:sp>
        <p:nvSpPr>
          <p:cNvPr id="19" name="Text 14"/>
          <p:cNvSpPr/>
          <p:nvPr/>
        </p:nvSpPr>
        <p:spPr>
          <a:xfrm>
            <a:off x="1554480" y="3657600"/>
            <a:ext cx="2194560" cy="585216"/>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Modèles (joblib)</a:t>
            </a:r>
            <a:endParaRPr lang="en-US" sz="1500" dirty="0"/>
          </a:p>
        </p:txBody>
      </p:sp>
      <p:sp>
        <p:nvSpPr>
          <p:cNvPr id="20" name="Text 15"/>
          <p:cNvSpPr/>
          <p:nvPr/>
        </p:nvSpPr>
        <p:spPr>
          <a:xfrm>
            <a:off x="3657600" y="3657600"/>
            <a:ext cx="3429000" cy="585216"/>
          </a:xfrm>
          <a:prstGeom prst="rect">
            <a:avLst/>
          </a:prstGeom>
          <a:noFill/>
          <a:ln/>
        </p:spPr>
        <p:txBody>
          <a:bodyPr wrap="square" lIns="0" tIns="0" rIns="0" bIns="0" rtlCol="0" anchor="ctr"/>
          <a:lstStyle/>
          <a:p>
            <a:pPr marL="0" indent="0">
              <a:lnSpc>
                <a:spcPct val="98000"/>
              </a:lnSpc>
              <a:buNone/>
            </a:pPr>
            <a:r>
              <a:rPr lang="en-US" sz="1150" dirty="0">
                <a:solidFill>
                  <a:srgbClr val="64748B"/>
                </a:solidFill>
                <a:latin typeface="Calibri" pitchFamily="34" charset="0"/>
                <a:ea typeface="Calibri" pitchFamily="34" charset="-122"/>
                <a:cs typeface="Calibri" pitchFamily="34" charset="-120"/>
              </a:rPr>
              <a:t>XGBoost (fraude) + GMM (segments), chargés depuis src/models</a:t>
            </a:r>
            <a:endParaRPr lang="en-US" sz="1150" dirty="0"/>
          </a:p>
        </p:txBody>
      </p:sp>
      <p:sp>
        <p:nvSpPr>
          <p:cNvPr id="21" name="Text 16"/>
          <p:cNvSpPr/>
          <p:nvPr/>
        </p:nvSpPr>
        <p:spPr>
          <a:xfrm>
            <a:off x="3749040" y="4315968"/>
            <a:ext cx="365760" cy="237744"/>
          </a:xfrm>
          <a:prstGeom prst="rect">
            <a:avLst/>
          </a:prstGeom>
          <a:noFill/>
          <a:ln/>
        </p:spPr>
        <p:txBody>
          <a:bodyPr wrap="square" lIns="0" tIns="0" rIns="0" bIns="0" rtlCol="0" anchor="ctr"/>
          <a:lstStyle/>
          <a:p>
            <a:pPr marL="0" indent="0" algn="ctr">
              <a:buNone/>
            </a:pPr>
            <a:r>
              <a:rPr lang="en-US" sz="1100" dirty="0">
                <a:solidFill>
                  <a:srgbClr val="60A5FA"/>
                </a:solidFill>
                <a:latin typeface="Calibri" pitchFamily="34" charset="0"/>
                <a:ea typeface="Calibri" pitchFamily="34" charset="-122"/>
                <a:cs typeface="Calibri" pitchFamily="34" charset="-120"/>
              </a:rPr>
              <a:t>▼</a:t>
            </a:r>
            <a:endParaRPr lang="en-US" sz="1100" dirty="0"/>
          </a:p>
        </p:txBody>
      </p:sp>
      <p:sp>
        <p:nvSpPr>
          <p:cNvPr id="22" name="Shape 17"/>
          <p:cNvSpPr/>
          <p:nvPr/>
        </p:nvSpPr>
        <p:spPr>
          <a:xfrm>
            <a:off x="640080" y="4535424"/>
            <a:ext cx="6583680" cy="768096"/>
          </a:xfrm>
          <a:prstGeom prst="roundRect">
            <a:avLst>
              <a:gd name="adj" fmla="val 714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23" name="Shape 18"/>
          <p:cNvSpPr/>
          <p:nvPr/>
        </p:nvSpPr>
        <p:spPr>
          <a:xfrm>
            <a:off x="822960" y="4654296"/>
            <a:ext cx="530352" cy="530352"/>
          </a:xfrm>
          <a:prstGeom prst="ellipse">
            <a:avLst/>
          </a:prstGeom>
          <a:solidFill>
            <a:srgbClr val="059669"/>
          </a:solidFill>
          <a:ln/>
          <a:effectLst>
            <a:outerShdw blurRad="76200" dist="25400" dir="5400000" algn="bl" rotWithShape="0">
              <a:srgbClr val="0F172A">
                <a:alpha val="15000"/>
              </a:srgbClr>
            </a:outerShdw>
          </a:effectLst>
        </p:spPr>
        <p:txBody>
          <a:bodyPr/>
          <a:lstStyle/>
          <a:p>
            <a:endParaRPr lang="fr-FR"/>
          </a:p>
        </p:txBody>
      </p:sp>
      <p:pic>
        <p:nvPicPr>
          <p:cNvPr id="24" name="Image 3" descr="preencoded.png"/>
          <p:cNvPicPr>
            <a:picLocks noChangeAspect="1"/>
          </p:cNvPicPr>
          <p:nvPr/>
        </p:nvPicPr>
        <p:blipFill>
          <a:blip r:embed="rId6"/>
          <a:stretch>
            <a:fillRect/>
          </a:stretch>
        </p:blipFill>
        <p:spPr>
          <a:xfrm>
            <a:off x="966155" y="4797491"/>
            <a:ext cx="243962" cy="243962"/>
          </a:xfrm>
          <a:prstGeom prst="rect">
            <a:avLst/>
          </a:prstGeom>
        </p:spPr>
      </p:pic>
      <p:sp>
        <p:nvSpPr>
          <p:cNvPr id="25" name="Text 19"/>
          <p:cNvSpPr/>
          <p:nvPr/>
        </p:nvSpPr>
        <p:spPr>
          <a:xfrm>
            <a:off x="1554480" y="4626864"/>
            <a:ext cx="2194560" cy="585216"/>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Dashboard Streamlit</a:t>
            </a:r>
            <a:endParaRPr lang="en-US" sz="1500" dirty="0"/>
          </a:p>
        </p:txBody>
      </p:sp>
      <p:sp>
        <p:nvSpPr>
          <p:cNvPr id="26" name="Text 20"/>
          <p:cNvSpPr/>
          <p:nvPr/>
        </p:nvSpPr>
        <p:spPr>
          <a:xfrm>
            <a:off x="3657600" y="4626864"/>
            <a:ext cx="3429000" cy="585216"/>
          </a:xfrm>
          <a:prstGeom prst="rect">
            <a:avLst/>
          </a:prstGeom>
          <a:noFill/>
          <a:ln/>
        </p:spPr>
        <p:txBody>
          <a:bodyPr wrap="square" lIns="0" tIns="0" rIns="0" bIns="0" rtlCol="0" anchor="ctr"/>
          <a:lstStyle/>
          <a:p>
            <a:pPr marL="0" indent="0">
              <a:lnSpc>
                <a:spcPct val="98000"/>
              </a:lnSpc>
              <a:buNone/>
            </a:pPr>
            <a:r>
              <a:rPr lang="en-US" sz="1150" dirty="0">
                <a:solidFill>
                  <a:srgbClr val="64748B"/>
                </a:solidFill>
                <a:latin typeface="Calibri" pitchFamily="34" charset="0"/>
                <a:ea typeface="Calibri" pitchFamily="34" charset="-122"/>
                <a:cs typeface="Calibri" pitchFamily="34" charset="-120"/>
              </a:rPr>
              <a:t>Multi-pages : exploration, prédiction, suivi</a:t>
            </a:r>
            <a:endParaRPr lang="en-US" sz="1150" dirty="0"/>
          </a:p>
        </p:txBody>
      </p:sp>
      <p:sp>
        <p:nvSpPr>
          <p:cNvPr id="27" name="Text 21"/>
          <p:cNvSpPr/>
          <p:nvPr/>
        </p:nvSpPr>
        <p:spPr>
          <a:xfrm>
            <a:off x="3749040" y="5285232"/>
            <a:ext cx="365760" cy="237744"/>
          </a:xfrm>
          <a:prstGeom prst="rect">
            <a:avLst/>
          </a:prstGeom>
          <a:noFill/>
          <a:ln/>
        </p:spPr>
        <p:txBody>
          <a:bodyPr wrap="square" lIns="0" tIns="0" rIns="0" bIns="0" rtlCol="0" anchor="ctr"/>
          <a:lstStyle/>
          <a:p>
            <a:pPr marL="0" indent="0" algn="ctr">
              <a:buNone/>
            </a:pPr>
            <a:r>
              <a:rPr lang="en-US" sz="1100" dirty="0">
                <a:solidFill>
                  <a:srgbClr val="60A5FA"/>
                </a:solidFill>
                <a:latin typeface="Calibri" pitchFamily="34" charset="0"/>
                <a:ea typeface="Calibri" pitchFamily="34" charset="-122"/>
                <a:cs typeface="Calibri" pitchFamily="34" charset="-120"/>
              </a:rPr>
              <a:t>▼</a:t>
            </a:r>
            <a:endParaRPr lang="en-US" sz="1100" dirty="0"/>
          </a:p>
        </p:txBody>
      </p:sp>
      <p:sp>
        <p:nvSpPr>
          <p:cNvPr id="28" name="Shape 22"/>
          <p:cNvSpPr/>
          <p:nvPr/>
        </p:nvSpPr>
        <p:spPr>
          <a:xfrm>
            <a:off x="640080" y="5504688"/>
            <a:ext cx="6583680" cy="768096"/>
          </a:xfrm>
          <a:prstGeom prst="roundRect">
            <a:avLst>
              <a:gd name="adj" fmla="val 7143"/>
            </a:avLst>
          </a:prstGeom>
          <a:solidFill>
            <a:srgbClr val="F1F5F9"/>
          </a:solidFill>
          <a:ln/>
          <a:effectLst>
            <a:outerShdw blurRad="63500" dist="25400" dir="5400000" algn="bl" rotWithShape="0">
              <a:srgbClr val="0F172A">
                <a:alpha val="10000"/>
              </a:srgbClr>
            </a:outerShdw>
          </a:effectLst>
        </p:spPr>
        <p:txBody>
          <a:bodyPr/>
          <a:lstStyle/>
          <a:p>
            <a:endParaRPr lang="fr-FR"/>
          </a:p>
        </p:txBody>
      </p:sp>
      <p:sp>
        <p:nvSpPr>
          <p:cNvPr id="29" name="Shape 23"/>
          <p:cNvSpPr/>
          <p:nvPr/>
        </p:nvSpPr>
        <p:spPr>
          <a:xfrm>
            <a:off x="822960" y="5623560"/>
            <a:ext cx="530352" cy="530352"/>
          </a:xfrm>
          <a:prstGeom prst="ellipse">
            <a:avLst/>
          </a:prstGeom>
          <a:solidFill>
            <a:srgbClr val="F59E0B"/>
          </a:solidFill>
          <a:ln/>
          <a:effectLst>
            <a:outerShdw blurRad="76200" dist="25400" dir="5400000" algn="bl" rotWithShape="0">
              <a:srgbClr val="0F172A">
                <a:alpha val="15000"/>
              </a:srgbClr>
            </a:outerShdw>
          </a:effectLst>
        </p:spPr>
        <p:txBody>
          <a:bodyPr/>
          <a:lstStyle/>
          <a:p>
            <a:endParaRPr lang="fr-FR"/>
          </a:p>
        </p:txBody>
      </p:sp>
      <p:pic>
        <p:nvPicPr>
          <p:cNvPr id="30" name="Image 4" descr="preencoded.png"/>
          <p:cNvPicPr>
            <a:picLocks noChangeAspect="1"/>
          </p:cNvPicPr>
          <p:nvPr/>
        </p:nvPicPr>
        <p:blipFill>
          <a:blip r:embed="rId7"/>
          <a:stretch>
            <a:fillRect/>
          </a:stretch>
        </p:blipFill>
        <p:spPr>
          <a:xfrm>
            <a:off x="966155" y="5766755"/>
            <a:ext cx="243962" cy="243962"/>
          </a:xfrm>
          <a:prstGeom prst="rect">
            <a:avLst/>
          </a:prstGeom>
        </p:spPr>
      </p:pic>
      <p:sp>
        <p:nvSpPr>
          <p:cNvPr id="31" name="Text 24"/>
          <p:cNvSpPr/>
          <p:nvPr/>
        </p:nvSpPr>
        <p:spPr>
          <a:xfrm>
            <a:off x="1554480" y="5596128"/>
            <a:ext cx="2194560" cy="585216"/>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Monitoring</a:t>
            </a:r>
            <a:endParaRPr lang="en-US" sz="1500" dirty="0"/>
          </a:p>
        </p:txBody>
      </p:sp>
      <p:sp>
        <p:nvSpPr>
          <p:cNvPr id="32" name="Text 25"/>
          <p:cNvSpPr/>
          <p:nvPr/>
        </p:nvSpPr>
        <p:spPr>
          <a:xfrm>
            <a:off x="3657600" y="5596128"/>
            <a:ext cx="3429000" cy="585216"/>
          </a:xfrm>
          <a:prstGeom prst="rect">
            <a:avLst/>
          </a:prstGeom>
          <a:noFill/>
          <a:ln/>
        </p:spPr>
        <p:txBody>
          <a:bodyPr wrap="square" lIns="0" tIns="0" rIns="0" bIns="0" rtlCol="0" anchor="ctr"/>
          <a:lstStyle/>
          <a:p>
            <a:pPr marL="0" indent="0">
              <a:lnSpc>
                <a:spcPct val="98000"/>
              </a:lnSpc>
              <a:buNone/>
            </a:pPr>
            <a:r>
              <a:rPr lang="en-US" sz="1150" dirty="0">
                <a:solidFill>
                  <a:srgbClr val="64748B"/>
                </a:solidFill>
                <a:latin typeface="Calibri" pitchFamily="34" charset="0"/>
                <a:ea typeface="Calibri" pitchFamily="34" charset="-122"/>
                <a:cs typeface="Calibri" pitchFamily="34" charset="-120"/>
              </a:rPr>
              <a:t>Suivi des performances, détection de dérive, alertes</a:t>
            </a:r>
            <a:endParaRPr lang="en-US" sz="1150" dirty="0"/>
          </a:p>
        </p:txBody>
      </p:sp>
      <p:sp>
        <p:nvSpPr>
          <p:cNvPr id="33" name="Shape 26"/>
          <p:cNvSpPr/>
          <p:nvPr/>
        </p:nvSpPr>
        <p:spPr>
          <a:xfrm>
            <a:off x="7498080" y="1627632"/>
            <a:ext cx="4206240" cy="4626864"/>
          </a:xfrm>
          <a:prstGeom prst="roundRect">
            <a:avLst>
              <a:gd name="adj" fmla="val 1739"/>
            </a:avLst>
          </a:prstGeom>
          <a:solidFill>
            <a:srgbClr val="0F172A"/>
          </a:solidFill>
          <a:ln/>
          <a:effectLst>
            <a:outerShdw blurRad="101600" dist="38100" dir="5400000" algn="bl" rotWithShape="0">
              <a:srgbClr val="0F172A">
                <a:alpha val="18000"/>
              </a:srgbClr>
            </a:outerShdw>
          </a:effectLst>
        </p:spPr>
        <p:txBody>
          <a:bodyPr/>
          <a:lstStyle/>
          <a:p>
            <a:endParaRPr lang="fr-FR"/>
          </a:p>
        </p:txBody>
      </p:sp>
      <p:sp>
        <p:nvSpPr>
          <p:cNvPr id="34" name="Text 27"/>
          <p:cNvSpPr/>
          <p:nvPr/>
        </p:nvSpPr>
        <p:spPr>
          <a:xfrm>
            <a:off x="7726680" y="1810512"/>
            <a:ext cx="3749040" cy="320040"/>
          </a:xfrm>
          <a:prstGeom prst="rect">
            <a:avLst/>
          </a:prstGeom>
          <a:noFill/>
          <a:ln/>
        </p:spPr>
        <p:txBody>
          <a:bodyPr wrap="square" lIns="0" tIns="0" rIns="0" bIns="0" rtlCol="0" anchor="ctr"/>
          <a:lstStyle/>
          <a:p>
            <a:pPr marL="0" indent="0">
              <a:buNone/>
            </a:pPr>
            <a:r>
              <a:rPr lang="en-US" sz="1250" b="1" kern="0" spc="200" dirty="0">
                <a:solidFill>
                  <a:srgbClr val="60A5FA"/>
                </a:solidFill>
                <a:latin typeface="Calibri" pitchFamily="34" charset="0"/>
                <a:ea typeface="Calibri" pitchFamily="34" charset="-122"/>
                <a:cs typeface="Calibri" pitchFamily="34" charset="-120"/>
              </a:rPr>
              <a:t>SOCLE MLOps</a:t>
            </a:r>
            <a:endParaRPr lang="en-US" sz="1250" dirty="0"/>
          </a:p>
        </p:txBody>
      </p:sp>
      <p:pic>
        <p:nvPicPr>
          <p:cNvPr id="35" name="Image 5" descr="preencoded.png"/>
          <p:cNvPicPr>
            <a:picLocks noChangeAspect="1"/>
          </p:cNvPicPr>
          <p:nvPr/>
        </p:nvPicPr>
        <p:blipFill>
          <a:blip r:embed="rId8"/>
          <a:stretch>
            <a:fillRect/>
          </a:stretch>
        </p:blipFill>
        <p:spPr>
          <a:xfrm>
            <a:off x="7772400" y="2322576"/>
            <a:ext cx="384048" cy="384048"/>
          </a:xfrm>
          <a:prstGeom prst="rect">
            <a:avLst/>
          </a:prstGeom>
        </p:spPr>
      </p:pic>
      <p:sp>
        <p:nvSpPr>
          <p:cNvPr id="36" name="Text 28"/>
          <p:cNvSpPr/>
          <p:nvPr/>
        </p:nvSpPr>
        <p:spPr>
          <a:xfrm>
            <a:off x="8302752" y="2286000"/>
            <a:ext cx="3246120" cy="713232"/>
          </a:xfrm>
          <a:prstGeom prst="rect">
            <a:avLst/>
          </a:prstGeom>
          <a:noFill/>
          <a:ln/>
        </p:spPr>
        <p:txBody>
          <a:bodyPr wrap="square" lIns="0" tIns="0" rIns="0" bIns="0" rtlCol="0" anchor="ctr"/>
          <a:lstStyle/>
          <a:p>
            <a:pPr marL="0" indent="0">
              <a:lnSpc>
                <a:spcPct val="98000"/>
              </a:lnSpc>
              <a:buNone/>
            </a:pPr>
            <a:r>
              <a:rPr lang="en-US" sz="1300" b="1" dirty="0">
                <a:solidFill>
                  <a:srgbClr val="FFFFFF"/>
                </a:solidFill>
                <a:latin typeface="Calibri" pitchFamily="34" charset="0"/>
                <a:ea typeface="Calibri" pitchFamily="34" charset="-122"/>
                <a:cs typeface="Calibri" pitchFamily="34" charset="-120"/>
              </a:rPr>
              <a:t>Code versionné</a:t>
            </a:r>
            <a:endParaRPr lang="en-US" sz="1300" dirty="0"/>
          </a:p>
          <a:p>
            <a:pPr marL="0" indent="0">
              <a:lnSpc>
                <a:spcPct val="98000"/>
              </a:lnSpc>
              <a:buNone/>
            </a:pPr>
            <a:r>
              <a:rPr lang="en-US" sz="1100" dirty="0">
                <a:solidFill>
                  <a:srgbClr val="E2E8F0"/>
                </a:solidFill>
                <a:latin typeface="Calibri" pitchFamily="34" charset="0"/>
                <a:ea typeface="Calibri" pitchFamily="34" charset="-122"/>
                <a:cs typeface="Calibri" pitchFamily="34" charset="-120"/>
              </a:rPr>
              <a:t>Git + structure src/ modulaire</a:t>
            </a:r>
            <a:endParaRPr lang="en-US" sz="1300" dirty="0"/>
          </a:p>
        </p:txBody>
      </p:sp>
      <p:pic>
        <p:nvPicPr>
          <p:cNvPr id="37" name="Image 6" descr="preencoded.png"/>
          <p:cNvPicPr>
            <a:picLocks noChangeAspect="1"/>
          </p:cNvPicPr>
          <p:nvPr/>
        </p:nvPicPr>
        <p:blipFill>
          <a:blip r:embed="rId9"/>
          <a:stretch>
            <a:fillRect/>
          </a:stretch>
        </p:blipFill>
        <p:spPr>
          <a:xfrm>
            <a:off x="7772400" y="3118104"/>
            <a:ext cx="384048" cy="384048"/>
          </a:xfrm>
          <a:prstGeom prst="rect">
            <a:avLst/>
          </a:prstGeom>
        </p:spPr>
      </p:pic>
      <p:sp>
        <p:nvSpPr>
          <p:cNvPr id="38" name="Text 29"/>
          <p:cNvSpPr/>
          <p:nvPr/>
        </p:nvSpPr>
        <p:spPr>
          <a:xfrm>
            <a:off x="8302752" y="3081528"/>
            <a:ext cx="3246120" cy="713232"/>
          </a:xfrm>
          <a:prstGeom prst="rect">
            <a:avLst/>
          </a:prstGeom>
          <a:noFill/>
          <a:ln/>
        </p:spPr>
        <p:txBody>
          <a:bodyPr wrap="square" lIns="0" tIns="0" rIns="0" bIns="0" rtlCol="0" anchor="ctr"/>
          <a:lstStyle/>
          <a:p>
            <a:pPr marL="0" indent="0">
              <a:lnSpc>
                <a:spcPct val="98000"/>
              </a:lnSpc>
              <a:buNone/>
            </a:pPr>
            <a:r>
              <a:rPr lang="en-US" sz="1300" b="1" dirty="0">
                <a:solidFill>
                  <a:srgbClr val="FFFFFF"/>
                </a:solidFill>
                <a:latin typeface="Calibri" pitchFamily="34" charset="0"/>
                <a:ea typeface="Calibri" pitchFamily="34" charset="-122"/>
                <a:cs typeface="Calibri" pitchFamily="34" charset="-120"/>
              </a:rPr>
              <a:t>Docker</a:t>
            </a:r>
            <a:endParaRPr lang="en-US" sz="1300" dirty="0"/>
          </a:p>
          <a:p>
            <a:pPr marL="0" indent="0">
              <a:lnSpc>
                <a:spcPct val="98000"/>
              </a:lnSpc>
              <a:buNone/>
            </a:pPr>
            <a:r>
              <a:rPr lang="en-US" sz="1100" dirty="0">
                <a:solidFill>
                  <a:srgbClr val="E2E8F0"/>
                </a:solidFill>
                <a:latin typeface="Calibri" pitchFamily="34" charset="0"/>
                <a:ea typeface="Calibri" pitchFamily="34" charset="-122"/>
                <a:cs typeface="Calibri" pitchFamily="34" charset="-120"/>
              </a:rPr>
              <a:t>Conteneurisation reproductible</a:t>
            </a:r>
            <a:endParaRPr lang="en-US" sz="1300" dirty="0"/>
          </a:p>
        </p:txBody>
      </p:sp>
      <p:pic>
        <p:nvPicPr>
          <p:cNvPr id="39" name="Image 7" descr="preencoded.png"/>
          <p:cNvPicPr>
            <a:picLocks noChangeAspect="1"/>
          </p:cNvPicPr>
          <p:nvPr/>
        </p:nvPicPr>
        <p:blipFill>
          <a:blip r:embed="rId10"/>
          <a:stretch>
            <a:fillRect/>
          </a:stretch>
        </p:blipFill>
        <p:spPr>
          <a:xfrm>
            <a:off x="7772400" y="3913632"/>
            <a:ext cx="384048" cy="384048"/>
          </a:xfrm>
          <a:prstGeom prst="rect">
            <a:avLst/>
          </a:prstGeom>
        </p:spPr>
      </p:pic>
      <p:sp>
        <p:nvSpPr>
          <p:cNvPr id="40" name="Text 30"/>
          <p:cNvSpPr/>
          <p:nvPr/>
        </p:nvSpPr>
        <p:spPr>
          <a:xfrm>
            <a:off x="8302752" y="3877056"/>
            <a:ext cx="3246120" cy="713232"/>
          </a:xfrm>
          <a:prstGeom prst="rect">
            <a:avLst/>
          </a:prstGeom>
          <a:noFill/>
          <a:ln/>
        </p:spPr>
        <p:txBody>
          <a:bodyPr wrap="square" lIns="0" tIns="0" rIns="0" bIns="0" rtlCol="0" anchor="ctr"/>
          <a:lstStyle/>
          <a:p>
            <a:pPr marL="0" indent="0">
              <a:lnSpc>
                <a:spcPct val="98000"/>
              </a:lnSpc>
              <a:buNone/>
            </a:pPr>
            <a:r>
              <a:rPr lang="en-US" sz="1300" b="1" dirty="0">
                <a:solidFill>
                  <a:srgbClr val="FFFFFF"/>
                </a:solidFill>
                <a:latin typeface="Calibri" pitchFamily="34" charset="0"/>
                <a:ea typeface="Calibri" pitchFamily="34" charset="-122"/>
                <a:cs typeface="Calibri" pitchFamily="34" charset="-120"/>
              </a:rPr>
              <a:t>CI/CD GitHub Actions</a:t>
            </a:r>
            <a:endParaRPr lang="en-US" sz="1300" dirty="0"/>
          </a:p>
          <a:p>
            <a:pPr marL="0" indent="0">
              <a:lnSpc>
                <a:spcPct val="98000"/>
              </a:lnSpc>
              <a:buNone/>
            </a:pPr>
            <a:r>
              <a:rPr lang="en-US" sz="1100" dirty="0">
                <a:solidFill>
                  <a:srgbClr val="E2E8F0"/>
                </a:solidFill>
                <a:latin typeface="Calibri" pitchFamily="34" charset="0"/>
                <a:ea typeface="Calibri" pitchFamily="34" charset="-122"/>
                <a:cs typeface="Calibri" pitchFamily="34" charset="-120"/>
              </a:rPr>
              <a:t>Tests pytest + déploiement auto</a:t>
            </a:r>
            <a:endParaRPr lang="en-US" sz="1300" dirty="0"/>
          </a:p>
        </p:txBody>
      </p:sp>
      <p:pic>
        <p:nvPicPr>
          <p:cNvPr id="41" name="Image 8" descr="preencoded.png"/>
          <p:cNvPicPr>
            <a:picLocks noChangeAspect="1"/>
          </p:cNvPicPr>
          <p:nvPr/>
        </p:nvPicPr>
        <p:blipFill>
          <a:blip r:embed="rId11"/>
          <a:stretch>
            <a:fillRect/>
          </a:stretch>
        </p:blipFill>
        <p:spPr>
          <a:xfrm>
            <a:off x="7772400" y="4709160"/>
            <a:ext cx="384048" cy="384048"/>
          </a:xfrm>
          <a:prstGeom prst="rect">
            <a:avLst/>
          </a:prstGeom>
        </p:spPr>
      </p:pic>
      <p:sp>
        <p:nvSpPr>
          <p:cNvPr id="42" name="Text 31"/>
          <p:cNvSpPr/>
          <p:nvPr/>
        </p:nvSpPr>
        <p:spPr>
          <a:xfrm>
            <a:off x="8302752" y="4672584"/>
            <a:ext cx="3246120" cy="713232"/>
          </a:xfrm>
          <a:prstGeom prst="rect">
            <a:avLst/>
          </a:prstGeom>
          <a:noFill/>
          <a:ln/>
        </p:spPr>
        <p:txBody>
          <a:bodyPr wrap="square" lIns="0" tIns="0" rIns="0" bIns="0" rtlCol="0" anchor="ctr"/>
          <a:lstStyle/>
          <a:p>
            <a:pPr marL="0" indent="0">
              <a:lnSpc>
                <a:spcPct val="98000"/>
              </a:lnSpc>
              <a:buNone/>
            </a:pPr>
            <a:r>
              <a:rPr lang="en-US" sz="1300" b="1" dirty="0">
                <a:solidFill>
                  <a:srgbClr val="FFFFFF"/>
                </a:solidFill>
                <a:latin typeface="Calibri" pitchFamily="34" charset="0"/>
                <a:ea typeface="Calibri" pitchFamily="34" charset="-122"/>
                <a:cs typeface="Calibri" pitchFamily="34" charset="-120"/>
              </a:rPr>
              <a:t>Tests &amp; qualité</a:t>
            </a:r>
            <a:endParaRPr lang="en-US" sz="1300" dirty="0"/>
          </a:p>
          <a:p>
            <a:pPr marL="0" indent="0">
              <a:lnSpc>
                <a:spcPct val="98000"/>
              </a:lnSpc>
              <a:buNone/>
            </a:pPr>
            <a:r>
              <a:rPr lang="en-US" sz="1100" dirty="0">
                <a:solidFill>
                  <a:srgbClr val="E2E8F0"/>
                </a:solidFill>
                <a:latin typeface="Calibri" pitchFamily="34" charset="0"/>
                <a:ea typeface="Calibri" pitchFamily="34" charset="-122"/>
                <a:cs typeface="Calibri" pitchFamily="34" charset="-120"/>
              </a:rPr>
              <a:t>pytest sur les endpoints</a:t>
            </a:r>
            <a:endParaRPr lang="en-US" sz="1300" dirty="0"/>
          </a:p>
        </p:txBody>
      </p:sp>
      <p:pic>
        <p:nvPicPr>
          <p:cNvPr id="43" name="Image 9" descr="preencoded.png"/>
          <p:cNvPicPr>
            <a:picLocks noChangeAspect="1"/>
          </p:cNvPicPr>
          <p:nvPr/>
        </p:nvPicPr>
        <p:blipFill>
          <a:blip r:embed="rId7"/>
          <a:stretch>
            <a:fillRect/>
          </a:stretch>
        </p:blipFill>
        <p:spPr>
          <a:xfrm>
            <a:off x="7772400" y="5504688"/>
            <a:ext cx="384048" cy="384048"/>
          </a:xfrm>
          <a:prstGeom prst="rect">
            <a:avLst/>
          </a:prstGeom>
        </p:spPr>
      </p:pic>
      <p:sp>
        <p:nvSpPr>
          <p:cNvPr id="44" name="Text 32"/>
          <p:cNvSpPr/>
          <p:nvPr/>
        </p:nvSpPr>
        <p:spPr>
          <a:xfrm>
            <a:off x="8302752" y="5468112"/>
            <a:ext cx="3246120" cy="713232"/>
          </a:xfrm>
          <a:prstGeom prst="rect">
            <a:avLst/>
          </a:prstGeom>
          <a:noFill/>
          <a:ln/>
        </p:spPr>
        <p:txBody>
          <a:bodyPr wrap="square" lIns="0" tIns="0" rIns="0" bIns="0" rtlCol="0" anchor="ctr"/>
          <a:lstStyle/>
          <a:p>
            <a:pPr marL="0" indent="0">
              <a:lnSpc>
                <a:spcPct val="98000"/>
              </a:lnSpc>
              <a:buNone/>
            </a:pPr>
            <a:r>
              <a:rPr lang="en-US" sz="1300" b="1" dirty="0">
                <a:solidFill>
                  <a:srgbClr val="FFFFFF"/>
                </a:solidFill>
                <a:latin typeface="Calibri" pitchFamily="34" charset="0"/>
                <a:ea typeface="Calibri" pitchFamily="34" charset="-122"/>
                <a:cs typeface="Calibri" pitchFamily="34" charset="-120"/>
              </a:rPr>
              <a:t>Monitoring</a:t>
            </a:r>
            <a:endParaRPr lang="en-US" sz="1300" dirty="0"/>
          </a:p>
          <a:p>
            <a:pPr marL="0" indent="0">
              <a:lnSpc>
                <a:spcPct val="98000"/>
              </a:lnSpc>
              <a:buNone/>
            </a:pPr>
            <a:r>
              <a:rPr lang="en-US" sz="1100" dirty="0">
                <a:solidFill>
                  <a:srgbClr val="E2E8F0"/>
                </a:solidFill>
                <a:latin typeface="Calibri" pitchFamily="34" charset="0"/>
                <a:ea typeface="Calibri" pitchFamily="34" charset="-122"/>
                <a:cs typeface="Calibri" pitchFamily="34" charset="-120"/>
              </a:rPr>
              <a:t>Dérive + recalibrage du seuil</a:t>
            </a:r>
            <a:endParaRPr lang="en-US" sz="1300" dirty="0"/>
          </a:p>
        </p:txBody>
      </p:sp>
      <p:sp>
        <p:nvSpPr>
          <p:cNvPr id="45" name="Text 33"/>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46" name="Text 3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IMPACT BUSINESS</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Deux leviers de valeur : pertes de fraude évitées et marketing optimisé</a:t>
            </a:r>
            <a:endParaRPr lang="en-US" sz="2500" dirty="0"/>
          </a:p>
        </p:txBody>
      </p:sp>
      <p:sp>
        <p:nvSpPr>
          <p:cNvPr id="4" name="Shape 2"/>
          <p:cNvSpPr/>
          <p:nvPr/>
        </p:nvSpPr>
        <p:spPr>
          <a:xfrm>
            <a:off x="502920" y="1645920"/>
            <a:ext cx="5486400" cy="2788920"/>
          </a:xfrm>
          <a:prstGeom prst="roundRect">
            <a:avLst>
              <a:gd name="adj" fmla="val 2623"/>
            </a:avLst>
          </a:prstGeom>
          <a:solidFill>
            <a:srgbClr val="F0FDF4"/>
          </a:solidFill>
          <a:ln/>
          <a:effectLst>
            <a:outerShdw blurRad="76200" dist="25400" dir="5400000" algn="bl" rotWithShape="0">
              <a:srgbClr val="0F172A">
                <a:alpha val="10000"/>
              </a:srgbClr>
            </a:outerShdw>
          </a:effectLst>
        </p:spPr>
        <p:txBody>
          <a:bodyPr/>
          <a:lstStyle/>
          <a:p>
            <a:endParaRPr lang="fr-FR"/>
          </a:p>
        </p:txBody>
      </p:sp>
      <p:sp>
        <p:nvSpPr>
          <p:cNvPr id="5" name="Shape 3"/>
          <p:cNvSpPr/>
          <p:nvPr/>
        </p:nvSpPr>
        <p:spPr>
          <a:xfrm>
            <a:off x="777240" y="1874520"/>
            <a:ext cx="603504" cy="603504"/>
          </a:xfrm>
          <a:prstGeom prst="ellipse">
            <a:avLst/>
          </a:prstGeom>
          <a:solidFill>
            <a:srgbClr val="059669"/>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941832" y="2039112"/>
            <a:ext cx="274320" cy="274320"/>
          </a:xfrm>
          <a:prstGeom prst="rect">
            <a:avLst/>
          </a:prstGeom>
        </p:spPr>
      </p:pic>
      <p:sp>
        <p:nvSpPr>
          <p:cNvPr id="7" name="Text 4"/>
          <p:cNvSpPr/>
          <p:nvPr/>
        </p:nvSpPr>
        <p:spPr>
          <a:xfrm>
            <a:off x="1508760" y="1874520"/>
            <a:ext cx="4297680" cy="603504"/>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Levier 1 — Fraude évitée</a:t>
            </a:r>
            <a:endParaRPr lang="en-US" sz="1700" dirty="0"/>
          </a:p>
        </p:txBody>
      </p:sp>
      <p:sp>
        <p:nvSpPr>
          <p:cNvPr id="8" name="Text 5"/>
          <p:cNvSpPr/>
          <p:nvPr/>
        </p:nvSpPr>
        <p:spPr>
          <a:xfrm>
            <a:off x="777240" y="2606040"/>
            <a:ext cx="4937760" cy="548640"/>
          </a:xfrm>
          <a:prstGeom prst="rect">
            <a:avLst/>
          </a:prstGeom>
          <a:noFill/>
          <a:ln/>
        </p:spPr>
        <p:txBody>
          <a:bodyPr wrap="square" lIns="0" tIns="0" rIns="0" bIns="0" rtlCol="0" anchor="ctr"/>
          <a:lstStyle/>
          <a:p>
            <a:pPr marL="0" indent="0">
              <a:buNone/>
            </a:pPr>
            <a:r>
              <a:rPr lang="en-US" sz="3400" b="1" dirty="0">
                <a:solidFill>
                  <a:srgbClr val="059669"/>
                </a:solidFill>
                <a:latin typeface="Calibri" pitchFamily="34" charset="0"/>
                <a:ea typeface="Calibri" pitchFamily="34" charset="-122"/>
                <a:cs typeface="Calibri" pitchFamily="34" charset="-120"/>
              </a:rPr>
              <a:t>98,3 %</a:t>
            </a:r>
            <a:r>
              <a:rPr lang="en-US" sz="1300" dirty="0">
                <a:solidFill>
                  <a:srgbClr val="64748B"/>
                </a:solidFill>
                <a:latin typeface="Calibri" pitchFamily="34" charset="0"/>
                <a:ea typeface="Calibri" pitchFamily="34" charset="-122"/>
                <a:cs typeface="Calibri" pitchFamily="34" charset="-120"/>
              </a:rPr>
              <a:t>  des fraudes interceptées</a:t>
            </a:r>
            <a:endParaRPr lang="en-US" sz="3400" dirty="0"/>
          </a:p>
        </p:txBody>
      </p:sp>
      <p:sp>
        <p:nvSpPr>
          <p:cNvPr id="9" name="Text 6"/>
          <p:cNvSpPr/>
          <p:nvPr/>
        </p:nvSpPr>
        <p:spPr>
          <a:xfrm>
            <a:off x="777240" y="3200400"/>
            <a:ext cx="4937760" cy="1097280"/>
          </a:xfrm>
          <a:prstGeom prst="rect">
            <a:avLst/>
          </a:prstGeom>
          <a:noFill/>
          <a:ln/>
        </p:spPr>
        <p:txBody>
          <a:bodyPr wrap="square" lIns="0" tIns="0" rIns="0" bIns="0" rtlCol="0" anchor="t"/>
          <a:lstStyle/>
          <a:p>
            <a:pPr marL="0" indent="0">
              <a:lnSpc>
                <a:spcPct val="110000"/>
              </a:lnSpc>
              <a:buNone/>
            </a:pPr>
            <a:r>
              <a:rPr lang="en-US" sz="1300" b="1" dirty="0">
                <a:solidFill>
                  <a:srgbClr val="059669"/>
                </a:solidFill>
                <a:latin typeface="Calibri" pitchFamily="34" charset="0"/>
                <a:ea typeface="Calibri" pitchFamily="34" charset="-122"/>
                <a:cs typeface="Calibri" pitchFamily="34" charset="-120"/>
              </a:rPr>
              <a:t>0 faux positif</a:t>
            </a:r>
            <a:r>
              <a:rPr lang="en-US" sz="1300" dirty="0">
                <a:solidFill>
                  <a:srgbClr val="1E293B"/>
                </a:solidFill>
                <a:latin typeface="Calibri" pitchFamily="34" charset="0"/>
                <a:ea typeface="Calibri" pitchFamily="34" charset="-122"/>
                <a:cs typeface="Calibri" pitchFamily="34" charset="-120"/>
              </a:rPr>
              <a:t> → aucune perte de revenu liée à des blocages abusifs, aucun coût de support inutile.</a:t>
            </a:r>
            <a:endParaRPr lang="en-US" sz="1300" dirty="0"/>
          </a:p>
        </p:txBody>
      </p:sp>
      <p:sp>
        <p:nvSpPr>
          <p:cNvPr id="10" name="Shape 7"/>
          <p:cNvSpPr/>
          <p:nvPr/>
        </p:nvSpPr>
        <p:spPr>
          <a:xfrm>
            <a:off x="6199632" y="1645920"/>
            <a:ext cx="5486400" cy="2788920"/>
          </a:xfrm>
          <a:prstGeom prst="roundRect">
            <a:avLst>
              <a:gd name="adj" fmla="val 2623"/>
            </a:avLst>
          </a:prstGeom>
          <a:solidFill>
            <a:srgbClr val="F3E8FF"/>
          </a:solidFill>
          <a:ln/>
          <a:effectLst>
            <a:outerShdw blurRad="76200" dist="25400" dir="5400000" algn="bl" rotWithShape="0">
              <a:srgbClr val="0F172A">
                <a:alpha val="10000"/>
              </a:srgbClr>
            </a:outerShdw>
          </a:effectLst>
        </p:spPr>
        <p:txBody>
          <a:bodyPr/>
          <a:lstStyle/>
          <a:p>
            <a:endParaRPr lang="fr-FR"/>
          </a:p>
        </p:txBody>
      </p:sp>
      <p:sp>
        <p:nvSpPr>
          <p:cNvPr id="11" name="Shape 8"/>
          <p:cNvSpPr/>
          <p:nvPr/>
        </p:nvSpPr>
        <p:spPr>
          <a:xfrm>
            <a:off x="6473952" y="1874520"/>
            <a:ext cx="603504" cy="603504"/>
          </a:xfrm>
          <a:prstGeom prst="ellipse">
            <a:avLst/>
          </a:prstGeom>
          <a:solidFill>
            <a:srgbClr val="7C3AED"/>
          </a:solidFill>
          <a:ln/>
        </p:spPr>
        <p:txBody>
          <a:bodyPr/>
          <a:lstStyle/>
          <a:p>
            <a:endParaRPr lang="fr-FR"/>
          </a:p>
        </p:txBody>
      </p:sp>
      <p:pic>
        <p:nvPicPr>
          <p:cNvPr id="12" name="Image 1" descr="preencoded.png"/>
          <p:cNvPicPr>
            <a:picLocks noChangeAspect="1"/>
          </p:cNvPicPr>
          <p:nvPr/>
        </p:nvPicPr>
        <p:blipFill>
          <a:blip r:embed="rId4"/>
          <a:stretch>
            <a:fillRect/>
          </a:stretch>
        </p:blipFill>
        <p:spPr>
          <a:xfrm>
            <a:off x="6638544" y="2039112"/>
            <a:ext cx="274320" cy="274320"/>
          </a:xfrm>
          <a:prstGeom prst="rect">
            <a:avLst/>
          </a:prstGeom>
        </p:spPr>
      </p:pic>
      <p:sp>
        <p:nvSpPr>
          <p:cNvPr id="13" name="Text 9"/>
          <p:cNvSpPr/>
          <p:nvPr/>
        </p:nvSpPr>
        <p:spPr>
          <a:xfrm>
            <a:off x="7205472" y="1874520"/>
            <a:ext cx="4297680" cy="603504"/>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Levier 2 — Marketing ciblé</a:t>
            </a:r>
            <a:endParaRPr lang="en-US" sz="1700" dirty="0"/>
          </a:p>
        </p:txBody>
      </p:sp>
      <p:sp>
        <p:nvSpPr>
          <p:cNvPr id="14" name="Text 10"/>
          <p:cNvSpPr/>
          <p:nvPr/>
        </p:nvSpPr>
        <p:spPr>
          <a:xfrm>
            <a:off x="6473952" y="2606040"/>
            <a:ext cx="4937760" cy="548640"/>
          </a:xfrm>
          <a:prstGeom prst="rect">
            <a:avLst/>
          </a:prstGeom>
          <a:noFill/>
          <a:ln/>
        </p:spPr>
        <p:txBody>
          <a:bodyPr wrap="square" lIns="0" tIns="0" rIns="0" bIns="0" rtlCol="0" anchor="ctr"/>
          <a:lstStyle/>
          <a:p>
            <a:pPr marL="0" indent="0">
              <a:buNone/>
            </a:pPr>
            <a:r>
              <a:rPr lang="en-US" sz="3400" b="1" dirty="0">
                <a:solidFill>
                  <a:srgbClr val="7C3AED"/>
                </a:solidFill>
                <a:latin typeface="Calibri" pitchFamily="34" charset="0"/>
                <a:ea typeface="Calibri" pitchFamily="34" charset="-122"/>
                <a:cs typeface="Calibri" pitchFamily="34" charset="-120"/>
              </a:rPr>
              <a:t>4</a:t>
            </a:r>
            <a:r>
              <a:rPr lang="en-US" sz="1300" dirty="0">
                <a:solidFill>
                  <a:srgbClr val="64748B"/>
                </a:solidFill>
                <a:latin typeface="Calibri" pitchFamily="34" charset="0"/>
                <a:ea typeface="Calibri" pitchFamily="34" charset="-122"/>
                <a:cs typeface="Calibri" pitchFamily="34" charset="-120"/>
              </a:rPr>
              <a:t>  campagnes dédiées au lieu d'une seule</a:t>
            </a:r>
            <a:endParaRPr lang="en-US" sz="3400" dirty="0"/>
          </a:p>
        </p:txBody>
      </p:sp>
      <p:sp>
        <p:nvSpPr>
          <p:cNvPr id="15" name="Text 11"/>
          <p:cNvSpPr/>
          <p:nvPr/>
        </p:nvSpPr>
        <p:spPr>
          <a:xfrm>
            <a:off x="6473952" y="3200400"/>
            <a:ext cx="4937760" cy="1097280"/>
          </a:xfrm>
          <a:prstGeom prst="rect">
            <a:avLst/>
          </a:prstGeom>
          <a:noFill/>
          <a:ln/>
        </p:spPr>
        <p:txBody>
          <a:bodyPr wrap="square" lIns="0" tIns="0" rIns="0" bIns="0" rtlCol="0" anchor="t"/>
          <a:lstStyle/>
          <a:p>
            <a:pPr marL="0" indent="0">
              <a:lnSpc>
                <a:spcPct val="110000"/>
              </a:lnSpc>
              <a:buNone/>
            </a:pPr>
            <a:r>
              <a:rPr lang="en-US" sz="1300" b="1" dirty="0">
                <a:solidFill>
                  <a:srgbClr val="7C3AED"/>
                </a:solidFill>
                <a:latin typeface="Calibri" pitchFamily="34" charset="0"/>
                <a:ea typeface="Calibri" pitchFamily="34" charset="-122"/>
                <a:cs typeface="Calibri" pitchFamily="34" charset="-120"/>
              </a:rPr>
              <a:t>Budget concentré </a:t>
            </a:r>
            <a:r>
              <a:rPr lang="en-US" sz="1300" dirty="0">
                <a:solidFill>
                  <a:srgbClr val="1E293B"/>
                </a:solidFill>
                <a:latin typeface="Calibri" pitchFamily="34" charset="0"/>
                <a:ea typeface="Calibri" pitchFamily="34" charset="-122"/>
                <a:cs typeface="Calibri" pitchFamily="34" charset="-120"/>
              </a:rPr>
              <a:t>sur les segments à fort potentiel (Premium, Fidèles) ; réactivation des Dormants à moindre coût.</a:t>
            </a:r>
            <a:endParaRPr lang="en-US" sz="1300" dirty="0"/>
          </a:p>
        </p:txBody>
      </p:sp>
      <p:sp>
        <p:nvSpPr>
          <p:cNvPr id="16" name="Shape 12"/>
          <p:cNvSpPr/>
          <p:nvPr/>
        </p:nvSpPr>
        <p:spPr>
          <a:xfrm>
            <a:off x="502920" y="4663440"/>
            <a:ext cx="11201400" cy="1417320"/>
          </a:xfrm>
          <a:prstGeom prst="roundRect">
            <a:avLst>
              <a:gd name="adj" fmla="val 5161"/>
            </a:avLst>
          </a:prstGeom>
          <a:solidFill>
            <a:srgbClr val="0F172A"/>
          </a:solidFill>
          <a:ln/>
          <a:effectLst>
            <a:outerShdw blurRad="101600" dist="38100" dir="5400000" algn="bl" rotWithShape="0">
              <a:srgbClr val="0F172A">
                <a:alpha val="15000"/>
              </a:srgbClr>
            </a:outerShdw>
          </a:effectLst>
        </p:spPr>
        <p:txBody>
          <a:bodyPr/>
          <a:lstStyle/>
          <a:p>
            <a:endParaRPr lang="fr-FR"/>
          </a:p>
        </p:txBody>
      </p:sp>
      <p:sp>
        <p:nvSpPr>
          <p:cNvPr id="17" name="Shape 13"/>
          <p:cNvSpPr/>
          <p:nvPr/>
        </p:nvSpPr>
        <p:spPr>
          <a:xfrm>
            <a:off x="868680" y="4937760"/>
            <a:ext cx="868680" cy="868680"/>
          </a:xfrm>
          <a:prstGeom prst="ellipse">
            <a:avLst/>
          </a:prstGeom>
          <a:solidFill>
            <a:srgbClr val="059669"/>
          </a:solidFill>
          <a:ln/>
          <a:effectLst>
            <a:outerShdw blurRad="76200" dist="25400" dir="5400000" algn="bl" rotWithShape="0">
              <a:srgbClr val="0F172A">
                <a:alpha val="15000"/>
              </a:srgbClr>
            </a:outerShdw>
          </a:effectLst>
        </p:spPr>
        <p:txBody>
          <a:bodyPr/>
          <a:lstStyle/>
          <a:p>
            <a:endParaRPr lang="fr-FR"/>
          </a:p>
        </p:txBody>
      </p:sp>
      <p:pic>
        <p:nvPicPr>
          <p:cNvPr id="18" name="Image 2" descr="preencoded.png"/>
          <p:cNvPicPr>
            <a:picLocks noChangeAspect="1"/>
          </p:cNvPicPr>
          <p:nvPr/>
        </p:nvPicPr>
        <p:blipFill>
          <a:blip r:embed="rId5"/>
          <a:stretch>
            <a:fillRect/>
          </a:stretch>
        </p:blipFill>
        <p:spPr>
          <a:xfrm>
            <a:off x="1103224" y="5172304"/>
            <a:ext cx="399593" cy="399593"/>
          </a:xfrm>
          <a:prstGeom prst="rect">
            <a:avLst/>
          </a:prstGeom>
        </p:spPr>
      </p:pic>
      <p:sp>
        <p:nvSpPr>
          <p:cNvPr id="19" name="Text 14"/>
          <p:cNvSpPr/>
          <p:nvPr/>
        </p:nvSpPr>
        <p:spPr>
          <a:xfrm>
            <a:off x="2011680" y="4892040"/>
            <a:ext cx="9509760" cy="594360"/>
          </a:xfrm>
          <a:prstGeom prst="rect">
            <a:avLst/>
          </a:prstGeom>
          <a:noFill/>
          <a:ln/>
        </p:spPr>
        <p:txBody>
          <a:bodyPr wrap="square" lIns="0" tIns="0" rIns="0" bIns="0" rtlCol="0" anchor="ctr"/>
          <a:lstStyle/>
          <a:p>
            <a:pPr marL="0" indent="0">
              <a:lnSpc>
                <a:spcPct val="100000"/>
              </a:lnSpc>
              <a:buNone/>
            </a:pPr>
            <a:r>
              <a:rPr lang="en-US" sz="1800" b="1" dirty="0">
                <a:solidFill>
                  <a:srgbClr val="FFFFFF"/>
                </a:solidFill>
                <a:latin typeface="Calibri" pitchFamily="34" charset="0"/>
                <a:ea typeface="Calibri" pitchFamily="34" charset="-122"/>
                <a:cs typeface="Calibri" pitchFamily="34" charset="-120"/>
              </a:rPr>
              <a:t>Gain potentiel  </a:t>
            </a:r>
            <a:r>
              <a:rPr lang="en-US" sz="1800" dirty="0">
                <a:solidFill>
                  <a:srgbClr val="E2E8F0"/>
                </a:solidFill>
                <a:latin typeface="Calibri" pitchFamily="34" charset="0"/>
                <a:ea typeface="Calibri" pitchFamily="34" charset="-122"/>
                <a:cs typeface="Calibri" pitchFamily="34" charset="-120"/>
              </a:rPr>
              <a:t>= </a:t>
            </a:r>
            <a:r>
              <a:rPr lang="en-US" sz="1800" b="1" dirty="0">
                <a:solidFill>
                  <a:srgbClr val="10B981"/>
                </a:solidFill>
                <a:latin typeface="Calibri" pitchFamily="34" charset="0"/>
                <a:ea typeface="Calibri" pitchFamily="34" charset="-122"/>
                <a:cs typeface="Calibri" pitchFamily="34" charset="-120"/>
              </a:rPr>
              <a:t>pertes de fraude évitées</a:t>
            </a:r>
            <a:r>
              <a:rPr lang="en-US" sz="1800" dirty="0">
                <a:solidFill>
                  <a:srgbClr val="E2E8F0"/>
                </a:solidFill>
                <a:latin typeface="Calibri" pitchFamily="34" charset="0"/>
                <a:ea typeface="Calibri" pitchFamily="34" charset="-122"/>
                <a:cs typeface="Calibri" pitchFamily="34" charset="-120"/>
              </a:rPr>
              <a:t>  +  </a:t>
            </a:r>
            <a:r>
              <a:rPr lang="en-US" sz="1800" b="1" dirty="0">
                <a:solidFill>
                  <a:srgbClr val="60A5FA"/>
                </a:solidFill>
                <a:latin typeface="Calibri" pitchFamily="34" charset="0"/>
                <a:ea typeface="Calibri" pitchFamily="34" charset="-122"/>
                <a:cs typeface="Calibri" pitchFamily="34" charset="-120"/>
              </a:rPr>
              <a:t>rendement marketing accru</a:t>
            </a:r>
            <a:r>
              <a:rPr lang="en-US" sz="1600" dirty="0">
                <a:solidFill>
                  <a:srgbClr val="E2E8F0"/>
                </a:solidFill>
                <a:latin typeface="Calibri" pitchFamily="34" charset="0"/>
                <a:ea typeface="Calibri" pitchFamily="34" charset="-122"/>
                <a:cs typeface="Calibri" pitchFamily="34" charset="-120"/>
              </a:rPr>
              <a:t>  −  coûts de friction supprimés</a:t>
            </a:r>
            <a:endParaRPr lang="en-US" sz="1800" dirty="0"/>
          </a:p>
        </p:txBody>
      </p:sp>
      <p:sp>
        <p:nvSpPr>
          <p:cNvPr id="20" name="Text 15"/>
          <p:cNvSpPr/>
          <p:nvPr/>
        </p:nvSpPr>
        <p:spPr>
          <a:xfrm>
            <a:off x="2011680" y="5504688"/>
            <a:ext cx="9509760" cy="457200"/>
          </a:xfrm>
          <a:prstGeom prst="rect">
            <a:avLst/>
          </a:prstGeom>
          <a:noFill/>
          <a:ln/>
        </p:spPr>
        <p:txBody>
          <a:bodyPr wrap="square" lIns="0" tIns="0" rIns="0" bIns="0" rtlCol="0" anchor="ctr"/>
          <a:lstStyle/>
          <a:p>
            <a:pPr marL="0" indent="0">
              <a:buNone/>
            </a:pPr>
            <a:r>
              <a:rPr lang="en-US" sz="1150" i="1" dirty="0">
                <a:solidFill>
                  <a:srgbClr val="E2E8F0"/>
                </a:solidFill>
                <a:latin typeface="Calibri" pitchFamily="34" charset="0"/>
                <a:ea typeface="Calibri" pitchFamily="34" charset="-122"/>
                <a:cs typeface="Calibri" pitchFamily="34" charset="-120"/>
              </a:rPr>
              <a:t>Modèle de valeur ; les montants exacts dépendent du volume de transactions et du panier moyen de l'établissement.</a:t>
            </a:r>
            <a:endParaRPr lang="en-US" sz="1150" dirty="0"/>
          </a:p>
        </p:txBody>
      </p:sp>
      <p:sp>
        <p:nvSpPr>
          <p:cNvPr id="21" name="Text 16"/>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22" name="Text 17"/>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50" b="1" kern="0" spc="300" dirty="0">
                <a:solidFill>
                  <a:srgbClr val="2563EB"/>
                </a:solidFill>
                <a:latin typeface="Calibri" pitchFamily="34" charset="0"/>
                <a:ea typeface="Calibri" pitchFamily="34" charset="-122"/>
                <a:cs typeface="Calibri" pitchFamily="34" charset="-120"/>
              </a:rPr>
              <a:t>LIMITES &amp; ROADMAP</a:t>
            </a:r>
            <a:endParaRPr lang="en-US" sz="1150" dirty="0"/>
          </a:p>
        </p:txBody>
      </p:sp>
      <p:sp>
        <p:nvSpPr>
          <p:cNvPr id="3" name="Text 1"/>
          <p:cNvSpPr/>
          <p:nvPr/>
        </p:nvSpPr>
        <p:spPr>
          <a:xfrm>
            <a:off x="502920" y="566928"/>
            <a:ext cx="11155680" cy="713232"/>
          </a:xfrm>
          <a:prstGeom prst="rect">
            <a:avLst/>
          </a:prstGeom>
          <a:noFill/>
          <a:ln/>
        </p:spPr>
        <p:txBody>
          <a:bodyPr wrap="square" lIns="0" tIns="0" rIns="0" bIns="0" rtlCol="0" anchor="t"/>
          <a:lstStyle/>
          <a:p>
            <a:pPr marL="0" indent="0">
              <a:lnSpc>
                <a:spcPct val="95000"/>
              </a:lnSpc>
              <a:buNone/>
            </a:pPr>
            <a:r>
              <a:rPr lang="en-US" sz="2500" b="1" dirty="0">
                <a:solidFill>
                  <a:srgbClr val="0F172A"/>
                </a:solidFill>
                <a:latin typeface="Calibri" pitchFamily="34" charset="0"/>
                <a:ea typeface="Calibri" pitchFamily="34" charset="-122"/>
                <a:cs typeface="Calibri" pitchFamily="34" charset="-120"/>
              </a:rPr>
              <a:t>Des résultats solides ; une trajectoire claire vers la production</a:t>
            </a:r>
            <a:endParaRPr lang="en-US" sz="2500" dirty="0"/>
          </a:p>
        </p:txBody>
      </p:sp>
      <p:sp>
        <p:nvSpPr>
          <p:cNvPr id="4" name="Text 2"/>
          <p:cNvSpPr/>
          <p:nvPr/>
        </p:nvSpPr>
        <p:spPr>
          <a:xfrm>
            <a:off x="502920" y="1645920"/>
            <a:ext cx="54864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CE QU'IL RESTE À SÉCURISER</a:t>
            </a:r>
            <a:endParaRPr lang="en-US" sz="1100" dirty="0"/>
          </a:p>
        </p:txBody>
      </p:sp>
      <p:sp>
        <p:nvSpPr>
          <p:cNvPr id="5" name="Shape 3"/>
          <p:cNvSpPr/>
          <p:nvPr/>
        </p:nvSpPr>
        <p:spPr>
          <a:xfrm>
            <a:off x="502920" y="2048256"/>
            <a:ext cx="457200" cy="457200"/>
          </a:xfrm>
          <a:prstGeom prst="ellipse">
            <a:avLst/>
          </a:prstGeom>
          <a:solidFill>
            <a:srgbClr val="F59E0B"/>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630936" y="2176272"/>
            <a:ext cx="201168" cy="201168"/>
          </a:xfrm>
          <a:prstGeom prst="rect">
            <a:avLst/>
          </a:prstGeom>
        </p:spPr>
      </p:pic>
      <p:sp>
        <p:nvSpPr>
          <p:cNvPr id="7" name="Text 4"/>
          <p:cNvSpPr/>
          <p:nvPr/>
        </p:nvSpPr>
        <p:spPr>
          <a:xfrm>
            <a:off x="1097280" y="2011680"/>
            <a:ext cx="4754880" cy="914400"/>
          </a:xfrm>
          <a:prstGeom prst="rect">
            <a:avLst/>
          </a:prstGeom>
          <a:noFill/>
          <a:ln/>
        </p:spPr>
        <p:txBody>
          <a:bodyPr wrap="square" lIns="0" tIns="0" rIns="0" bIns="0" rtlCol="0" anchor="ctr"/>
          <a:lstStyle/>
          <a:p>
            <a:pPr marL="0" indent="0">
              <a:lnSpc>
                <a:spcPct val="100000"/>
              </a:lnSpc>
              <a:buNone/>
            </a:pPr>
            <a:r>
              <a:rPr lang="en-US" sz="1350" b="1" dirty="0">
                <a:solidFill>
                  <a:srgbClr val="0F172A"/>
                </a:solidFill>
                <a:latin typeface="Calibri" pitchFamily="34" charset="0"/>
                <a:ea typeface="Calibri" pitchFamily="34" charset="-122"/>
                <a:cs typeface="Calibri" pitchFamily="34" charset="-120"/>
              </a:rPr>
              <a:t>Dataset très séparable</a:t>
            </a:r>
            <a:endParaRPr lang="en-US" sz="1350" dirty="0"/>
          </a:p>
          <a:p>
            <a:pPr marL="0" indent="0">
              <a:lnSpc>
                <a:spcPct val="100000"/>
              </a:lnSpc>
              <a:buNone/>
            </a:pPr>
            <a:r>
              <a:rPr lang="en-US" sz="1150" dirty="0">
                <a:solidFill>
                  <a:srgbClr val="64748B"/>
                </a:solidFill>
                <a:latin typeface="Calibri" pitchFamily="34" charset="0"/>
                <a:ea typeface="Calibri" pitchFamily="34" charset="-122"/>
                <a:cs typeface="Calibri" pitchFamily="34" charset="-120"/>
              </a:rPr>
              <a:t>Performances peut-être optimistes — à confirmer en conditions réelles.</a:t>
            </a:r>
            <a:endParaRPr lang="en-US" sz="1350" dirty="0"/>
          </a:p>
        </p:txBody>
      </p:sp>
      <p:sp>
        <p:nvSpPr>
          <p:cNvPr id="8" name="Shape 5"/>
          <p:cNvSpPr/>
          <p:nvPr/>
        </p:nvSpPr>
        <p:spPr>
          <a:xfrm>
            <a:off x="502920" y="3127248"/>
            <a:ext cx="457200" cy="457200"/>
          </a:xfrm>
          <a:prstGeom prst="ellipse">
            <a:avLst/>
          </a:prstGeom>
          <a:solidFill>
            <a:srgbClr val="F59E0B"/>
          </a:solidFill>
          <a:ln/>
        </p:spPr>
        <p:txBody>
          <a:bodyPr/>
          <a:lstStyle/>
          <a:p>
            <a:endParaRPr lang="fr-FR"/>
          </a:p>
        </p:txBody>
      </p:sp>
      <p:pic>
        <p:nvPicPr>
          <p:cNvPr id="9" name="Image 1" descr="preencoded.png"/>
          <p:cNvPicPr>
            <a:picLocks noChangeAspect="1"/>
          </p:cNvPicPr>
          <p:nvPr/>
        </p:nvPicPr>
        <p:blipFill>
          <a:blip r:embed="rId3"/>
          <a:stretch>
            <a:fillRect/>
          </a:stretch>
        </p:blipFill>
        <p:spPr>
          <a:xfrm>
            <a:off x="630936" y="3255264"/>
            <a:ext cx="201168" cy="201168"/>
          </a:xfrm>
          <a:prstGeom prst="rect">
            <a:avLst/>
          </a:prstGeom>
        </p:spPr>
      </p:pic>
      <p:sp>
        <p:nvSpPr>
          <p:cNvPr id="10" name="Text 6"/>
          <p:cNvSpPr/>
          <p:nvPr/>
        </p:nvSpPr>
        <p:spPr>
          <a:xfrm>
            <a:off x="1097280" y="3090672"/>
            <a:ext cx="4754880" cy="914400"/>
          </a:xfrm>
          <a:prstGeom prst="rect">
            <a:avLst/>
          </a:prstGeom>
          <a:noFill/>
          <a:ln/>
        </p:spPr>
        <p:txBody>
          <a:bodyPr wrap="square" lIns="0" tIns="0" rIns="0" bIns="0" rtlCol="0" anchor="ctr"/>
          <a:lstStyle/>
          <a:p>
            <a:pPr marL="0" indent="0">
              <a:lnSpc>
                <a:spcPct val="100000"/>
              </a:lnSpc>
              <a:buNone/>
            </a:pPr>
            <a:r>
              <a:rPr lang="en-US" sz="1350" b="1" dirty="0">
                <a:solidFill>
                  <a:srgbClr val="0F172A"/>
                </a:solidFill>
                <a:latin typeface="Calibri" pitchFamily="34" charset="0"/>
                <a:ea typeface="Calibri" pitchFamily="34" charset="-122"/>
                <a:cs typeface="Calibri" pitchFamily="34" charset="-120"/>
              </a:rPr>
              <a:t>Validation temporelle</a:t>
            </a:r>
            <a:endParaRPr lang="en-US" sz="1350" dirty="0"/>
          </a:p>
          <a:p>
            <a:pPr marL="0" indent="0">
              <a:lnSpc>
                <a:spcPct val="100000"/>
              </a:lnSpc>
              <a:buNone/>
            </a:pPr>
            <a:r>
              <a:rPr lang="en-US" sz="1150" dirty="0">
                <a:solidFill>
                  <a:srgbClr val="64748B"/>
                </a:solidFill>
                <a:latin typeface="Calibri" pitchFamily="34" charset="0"/>
                <a:ea typeface="Calibri" pitchFamily="34" charset="-122"/>
                <a:cs typeface="Calibri" pitchFamily="34" charset="-120"/>
              </a:rPr>
              <a:t>Réalisée, à compléter par un suivi en production.</a:t>
            </a:r>
            <a:endParaRPr lang="en-US" sz="1350" dirty="0"/>
          </a:p>
        </p:txBody>
      </p:sp>
      <p:sp>
        <p:nvSpPr>
          <p:cNvPr id="11" name="Shape 7"/>
          <p:cNvSpPr/>
          <p:nvPr/>
        </p:nvSpPr>
        <p:spPr>
          <a:xfrm>
            <a:off x="502920" y="4206240"/>
            <a:ext cx="457200" cy="457200"/>
          </a:xfrm>
          <a:prstGeom prst="ellipse">
            <a:avLst/>
          </a:prstGeom>
          <a:solidFill>
            <a:srgbClr val="F59E0B"/>
          </a:solidFill>
          <a:ln/>
        </p:spPr>
        <p:txBody>
          <a:bodyPr/>
          <a:lstStyle/>
          <a:p>
            <a:endParaRPr lang="fr-FR"/>
          </a:p>
        </p:txBody>
      </p:sp>
      <p:pic>
        <p:nvPicPr>
          <p:cNvPr id="12" name="Image 2" descr="preencoded.png"/>
          <p:cNvPicPr>
            <a:picLocks noChangeAspect="1"/>
          </p:cNvPicPr>
          <p:nvPr/>
        </p:nvPicPr>
        <p:blipFill>
          <a:blip r:embed="rId3"/>
          <a:stretch>
            <a:fillRect/>
          </a:stretch>
        </p:blipFill>
        <p:spPr>
          <a:xfrm>
            <a:off x="630936" y="4334256"/>
            <a:ext cx="201168" cy="201168"/>
          </a:xfrm>
          <a:prstGeom prst="rect">
            <a:avLst/>
          </a:prstGeom>
        </p:spPr>
      </p:pic>
      <p:sp>
        <p:nvSpPr>
          <p:cNvPr id="13" name="Text 8"/>
          <p:cNvSpPr/>
          <p:nvPr/>
        </p:nvSpPr>
        <p:spPr>
          <a:xfrm>
            <a:off x="1097280" y="4169664"/>
            <a:ext cx="4754880" cy="914400"/>
          </a:xfrm>
          <a:prstGeom prst="rect">
            <a:avLst/>
          </a:prstGeom>
          <a:noFill/>
          <a:ln/>
        </p:spPr>
        <p:txBody>
          <a:bodyPr wrap="square" lIns="0" tIns="0" rIns="0" bIns="0" rtlCol="0" anchor="ctr"/>
          <a:lstStyle/>
          <a:p>
            <a:pPr marL="0" indent="0">
              <a:lnSpc>
                <a:spcPct val="100000"/>
              </a:lnSpc>
              <a:buNone/>
            </a:pPr>
            <a:r>
              <a:rPr lang="en-US" sz="1350" b="1" dirty="0">
                <a:solidFill>
                  <a:srgbClr val="0F172A"/>
                </a:solidFill>
                <a:latin typeface="Calibri" pitchFamily="34" charset="0"/>
                <a:ea typeface="Calibri" pitchFamily="34" charset="-122"/>
                <a:cs typeface="Calibri" pitchFamily="34" charset="-120"/>
              </a:rPr>
              <a:t>Petit cluster (Promo-digitaux, 42)</a:t>
            </a:r>
            <a:endParaRPr lang="en-US" sz="1350" dirty="0"/>
          </a:p>
          <a:p>
            <a:pPr marL="0" indent="0">
              <a:lnSpc>
                <a:spcPct val="100000"/>
              </a:lnSpc>
              <a:buNone/>
            </a:pPr>
            <a:r>
              <a:rPr lang="en-US" sz="1150" dirty="0">
                <a:solidFill>
                  <a:srgbClr val="64748B"/>
                </a:solidFill>
                <a:latin typeface="Calibri" pitchFamily="34" charset="0"/>
                <a:ea typeface="Calibri" pitchFamily="34" charset="-122"/>
                <a:cs typeface="Calibri" pitchFamily="34" charset="-120"/>
              </a:rPr>
              <a:t>Protocole de campagne A/B documenté pour fiabiliser.</a:t>
            </a:r>
            <a:endParaRPr lang="en-US" sz="1350" dirty="0"/>
          </a:p>
        </p:txBody>
      </p:sp>
      <p:sp>
        <p:nvSpPr>
          <p:cNvPr id="14" name="Text 9"/>
          <p:cNvSpPr/>
          <p:nvPr/>
        </p:nvSpPr>
        <p:spPr>
          <a:xfrm>
            <a:off x="6263640" y="1645920"/>
            <a:ext cx="548640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ROADMAP MLOps</a:t>
            </a:r>
            <a:endParaRPr lang="en-US" sz="1100" dirty="0"/>
          </a:p>
        </p:txBody>
      </p:sp>
      <p:sp>
        <p:nvSpPr>
          <p:cNvPr id="15" name="Shape 10"/>
          <p:cNvSpPr/>
          <p:nvPr/>
        </p:nvSpPr>
        <p:spPr>
          <a:xfrm>
            <a:off x="6263640" y="2011680"/>
            <a:ext cx="5440680" cy="896112"/>
          </a:xfrm>
          <a:prstGeom prst="roundRect">
            <a:avLst>
              <a:gd name="adj" fmla="val 6122"/>
            </a:avLst>
          </a:prstGeom>
          <a:solidFill>
            <a:srgbClr val="F1F5F9"/>
          </a:solidFill>
          <a:ln/>
        </p:spPr>
        <p:txBody>
          <a:bodyPr/>
          <a:lstStyle/>
          <a:p>
            <a:endParaRPr lang="fr-FR"/>
          </a:p>
        </p:txBody>
      </p:sp>
      <p:sp>
        <p:nvSpPr>
          <p:cNvPr id="16" name="Shape 11"/>
          <p:cNvSpPr/>
          <p:nvPr/>
        </p:nvSpPr>
        <p:spPr>
          <a:xfrm>
            <a:off x="6446520" y="2194560"/>
            <a:ext cx="530352" cy="530352"/>
          </a:xfrm>
          <a:prstGeom prst="ellipse">
            <a:avLst/>
          </a:prstGeom>
          <a:solidFill>
            <a:srgbClr val="2563EB"/>
          </a:solidFill>
          <a:ln/>
        </p:spPr>
        <p:txBody>
          <a:bodyPr/>
          <a:lstStyle/>
          <a:p>
            <a:endParaRPr lang="fr-FR"/>
          </a:p>
        </p:txBody>
      </p:sp>
      <p:pic>
        <p:nvPicPr>
          <p:cNvPr id="17" name="Image 3" descr="preencoded.png"/>
          <p:cNvPicPr>
            <a:picLocks noChangeAspect="1"/>
          </p:cNvPicPr>
          <p:nvPr/>
        </p:nvPicPr>
        <p:blipFill>
          <a:blip r:embed="rId4"/>
          <a:stretch>
            <a:fillRect/>
          </a:stretch>
        </p:blipFill>
        <p:spPr>
          <a:xfrm>
            <a:off x="6592824" y="2340864"/>
            <a:ext cx="237744" cy="237744"/>
          </a:xfrm>
          <a:prstGeom prst="rect">
            <a:avLst/>
          </a:prstGeom>
        </p:spPr>
      </p:pic>
      <p:sp>
        <p:nvSpPr>
          <p:cNvPr id="18" name="Text 12"/>
          <p:cNvSpPr/>
          <p:nvPr/>
        </p:nvSpPr>
        <p:spPr>
          <a:xfrm>
            <a:off x="7178040" y="2121408"/>
            <a:ext cx="4389120" cy="685800"/>
          </a:xfrm>
          <a:prstGeom prst="rect">
            <a:avLst/>
          </a:prstGeom>
          <a:noFill/>
          <a:ln/>
        </p:spPr>
        <p:txBody>
          <a:bodyPr wrap="square" lIns="0" tIns="0" rIns="0" bIns="0" rtlCol="0" anchor="ctr"/>
          <a:lstStyle/>
          <a:p>
            <a:pPr marL="0" indent="0">
              <a:lnSpc>
                <a:spcPct val="100000"/>
              </a:lnSpc>
              <a:buNone/>
            </a:pPr>
            <a:r>
              <a:rPr lang="en-US" sz="1350" b="1" dirty="0">
                <a:solidFill>
                  <a:srgbClr val="0F172A"/>
                </a:solidFill>
                <a:latin typeface="Calibri" pitchFamily="34" charset="0"/>
                <a:ea typeface="Calibri" pitchFamily="34" charset="-122"/>
                <a:cs typeface="Calibri" pitchFamily="34" charset="-120"/>
              </a:rPr>
              <a:t>Ré-entraînement automatisé</a:t>
            </a:r>
            <a:endParaRPr lang="en-US" sz="1350" dirty="0"/>
          </a:p>
          <a:p>
            <a:pPr marL="0" indent="0">
              <a:lnSpc>
                <a:spcPct val="100000"/>
              </a:lnSpc>
              <a:buNone/>
            </a:pPr>
            <a:r>
              <a:rPr lang="en-US" sz="1150" dirty="0">
                <a:solidFill>
                  <a:srgbClr val="64748B"/>
                </a:solidFill>
                <a:latin typeface="Calibri" pitchFamily="34" charset="0"/>
                <a:ea typeface="Calibri" pitchFamily="34" charset="-122"/>
                <a:cs typeface="Calibri" pitchFamily="34" charset="-120"/>
              </a:rPr>
              <a:t>Pipelines planifiés sur données fraîches</a:t>
            </a:r>
            <a:endParaRPr lang="en-US" sz="1350" dirty="0"/>
          </a:p>
        </p:txBody>
      </p:sp>
      <p:sp>
        <p:nvSpPr>
          <p:cNvPr id="19" name="Shape 13"/>
          <p:cNvSpPr/>
          <p:nvPr/>
        </p:nvSpPr>
        <p:spPr>
          <a:xfrm>
            <a:off x="6263640" y="3017520"/>
            <a:ext cx="5440680" cy="896112"/>
          </a:xfrm>
          <a:prstGeom prst="roundRect">
            <a:avLst>
              <a:gd name="adj" fmla="val 6122"/>
            </a:avLst>
          </a:prstGeom>
          <a:solidFill>
            <a:srgbClr val="F1F5F9"/>
          </a:solidFill>
          <a:ln/>
        </p:spPr>
        <p:txBody>
          <a:bodyPr/>
          <a:lstStyle/>
          <a:p>
            <a:endParaRPr lang="fr-FR"/>
          </a:p>
        </p:txBody>
      </p:sp>
      <p:sp>
        <p:nvSpPr>
          <p:cNvPr id="20" name="Shape 14"/>
          <p:cNvSpPr/>
          <p:nvPr/>
        </p:nvSpPr>
        <p:spPr>
          <a:xfrm>
            <a:off x="6446520" y="3200400"/>
            <a:ext cx="530352" cy="530352"/>
          </a:xfrm>
          <a:prstGeom prst="ellipse">
            <a:avLst/>
          </a:prstGeom>
          <a:solidFill>
            <a:srgbClr val="0D9488"/>
          </a:solidFill>
          <a:ln/>
        </p:spPr>
        <p:txBody>
          <a:bodyPr/>
          <a:lstStyle/>
          <a:p>
            <a:endParaRPr lang="fr-FR"/>
          </a:p>
        </p:txBody>
      </p:sp>
      <p:pic>
        <p:nvPicPr>
          <p:cNvPr id="21" name="Image 4" descr="preencoded.png"/>
          <p:cNvPicPr>
            <a:picLocks noChangeAspect="1"/>
          </p:cNvPicPr>
          <p:nvPr/>
        </p:nvPicPr>
        <p:blipFill>
          <a:blip r:embed="rId5"/>
          <a:stretch>
            <a:fillRect/>
          </a:stretch>
        </p:blipFill>
        <p:spPr>
          <a:xfrm>
            <a:off x="6592824" y="3346704"/>
            <a:ext cx="237744" cy="237744"/>
          </a:xfrm>
          <a:prstGeom prst="rect">
            <a:avLst/>
          </a:prstGeom>
        </p:spPr>
      </p:pic>
      <p:sp>
        <p:nvSpPr>
          <p:cNvPr id="22" name="Text 15"/>
          <p:cNvSpPr/>
          <p:nvPr/>
        </p:nvSpPr>
        <p:spPr>
          <a:xfrm>
            <a:off x="7178040" y="3127248"/>
            <a:ext cx="4389120" cy="685800"/>
          </a:xfrm>
          <a:prstGeom prst="rect">
            <a:avLst/>
          </a:prstGeom>
          <a:noFill/>
          <a:ln/>
        </p:spPr>
        <p:txBody>
          <a:bodyPr wrap="square" lIns="0" tIns="0" rIns="0" bIns="0" rtlCol="0" anchor="ctr"/>
          <a:lstStyle/>
          <a:p>
            <a:pPr marL="0" indent="0">
              <a:lnSpc>
                <a:spcPct val="100000"/>
              </a:lnSpc>
              <a:buNone/>
            </a:pPr>
            <a:r>
              <a:rPr lang="en-US" sz="1350" b="1" dirty="0">
                <a:solidFill>
                  <a:srgbClr val="0F172A"/>
                </a:solidFill>
                <a:latin typeface="Calibri" pitchFamily="34" charset="0"/>
                <a:ea typeface="Calibri" pitchFamily="34" charset="-122"/>
                <a:cs typeface="Calibri" pitchFamily="34" charset="-120"/>
              </a:rPr>
              <a:t>Monitoring de dérive</a:t>
            </a:r>
            <a:endParaRPr lang="en-US" sz="1350" dirty="0"/>
          </a:p>
          <a:p>
            <a:pPr marL="0" indent="0">
              <a:lnSpc>
                <a:spcPct val="100000"/>
              </a:lnSpc>
              <a:buNone/>
            </a:pPr>
            <a:r>
              <a:rPr lang="en-US" sz="1150" dirty="0">
                <a:solidFill>
                  <a:srgbClr val="64748B"/>
                </a:solidFill>
                <a:latin typeface="Calibri" pitchFamily="34" charset="0"/>
                <a:ea typeface="Calibri" pitchFamily="34" charset="-122"/>
                <a:cs typeface="Calibri" pitchFamily="34" charset="-120"/>
              </a:rPr>
              <a:t>Détection du data/concept drift</a:t>
            </a:r>
            <a:endParaRPr lang="en-US" sz="1350" dirty="0"/>
          </a:p>
        </p:txBody>
      </p:sp>
      <p:sp>
        <p:nvSpPr>
          <p:cNvPr id="23" name="Shape 16"/>
          <p:cNvSpPr/>
          <p:nvPr/>
        </p:nvSpPr>
        <p:spPr>
          <a:xfrm>
            <a:off x="6263640" y="4023360"/>
            <a:ext cx="5440680" cy="896112"/>
          </a:xfrm>
          <a:prstGeom prst="roundRect">
            <a:avLst>
              <a:gd name="adj" fmla="val 6122"/>
            </a:avLst>
          </a:prstGeom>
          <a:solidFill>
            <a:srgbClr val="F1F5F9"/>
          </a:solidFill>
          <a:ln/>
        </p:spPr>
        <p:txBody>
          <a:bodyPr/>
          <a:lstStyle/>
          <a:p>
            <a:endParaRPr lang="fr-FR"/>
          </a:p>
        </p:txBody>
      </p:sp>
      <p:sp>
        <p:nvSpPr>
          <p:cNvPr id="24" name="Shape 17"/>
          <p:cNvSpPr/>
          <p:nvPr/>
        </p:nvSpPr>
        <p:spPr>
          <a:xfrm>
            <a:off x="6446520" y="4206240"/>
            <a:ext cx="530352" cy="530352"/>
          </a:xfrm>
          <a:prstGeom prst="ellipse">
            <a:avLst/>
          </a:prstGeom>
          <a:solidFill>
            <a:srgbClr val="7C3AED"/>
          </a:solidFill>
          <a:ln/>
        </p:spPr>
        <p:txBody>
          <a:bodyPr/>
          <a:lstStyle/>
          <a:p>
            <a:endParaRPr lang="fr-FR"/>
          </a:p>
        </p:txBody>
      </p:sp>
      <p:pic>
        <p:nvPicPr>
          <p:cNvPr id="25" name="Image 5" descr="preencoded.png"/>
          <p:cNvPicPr>
            <a:picLocks noChangeAspect="1"/>
          </p:cNvPicPr>
          <p:nvPr/>
        </p:nvPicPr>
        <p:blipFill>
          <a:blip r:embed="rId6"/>
          <a:stretch>
            <a:fillRect/>
          </a:stretch>
        </p:blipFill>
        <p:spPr>
          <a:xfrm>
            <a:off x="6592824" y="4352544"/>
            <a:ext cx="237744" cy="237744"/>
          </a:xfrm>
          <a:prstGeom prst="rect">
            <a:avLst/>
          </a:prstGeom>
        </p:spPr>
      </p:pic>
      <p:sp>
        <p:nvSpPr>
          <p:cNvPr id="26" name="Text 18"/>
          <p:cNvSpPr/>
          <p:nvPr/>
        </p:nvSpPr>
        <p:spPr>
          <a:xfrm>
            <a:off x="7178040" y="4133088"/>
            <a:ext cx="4389120" cy="685800"/>
          </a:xfrm>
          <a:prstGeom prst="rect">
            <a:avLst/>
          </a:prstGeom>
          <a:noFill/>
          <a:ln/>
        </p:spPr>
        <p:txBody>
          <a:bodyPr wrap="square" lIns="0" tIns="0" rIns="0" bIns="0" rtlCol="0" anchor="ctr"/>
          <a:lstStyle/>
          <a:p>
            <a:pPr marL="0" indent="0">
              <a:lnSpc>
                <a:spcPct val="100000"/>
              </a:lnSpc>
              <a:buNone/>
            </a:pPr>
            <a:r>
              <a:rPr lang="en-US" sz="1350" b="1" dirty="0">
                <a:solidFill>
                  <a:srgbClr val="0F172A"/>
                </a:solidFill>
                <a:latin typeface="Calibri" pitchFamily="34" charset="0"/>
                <a:ea typeface="Calibri" pitchFamily="34" charset="-122"/>
                <a:cs typeface="Calibri" pitchFamily="34" charset="-120"/>
              </a:rPr>
              <a:t>Recalibrage du seuil</a:t>
            </a:r>
            <a:endParaRPr lang="en-US" sz="1350" dirty="0"/>
          </a:p>
          <a:p>
            <a:pPr marL="0" indent="0">
              <a:lnSpc>
                <a:spcPct val="100000"/>
              </a:lnSpc>
              <a:buNone/>
            </a:pPr>
            <a:r>
              <a:rPr lang="en-US" sz="1150" dirty="0">
                <a:solidFill>
                  <a:srgbClr val="64748B"/>
                </a:solidFill>
                <a:latin typeface="Calibri" pitchFamily="34" charset="0"/>
                <a:ea typeface="Calibri" pitchFamily="34" charset="-122"/>
                <a:cs typeface="Calibri" pitchFamily="34" charset="-120"/>
              </a:rPr>
              <a:t>Avec le métier, selon le coût FP/FN réel</a:t>
            </a:r>
            <a:endParaRPr lang="en-US" sz="1350" dirty="0"/>
          </a:p>
        </p:txBody>
      </p:sp>
      <p:sp>
        <p:nvSpPr>
          <p:cNvPr id="27" name="Shape 19"/>
          <p:cNvSpPr/>
          <p:nvPr/>
        </p:nvSpPr>
        <p:spPr>
          <a:xfrm>
            <a:off x="6263640" y="5029200"/>
            <a:ext cx="5440680" cy="896112"/>
          </a:xfrm>
          <a:prstGeom prst="roundRect">
            <a:avLst>
              <a:gd name="adj" fmla="val 6122"/>
            </a:avLst>
          </a:prstGeom>
          <a:solidFill>
            <a:srgbClr val="F1F5F9"/>
          </a:solidFill>
          <a:ln/>
        </p:spPr>
        <p:txBody>
          <a:bodyPr/>
          <a:lstStyle/>
          <a:p>
            <a:endParaRPr lang="fr-FR"/>
          </a:p>
        </p:txBody>
      </p:sp>
      <p:sp>
        <p:nvSpPr>
          <p:cNvPr id="28" name="Shape 20"/>
          <p:cNvSpPr/>
          <p:nvPr/>
        </p:nvSpPr>
        <p:spPr>
          <a:xfrm>
            <a:off x="6446520" y="5212080"/>
            <a:ext cx="530352" cy="530352"/>
          </a:xfrm>
          <a:prstGeom prst="ellipse">
            <a:avLst/>
          </a:prstGeom>
          <a:solidFill>
            <a:srgbClr val="059669"/>
          </a:solidFill>
          <a:ln/>
        </p:spPr>
        <p:txBody>
          <a:bodyPr/>
          <a:lstStyle/>
          <a:p>
            <a:endParaRPr lang="fr-FR"/>
          </a:p>
        </p:txBody>
      </p:sp>
      <p:pic>
        <p:nvPicPr>
          <p:cNvPr id="29" name="Image 6" descr="preencoded.png"/>
          <p:cNvPicPr>
            <a:picLocks noChangeAspect="1"/>
          </p:cNvPicPr>
          <p:nvPr/>
        </p:nvPicPr>
        <p:blipFill>
          <a:blip r:embed="rId7"/>
          <a:stretch>
            <a:fillRect/>
          </a:stretch>
        </p:blipFill>
        <p:spPr>
          <a:xfrm>
            <a:off x="6592824" y="5358384"/>
            <a:ext cx="237744" cy="237744"/>
          </a:xfrm>
          <a:prstGeom prst="rect">
            <a:avLst/>
          </a:prstGeom>
        </p:spPr>
      </p:pic>
      <p:sp>
        <p:nvSpPr>
          <p:cNvPr id="30" name="Text 21"/>
          <p:cNvSpPr/>
          <p:nvPr/>
        </p:nvSpPr>
        <p:spPr>
          <a:xfrm>
            <a:off x="7178040" y="5138928"/>
            <a:ext cx="4389120" cy="685800"/>
          </a:xfrm>
          <a:prstGeom prst="rect">
            <a:avLst/>
          </a:prstGeom>
          <a:noFill/>
          <a:ln/>
        </p:spPr>
        <p:txBody>
          <a:bodyPr wrap="square" lIns="0" tIns="0" rIns="0" bIns="0" rtlCol="0" anchor="ctr"/>
          <a:lstStyle/>
          <a:p>
            <a:pPr marL="0" indent="0">
              <a:lnSpc>
                <a:spcPct val="100000"/>
              </a:lnSpc>
              <a:buNone/>
            </a:pPr>
            <a:r>
              <a:rPr lang="en-US" sz="1350" b="1" dirty="0">
                <a:solidFill>
                  <a:srgbClr val="0F172A"/>
                </a:solidFill>
                <a:latin typeface="Calibri" pitchFamily="34" charset="0"/>
                <a:ea typeface="Calibri" pitchFamily="34" charset="-122"/>
                <a:cs typeface="Calibri" pitchFamily="34" charset="-120"/>
              </a:rPr>
              <a:t>Déploiement cloud</a:t>
            </a:r>
            <a:endParaRPr lang="en-US" sz="1350" dirty="0"/>
          </a:p>
          <a:p>
            <a:pPr marL="0" indent="0">
              <a:lnSpc>
                <a:spcPct val="100000"/>
              </a:lnSpc>
              <a:buNone/>
            </a:pPr>
            <a:r>
              <a:rPr lang="en-US" sz="1150" dirty="0">
                <a:solidFill>
                  <a:srgbClr val="64748B"/>
                </a:solidFill>
                <a:latin typeface="Calibri" pitchFamily="34" charset="0"/>
                <a:ea typeface="Calibri" pitchFamily="34" charset="-122"/>
                <a:cs typeface="Calibri" pitchFamily="34" charset="-120"/>
              </a:rPr>
              <a:t>Scalabilité et haute disponibilité</a:t>
            </a:r>
            <a:endParaRPr lang="en-US" sz="1350" dirty="0"/>
          </a:p>
        </p:txBody>
      </p:sp>
      <p:sp>
        <p:nvSpPr>
          <p:cNvPr id="31" name="Text 22"/>
          <p:cNvSpPr/>
          <p:nvPr/>
        </p:nvSpPr>
        <p:spPr>
          <a:xfrm>
            <a:off x="502920" y="6473952"/>
            <a:ext cx="822960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Détection de fraude &amp; Segmentation client  ·  M2 CDSD</a:t>
            </a:r>
            <a:endParaRPr lang="en-US" sz="850" dirty="0"/>
          </a:p>
        </p:txBody>
      </p:sp>
      <p:sp>
        <p:nvSpPr>
          <p:cNvPr id="32" name="Text 23"/>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850" b="1" dirty="0">
                <a:solidFill>
                  <a:srgbClr val="64748B"/>
                </a:solidFill>
                <a:latin typeface="Calibri" pitchFamily="34" charset="0"/>
                <a:ea typeface="Calibri" pitchFamily="34" charset="-122"/>
                <a:cs typeface="Calibri" pitchFamily="34" charset="-120"/>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1828800" y="3291840"/>
            <a:ext cx="5943600" cy="5943600"/>
          </a:xfrm>
          <a:prstGeom prst="ellipse">
            <a:avLst/>
          </a:prstGeom>
          <a:solidFill>
            <a:srgbClr val="1E293B"/>
          </a:solidFill>
          <a:ln/>
        </p:spPr>
        <p:txBody>
          <a:bodyPr/>
          <a:lstStyle/>
          <a:p>
            <a:endParaRPr lang="fr-FR"/>
          </a:p>
        </p:txBody>
      </p:sp>
      <p:sp>
        <p:nvSpPr>
          <p:cNvPr id="3" name="Shape 1"/>
          <p:cNvSpPr/>
          <p:nvPr/>
        </p:nvSpPr>
        <p:spPr>
          <a:xfrm>
            <a:off x="9601200" y="-2011680"/>
            <a:ext cx="4754880" cy="4754880"/>
          </a:xfrm>
          <a:prstGeom prst="ellipse">
            <a:avLst/>
          </a:prstGeom>
          <a:solidFill>
            <a:srgbClr val="16233B"/>
          </a:solidFill>
          <a:ln/>
        </p:spPr>
        <p:txBody>
          <a:bodyPr/>
          <a:lstStyle/>
          <a:p>
            <a:endParaRPr lang="fr-FR"/>
          </a:p>
        </p:txBody>
      </p:sp>
      <p:sp>
        <p:nvSpPr>
          <p:cNvPr id="4" name="Text 2"/>
          <p:cNvSpPr/>
          <p:nvPr/>
        </p:nvSpPr>
        <p:spPr>
          <a:xfrm>
            <a:off x="822960" y="1188720"/>
            <a:ext cx="8229600" cy="365760"/>
          </a:xfrm>
          <a:prstGeom prst="rect">
            <a:avLst/>
          </a:prstGeom>
          <a:noFill/>
          <a:ln/>
        </p:spPr>
        <p:txBody>
          <a:bodyPr wrap="square" lIns="0" tIns="0" rIns="0" bIns="0" rtlCol="0" anchor="ctr"/>
          <a:lstStyle/>
          <a:p>
            <a:pPr marL="0" indent="0">
              <a:buNone/>
            </a:pPr>
            <a:r>
              <a:rPr lang="en-US" sz="1300" b="1" kern="0" spc="400" dirty="0">
                <a:solidFill>
                  <a:srgbClr val="60A5FA"/>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804672" y="1645920"/>
            <a:ext cx="10424160" cy="1463040"/>
          </a:xfrm>
          <a:prstGeom prst="rect">
            <a:avLst/>
          </a:prstGeom>
          <a:noFill/>
          <a:ln/>
        </p:spPr>
        <p:txBody>
          <a:bodyPr wrap="square" lIns="0" tIns="0" rIns="0" bIns="0" rtlCol="0" anchor="ctr"/>
          <a:lstStyle/>
          <a:p>
            <a:pPr marL="0" indent="0">
              <a:lnSpc>
                <a:spcPct val="100000"/>
              </a:lnSpc>
              <a:buNone/>
            </a:pPr>
            <a:r>
              <a:rPr lang="en-US" sz="3300" b="1" dirty="0">
                <a:solidFill>
                  <a:srgbClr val="FFFFFF"/>
                </a:solidFill>
                <a:latin typeface="Calibri" pitchFamily="34" charset="0"/>
                <a:ea typeface="Calibri" pitchFamily="34" charset="-122"/>
                <a:cs typeface="Calibri" pitchFamily="34" charset="-120"/>
              </a:rPr>
              <a:t>Un modèle ne crée de la valeur que </a:t>
            </a:r>
            <a:r>
              <a:rPr lang="en-US" sz="3300" b="1" dirty="0">
                <a:solidFill>
                  <a:srgbClr val="60A5FA"/>
                </a:solidFill>
                <a:latin typeface="Calibri" pitchFamily="34" charset="0"/>
                <a:ea typeface="Calibri" pitchFamily="34" charset="-122"/>
                <a:cs typeface="Calibri" pitchFamily="34" charset="-120"/>
              </a:rPr>
              <a:t>lorsqu'il est mis entre les mains du métier</a:t>
            </a:r>
            <a:r>
              <a:rPr lang="en-US" sz="3300" b="1" dirty="0">
                <a:solidFill>
                  <a:srgbClr val="FFFFFF"/>
                </a:solidFill>
                <a:latin typeface="Calibri" pitchFamily="34" charset="0"/>
                <a:ea typeface="Calibri" pitchFamily="34" charset="-122"/>
                <a:cs typeface="Calibri" pitchFamily="34" charset="-120"/>
              </a:rPr>
              <a:t>.</a:t>
            </a:r>
            <a:endParaRPr lang="en-US" sz="3300" dirty="0"/>
          </a:p>
        </p:txBody>
      </p:sp>
      <p:sp>
        <p:nvSpPr>
          <p:cNvPr id="6" name="Shape 4"/>
          <p:cNvSpPr/>
          <p:nvPr/>
        </p:nvSpPr>
        <p:spPr>
          <a:xfrm>
            <a:off x="822960" y="3566160"/>
            <a:ext cx="3520440" cy="1783080"/>
          </a:xfrm>
          <a:prstGeom prst="roundRect">
            <a:avLst>
              <a:gd name="adj" fmla="val 4103"/>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7" name="Shape 5"/>
          <p:cNvSpPr/>
          <p:nvPr/>
        </p:nvSpPr>
        <p:spPr>
          <a:xfrm>
            <a:off x="1078992" y="3822192"/>
            <a:ext cx="640080" cy="640080"/>
          </a:xfrm>
          <a:prstGeom prst="ellipse">
            <a:avLst/>
          </a:prstGeom>
          <a:solidFill>
            <a:srgbClr val="2563EB"/>
          </a:solidFill>
          <a:ln/>
        </p:spPr>
        <p:txBody>
          <a:bodyPr/>
          <a:lstStyle/>
          <a:p>
            <a:endParaRPr lang="fr-FR"/>
          </a:p>
        </p:txBody>
      </p:sp>
      <p:pic>
        <p:nvPicPr>
          <p:cNvPr id="8" name="Image 0" descr="preencoded.png"/>
          <p:cNvPicPr>
            <a:picLocks noChangeAspect="1"/>
          </p:cNvPicPr>
          <p:nvPr/>
        </p:nvPicPr>
        <p:blipFill>
          <a:blip r:embed="rId3"/>
          <a:stretch>
            <a:fillRect/>
          </a:stretch>
        </p:blipFill>
        <p:spPr>
          <a:xfrm>
            <a:off x="1252728" y="3995928"/>
            <a:ext cx="292608" cy="292608"/>
          </a:xfrm>
          <a:prstGeom prst="rect">
            <a:avLst/>
          </a:prstGeom>
        </p:spPr>
      </p:pic>
      <p:sp>
        <p:nvSpPr>
          <p:cNvPr id="9" name="Text 6"/>
          <p:cNvSpPr/>
          <p:nvPr/>
        </p:nvSpPr>
        <p:spPr>
          <a:xfrm>
            <a:off x="1078992" y="4498848"/>
            <a:ext cx="3063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Fraude maîtrisée</a:t>
            </a:r>
            <a:endParaRPr lang="en-US" sz="1600" dirty="0"/>
          </a:p>
        </p:txBody>
      </p:sp>
      <p:sp>
        <p:nvSpPr>
          <p:cNvPr id="10" name="Text 7"/>
          <p:cNvSpPr/>
          <p:nvPr/>
        </p:nvSpPr>
        <p:spPr>
          <a:xfrm>
            <a:off x="1078992" y="4846320"/>
            <a:ext cx="3063240" cy="457200"/>
          </a:xfrm>
          <a:prstGeom prst="rect">
            <a:avLst/>
          </a:prstGeom>
          <a:noFill/>
          <a:ln/>
        </p:spPr>
        <p:txBody>
          <a:bodyPr wrap="square" lIns="0" tIns="0" rIns="0" bIns="0" rtlCol="0" anchor="ctr"/>
          <a:lstStyle/>
          <a:p>
            <a:pPr marL="0" indent="0">
              <a:lnSpc>
                <a:spcPct val="100000"/>
              </a:lnSpc>
              <a:buNone/>
            </a:pPr>
            <a:r>
              <a:rPr lang="en-US" sz="1150" dirty="0">
                <a:solidFill>
                  <a:srgbClr val="E2E8F0"/>
                </a:solidFill>
                <a:latin typeface="Calibri" pitchFamily="34" charset="0"/>
                <a:ea typeface="Calibri" pitchFamily="34" charset="-122"/>
                <a:cs typeface="Calibri" pitchFamily="34" charset="-120"/>
              </a:rPr>
              <a:t>98,3 % de rappel, 0 faux positif, modèle explicable (SHAP)</a:t>
            </a:r>
            <a:endParaRPr lang="en-US" sz="1150" dirty="0"/>
          </a:p>
        </p:txBody>
      </p:sp>
      <p:sp>
        <p:nvSpPr>
          <p:cNvPr id="11" name="Shape 8"/>
          <p:cNvSpPr/>
          <p:nvPr/>
        </p:nvSpPr>
        <p:spPr>
          <a:xfrm>
            <a:off x="4526280" y="3566160"/>
            <a:ext cx="3520440" cy="1783080"/>
          </a:xfrm>
          <a:prstGeom prst="roundRect">
            <a:avLst>
              <a:gd name="adj" fmla="val 4103"/>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12" name="Shape 9"/>
          <p:cNvSpPr/>
          <p:nvPr/>
        </p:nvSpPr>
        <p:spPr>
          <a:xfrm>
            <a:off x="4782312" y="3822192"/>
            <a:ext cx="640080" cy="640080"/>
          </a:xfrm>
          <a:prstGeom prst="ellipse">
            <a:avLst/>
          </a:prstGeom>
          <a:solidFill>
            <a:srgbClr val="7C3AED"/>
          </a:solidFill>
          <a:ln/>
        </p:spPr>
        <p:txBody>
          <a:bodyPr/>
          <a:lstStyle/>
          <a:p>
            <a:endParaRPr lang="fr-FR"/>
          </a:p>
        </p:txBody>
      </p:sp>
      <p:pic>
        <p:nvPicPr>
          <p:cNvPr id="13" name="Image 1" descr="preencoded.png"/>
          <p:cNvPicPr>
            <a:picLocks noChangeAspect="1"/>
          </p:cNvPicPr>
          <p:nvPr/>
        </p:nvPicPr>
        <p:blipFill>
          <a:blip r:embed="rId4"/>
          <a:stretch>
            <a:fillRect/>
          </a:stretch>
        </p:blipFill>
        <p:spPr>
          <a:xfrm>
            <a:off x="4956048" y="3995928"/>
            <a:ext cx="292608" cy="292608"/>
          </a:xfrm>
          <a:prstGeom prst="rect">
            <a:avLst/>
          </a:prstGeom>
        </p:spPr>
      </p:pic>
      <p:sp>
        <p:nvSpPr>
          <p:cNvPr id="14" name="Text 10"/>
          <p:cNvSpPr/>
          <p:nvPr/>
        </p:nvSpPr>
        <p:spPr>
          <a:xfrm>
            <a:off x="4782312" y="4498848"/>
            <a:ext cx="3063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Clients compris</a:t>
            </a:r>
            <a:endParaRPr lang="en-US" sz="1600" dirty="0"/>
          </a:p>
        </p:txBody>
      </p:sp>
      <p:sp>
        <p:nvSpPr>
          <p:cNvPr id="15" name="Text 11"/>
          <p:cNvSpPr/>
          <p:nvPr/>
        </p:nvSpPr>
        <p:spPr>
          <a:xfrm>
            <a:off x="4782312" y="4846320"/>
            <a:ext cx="3063240" cy="457200"/>
          </a:xfrm>
          <a:prstGeom prst="rect">
            <a:avLst/>
          </a:prstGeom>
          <a:noFill/>
          <a:ln/>
        </p:spPr>
        <p:txBody>
          <a:bodyPr wrap="square" lIns="0" tIns="0" rIns="0" bIns="0" rtlCol="0" anchor="ctr"/>
          <a:lstStyle/>
          <a:p>
            <a:pPr marL="0" indent="0">
              <a:lnSpc>
                <a:spcPct val="100000"/>
              </a:lnSpc>
              <a:buNone/>
            </a:pPr>
            <a:r>
              <a:rPr lang="en-US" sz="1150" dirty="0">
                <a:solidFill>
                  <a:srgbClr val="E2E8F0"/>
                </a:solidFill>
                <a:latin typeface="Calibri" pitchFamily="34" charset="0"/>
                <a:ea typeface="Calibri" pitchFamily="34" charset="-122"/>
                <a:cs typeface="Calibri" pitchFamily="34" charset="-120"/>
              </a:rPr>
              <a:t>4 segments activables, chacun avec sa stratégie CRM</a:t>
            </a:r>
            <a:endParaRPr lang="en-US" sz="1150" dirty="0"/>
          </a:p>
        </p:txBody>
      </p:sp>
      <p:sp>
        <p:nvSpPr>
          <p:cNvPr id="16" name="Shape 12"/>
          <p:cNvSpPr/>
          <p:nvPr/>
        </p:nvSpPr>
        <p:spPr>
          <a:xfrm>
            <a:off x="8229600" y="3566160"/>
            <a:ext cx="3520440" cy="1783080"/>
          </a:xfrm>
          <a:prstGeom prst="roundRect">
            <a:avLst>
              <a:gd name="adj" fmla="val 4103"/>
            </a:avLst>
          </a:prstGeom>
          <a:solidFill>
            <a:srgbClr val="1E293B"/>
          </a:solidFill>
          <a:ln w="12700">
            <a:solidFill>
              <a:srgbClr val="32436A"/>
            </a:solidFill>
            <a:prstDash val="solid"/>
          </a:ln>
          <a:effectLst>
            <a:outerShdw blurRad="101600" dist="38100" dir="5400000" algn="bl" rotWithShape="0">
              <a:srgbClr val="0F172A">
                <a:alpha val="25000"/>
              </a:srgbClr>
            </a:outerShdw>
          </a:effectLst>
        </p:spPr>
        <p:txBody>
          <a:bodyPr/>
          <a:lstStyle/>
          <a:p>
            <a:endParaRPr lang="fr-FR"/>
          </a:p>
        </p:txBody>
      </p:sp>
      <p:sp>
        <p:nvSpPr>
          <p:cNvPr id="17" name="Shape 13"/>
          <p:cNvSpPr/>
          <p:nvPr/>
        </p:nvSpPr>
        <p:spPr>
          <a:xfrm>
            <a:off x="8485632" y="3822192"/>
            <a:ext cx="640080" cy="640080"/>
          </a:xfrm>
          <a:prstGeom prst="ellipse">
            <a:avLst/>
          </a:prstGeom>
          <a:solidFill>
            <a:srgbClr val="059669"/>
          </a:solidFill>
          <a:ln/>
        </p:spPr>
        <p:txBody>
          <a:bodyPr/>
          <a:lstStyle/>
          <a:p>
            <a:endParaRPr lang="fr-FR"/>
          </a:p>
        </p:txBody>
      </p:sp>
      <p:pic>
        <p:nvPicPr>
          <p:cNvPr id="18" name="Image 2" descr="preencoded.png"/>
          <p:cNvPicPr>
            <a:picLocks noChangeAspect="1"/>
          </p:cNvPicPr>
          <p:nvPr/>
        </p:nvPicPr>
        <p:blipFill>
          <a:blip r:embed="rId5"/>
          <a:stretch>
            <a:fillRect/>
          </a:stretch>
        </p:blipFill>
        <p:spPr>
          <a:xfrm>
            <a:off x="8659368" y="3995928"/>
            <a:ext cx="292608" cy="292608"/>
          </a:xfrm>
          <a:prstGeom prst="rect">
            <a:avLst/>
          </a:prstGeom>
        </p:spPr>
      </p:pic>
      <p:sp>
        <p:nvSpPr>
          <p:cNvPr id="19" name="Text 14"/>
          <p:cNvSpPr/>
          <p:nvPr/>
        </p:nvSpPr>
        <p:spPr>
          <a:xfrm>
            <a:off x="8485632" y="4498848"/>
            <a:ext cx="3063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Solution industrialisée</a:t>
            </a:r>
            <a:endParaRPr lang="en-US" sz="1600" dirty="0"/>
          </a:p>
        </p:txBody>
      </p:sp>
      <p:sp>
        <p:nvSpPr>
          <p:cNvPr id="20" name="Text 15"/>
          <p:cNvSpPr/>
          <p:nvPr/>
        </p:nvSpPr>
        <p:spPr>
          <a:xfrm>
            <a:off x="8485632" y="4846320"/>
            <a:ext cx="3063240" cy="457200"/>
          </a:xfrm>
          <a:prstGeom prst="rect">
            <a:avLst/>
          </a:prstGeom>
          <a:noFill/>
          <a:ln/>
        </p:spPr>
        <p:txBody>
          <a:bodyPr wrap="square" lIns="0" tIns="0" rIns="0" bIns="0" rtlCol="0" anchor="ctr"/>
          <a:lstStyle/>
          <a:p>
            <a:pPr marL="0" indent="0">
              <a:lnSpc>
                <a:spcPct val="100000"/>
              </a:lnSpc>
              <a:buNone/>
            </a:pPr>
            <a:r>
              <a:rPr lang="en-US" sz="1150" dirty="0">
                <a:solidFill>
                  <a:srgbClr val="E2E8F0"/>
                </a:solidFill>
                <a:latin typeface="Calibri" pitchFamily="34" charset="0"/>
                <a:ea typeface="Calibri" pitchFamily="34" charset="-122"/>
                <a:cs typeface="Calibri" pitchFamily="34" charset="-120"/>
              </a:rPr>
              <a:t>API + dashboard + socle MLOps prêts pour la production</a:t>
            </a:r>
            <a:endParaRPr lang="en-US" sz="1150" dirty="0"/>
          </a:p>
        </p:txBody>
      </p:sp>
      <p:sp>
        <p:nvSpPr>
          <p:cNvPr id="21" name="Text 16"/>
          <p:cNvSpPr/>
          <p:nvPr/>
        </p:nvSpPr>
        <p:spPr>
          <a:xfrm>
            <a:off x="822960" y="5715000"/>
            <a:ext cx="10058400" cy="365760"/>
          </a:xfrm>
          <a:prstGeom prst="rect">
            <a:avLst/>
          </a:prstGeom>
          <a:noFill/>
          <a:ln/>
        </p:spPr>
        <p:txBody>
          <a:bodyPr wrap="square" lIns="0" tIns="0" rIns="0" bIns="0" rtlCol="0" anchor="ctr"/>
          <a:lstStyle/>
          <a:p>
            <a:pPr marL="0" indent="0">
              <a:buNone/>
            </a:pPr>
            <a:r>
              <a:rPr lang="en-US" sz="1400" i="1" dirty="0">
                <a:solidFill>
                  <a:srgbClr val="E2E8F0"/>
                </a:solidFill>
                <a:latin typeface="Calibri" pitchFamily="34" charset="0"/>
                <a:ea typeface="Calibri" pitchFamily="34" charset="-122"/>
                <a:cs typeface="Calibri" pitchFamily="34" charset="-120"/>
              </a:rPr>
              <a:t>Merci de votre attention — je suis à votre disposition pour les questions.</a:t>
            </a:r>
            <a:endParaRPr lang="en-US" sz="1400" dirty="0"/>
          </a:p>
        </p:txBody>
      </p:sp>
      <p:sp>
        <p:nvSpPr>
          <p:cNvPr id="22" name="Text 17"/>
          <p:cNvSpPr/>
          <p:nvPr/>
        </p:nvSpPr>
        <p:spPr>
          <a:xfrm>
            <a:off x="822960" y="6172200"/>
            <a:ext cx="10058400" cy="32004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Kokou Godwin TCHAKPANA  ·  M2 CDSD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4116</Words>
  <Application>Microsoft Macintosh PowerPoint</Application>
  <PresentationFormat>Grand écran</PresentationFormat>
  <Paragraphs>500</Paragraphs>
  <Slides>22</Slides>
  <Notes>22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22</vt:i4>
      </vt:variant>
    </vt:vector>
  </HeadingPairs>
  <TitlesOfParts>
    <vt:vector size="26" baseType="lpstr">
      <vt:lpstr>Arial</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Détection de fraude &amp; Segmentation client — M2 CDSD</dc:title>
  <dc:subject>PptxGenJS Presentation</dc:subject>
  <dc:creator>Kokou Godwin TCHAKPANA</dc:creator>
  <cp:lastModifiedBy>Support technique MLKA</cp:lastModifiedBy>
  <cp:revision>2</cp:revision>
  <dcterms:created xsi:type="dcterms:W3CDTF">2026-06-15T14:33:42Z</dcterms:created>
  <dcterms:modified xsi:type="dcterms:W3CDTF">2026-06-15T14:47:43Z</dcterms:modified>
</cp:coreProperties>
</file>
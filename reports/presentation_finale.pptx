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Projet Machine Learning M2 CDSD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Detection de fraude bancaire</a:t>
            </a:r>
          </a:p>
          <a:p>
            <a:pPr>
              <a:defRPr sz="1800"/>
            </a:pPr>
            <a:r>
              <a:t>Segmentation client</a:t>
            </a:r>
          </a:p>
          <a:p>
            <a:pPr>
              <a:defRPr sz="1800"/>
            </a:pPr>
            <a:r>
              <a:t>Industrialisation : API + Dashboard</a:t>
            </a:r>
          </a:p>
          <a:p>
            <a:pPr>
              <a:defRPr sz="1800"/>
            </a:pPr>
            <a:r>
              <a:t>Kokou Godwin TCHAKPANA — M2 CDSD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Contexte et 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Reduire le risque de fraude et mieux cibler les clients.</a:t>
            </a:r>
          </a:p>
          <a:p>
            <a:pPr>
              <a:defRPr sz="1400"/>
            </a:pPr>
            <a:r>
              <a:t>Detection automatique de transactions frauduleuses</a:t>
            </a:r>
          </a:p>
          <a:p>
            <a:pPr>
              <a:defRPr sz="1400"/>
            </a:pPr>
            <a:r>
              <a:t>Segmentation intelligente des clients</a:t>
            </a:r>
          </a:p>
          <a:p>
            <a:pPr>
              <a:defRPr sz="1400"/>
            </a:pPr>
            <a:r>
              <a:t>Deploiement via dashboard Streamlit et API FastAPI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Donnees et contraintes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Deux jeux de donnees, deux logiques differentes.</a:t>
            </a:r>
          </a:p>
          <a:p>
            <a:pPr>
              <a:defRPr sz="1400"/>
            </a:pPr>
            <a:r>
              <a:t>Fraude : ~1 048 575 transactions, taux ~0,11 %</a:t>
            </a:r>
          </a:p>
          <a:p>
            <a:pPr>
              <a:defRPr sz="1400"/>
            </a:pPr>
            <a:r>
              <a:t>Segmentation : 2 240 clients, profils heterogenes</a:t>
            </a:r>
          </a:p>
          <a:p>
            <a:pPr>
              <a:defRPr sz="1400"/>
            </a:pPr>
            <a:r>
              <a:t>Fraude = classe rare ; clustering = interpretation metier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fraude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La fraude est rare et concentree sur certains types.</a:t>
            </a:r>
          </a:p>
          <a:p>
            <a:pPr>
              <a:defRPr sz="1400"/>
            </a:pPr>
            <a:r>
              <a:t>Fraudes surtout sur TRANSFER et CASH_OUT</a:t>
            </a:r>
          </a:p>
          <a:p>
            <a:pPr>
              <a:defRPr sz="1400"/>
            </a:pPr>
            <a:r>
              <a:t>Incoherences de soldes tres informatives</a:t>
            </a:r>
          </a:p>
          <a:p>
            <a:pPr>
              <a:defRPr sz="1400"/>
            </a:pPr>
            <a:r>
              <a:t>Accuracy insuffisante comme metrique decisionnelle</a:t>
            </a:r>
          </a:p>
        </p:txBody>
      </p:sp>
      <p:pic>
        <p:nvPicPr>
          <p:cNvPr id="4" name="Picture 3" descr="01_fraud_rate_by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2560320" cy="13184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Les clients se differencient par valeur, canaux et campagnes.</a:t>
            </a:r>
          </a:p>
          <a:p>
            <a:pPr>
              <a:defRPr sz="1400"/>
            </a:pPr>
            <a:r>
              <a:t>Revenu, depenses, canaux web/magasin/promo</a:t>
            </a:r>
          </a:p>
          <a:p>
            <a:pPr>
              <a:defRPr sz="1400"/>
            </a:pPr>
            <a:r>
              <a:t>24 revenus manquants sur Income</a:t>
            </a:r>
          </a:p>
          <a:p>
            <a:pPr>
              <a:defRPr sz="1400"/>
            </a:pPr>
            <a:r>
              <a:t>Variables constantes exclues (Z_CostContact, Z_Revenue)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ML fraude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Feature engineering + seuil calibré sur validation.</a:t>
            </a:r>
          </a:p>
          <a:p>
            <a:pPr>
              <a:defRPr sz="1400"/>
            </a:pPr>
            <a:r>
              <a:t>Features soldes : origin_error, dest_error, ratios</a:t>
            </a:r>
          </a:p>
          <a:p>
            <a:pPr>
              <a:defRPr sz="1400"/>
            </a:pPr>
            <a:r>
              <a:t>Split stratifie + validation temporelle (step)</a:t>
            </a:r>
          </a:p>
          <a:p>
            <a:pPr>
              <a:defRPr sz="1400"/>
            </a:pPr>
            <a:r>
              <a:t>5 modeles : LogReg, RF, XGBoost, LightGBM, MLP</a:t>
            </a:r>
          </a:p>
          <a:p>
            <a:pPr>
              <a:defRPr sz="1400"/>
            </a:pPr>
            <a:r>
              <a:t>Seuil calibré avec contrainte de rappel minimal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Resultats fraude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XGBoost retenu : meilleure PR-AUC (0,990).</a:t>
            </a:r>
          </a:p>
          <a:p>
            <a:pPr>
              <a:defRPr sz="1400"/>
            </a:pPr>
            <a:r>
              <a:t>Logistic Regression : PR-AUC 0,767</a:t>
            </a:r>
          </a:p>
          <a:p>
            <a:pPr>
              <a:defRPr sz="1400"/>
            </a:pPr>
            <a:r>
              <a:t>Random Forest : PR-AUC 0,987</a:t>
            </a:r>
          </a:p>
          <a:p>
            <a:pPr>
              <a:defRPr sz="1400"/>
            </a:pPr>
            <a:r>
              <a:t>XGBoost : recall 98,3 %, precision 100 %, seuil 0,67</a:t>
            </a:r>
          </a:p>
          <a:p>
            <a:pPr>
              <a:defRPr sz="1400"/>
            </a:pPr>
            <a:r>
              <a:t>3 FN / 0 FP — analyse SHAP + chiffrage couts FP/FN</a:t>
            </a:r>
          </a:p>
        </p:txBody>
      </p:sp>
      <p:pic>
        <p:nvPicPr>
          <p:cNvPr id="4" name="Picture 3" descr="02_fraud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2560320" cy="12612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Segments lisibles plutot que score mathematique pur.</a:t>
            </a:r>
          </a:p>
          <a:p>
            <a:pPr>
              <a:defRPr sz="1400"/>
            </a:pPr>
            <a:r>
              <a:t>Imputation Income + encodage categories</a:t>
            </a:r>
          </a:p>
          <a:p>
            <a:pPr>
              <a:defRPr sz="1400"/>
            </a:pPr>
            <a:r>
              <a:t>K-Means, Agglomerative, GMM, DBSCAN (k=3 a 6)</a:t>
            </a:r>
          </a:p>
          <a:p>
            <a:pPr>
              <a:defRPr sz="1400"/>
            </a:pPr>
            <a:r>
              <a:t>Modele retenu : GMM k=4 ; DBSCAN ecarte (91 % bruit)</a:t>
            </a:r>
          </a:p>
        </p:txBody>
      </p:sp>
      <p:pic>
        <p:nvPicPr>
          <p:cNvPr id="4" name="Picture 3" descr="07_clustering_elb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2560320" cy="14813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Resultats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Quatre segments exploitables malgre silhouette moderee.</a:t>
            </a:r>
          </a:p>
          <a:p>
            <a:pPr>
              <a:defRPr sz="1400"/>
            </a:pPr>
            <a:r>
              <a:t>Silhouette : 0,21 ; Davies-Bouldin : 2,42</a:t>
            </a:r>
          </a:p>
          <a:p>
            <a:pPr>
              <a:defRPr sz="1400"/>
            </a:pPr>
            <a:r>
              <a:t>Projection PCA pour visualiser les groupes</a:t>
            </a:r>
          </a:p>
          <a:p>
            <a:pPr>
              <a:defRPr sz="1400"/>
            </a:pPr>
            <a:r>
              <a:t>Profils contrastes et actionnables</a:t>
            </a:r>
          </a:p>
        </p:txBody>
      </p:sp>
      <p:pic>
        <p:nvPicPr>
          <p:cNvPr id="4" name="Picture 3" descr="05_cluster_pca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2560320" cy="179561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Profils clients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Chaque cluster = une action marketing differente.</a:t>
            </a:r>
          </a:p>
          <a:p>
            <a:pPr>
              <a:defRPr sz="1400"/>
            </a:pPr>
            <a:r>
              <a:t>Cluster 0 : dormants (1 132) — reactivation</a:t>
            </a:r>
          </a:p>
          <a:p>
            <a:pPr>
              <a:defRPr sz="1400"/>
            </a:pPr>
            <a:r>
              <a:t>Cluster 1 : promo digitaux (42) — coupons web + A/B test</a:t>
            </a:r>
          </a:p>
          <a:p>
            <a:pPr>
              <a:defRPr sz="1400"/>
            </a:pPr>
            <a:r>
              <a:t>Cluster 2 : premium reactifs (175) — VIP</a:t>
            </a:r>
          </a:p>
          <a:p>
            <a:pPr>
              <a:defRPr sz="1400"/>
            </a:pPr>
            <a:r>
              <a:t>Cluster 3 : fideles stables (891) — cross-sell</a:t>
            </a:r>
          </a:p>
        </p:txBody>
      </p:sp>
      <p:pic>
        <p:nvPicPr>
          <p:cNvPr id="4" name="Picture 3" descr="06_cluster_profil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2560320" cy="14663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Industrialisation MVP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Projet structure pour une demo bout-en-bout.</a:t>
            </a:r>
          </a:p>
          <a:p>
            <a:pPr>
              <a:defRPr sz="1400"/>
            </a:pPr>
            <a:r>
              <a:t>Scripts src/models + modeles joblib</a:t>
            </a:r>
          </a:p>
          <a:p>
            <a:pPr>
              <a:defRPr sz="1400"/>
            </a:pPr>
            <a:r>
              <a:t>API : /predict/fraud et /predict/segment</a:t>
            </a:r>
          </a:p>
          <a:p>
            <a:pPr>
              <a:defRPr sz="1400"/>
            </a:pPr>
            <a:r>
              <a:t>Dashboard multi-pages + tests pytest</a:t>
            </a:r>
          </a:p>
          <a:p>
            <a:pPr>
              <a:defRPr sz="1400"/>
            </a:pPr>
            <a:r>
              <a:t>Docker + CI GitHub Actions + monitoring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Limites et perspectives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1600"/>
            </a:pPr>
            <a:r>
              <a:t>Resultats solides, validation production a poursuivre.</a:t>
            </a:r>
          </a:p>
          <a:p>
            <a:pPr>
              <a:defRPr sz="1400"/>
            </a:pPr>
            <a:r>
              <a:t>Dataset potentiellement tres separable — prudence en prod</a:t>
            </a:r>
          </a:p>
          <a:p>
            <a:pPr>
              <a:defRPr sz="1400"/>
            </a:pPr>
            <a:r>
              <a:t>Validation temporelle complementaire realisee</a:t>
            </a:r>
          </a:p>
          <a:p>
            <a:pPr>
              <a:defRPr sz="1400"/>
            </a:pPr>
            <a:r>
              <a:t>Protocole campagne cluster 1 documente</a:t>
            </a:r>
          </a:p>
          <a:p>
            <a:pPr>
              <a:defRPr sz="1400"/>
            </a:pPr>
            <a:r>
              <a:t>Suivi derive et recalibrage seuil avec le metier</a:t>
            </a:r>
          </a:p>
        </p:txBody>
      </p:sp>
      <p:pic>
        <p:nvPicPr>
          <p:cNvPr id="4" name="Picture 3" descr="09_fraud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2560320" cy="15446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